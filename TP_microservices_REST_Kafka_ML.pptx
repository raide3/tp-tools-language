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600" spc="-1" strike="noStrike">
                <a:solidFill>
                  <a:srgbClr val="10202b"/>
                </a:solidFill>
                <a:latin typeface="Calibri"/>
              </a:defRPr>
            </a:pPr>
            <a:r>
              <a:rPr b="0" sz="1600" spc="-1" strike="noStrike">
                <a:solidFill>
                  <a:srgbClr val="10202b"/>
                </a:solidFill>
                <a:latin typeface="Calibri"/>
              </a:rPr>
              <a:t>Messages traités par instance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Messages traités</c:v>
                </c:pt>
              </c:strCache>
            </c:strRef>
          </c:tx>
          <c:spPr>
            <a:solidFill>
              <a:srgbClr val="0f4c5c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1" sz="1600" spc="-1" strike="noStrike">
                    <a:solidFill>
                      <a:srgbClr val="10202b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prediction-1</c:v>
                </c:pt>
                <c:pt idx="1">
                  <c:v>prediction-2</c:v>
                </c:pt>
                <c:pt idx="2">
                  <c:v>prediction-3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765</c:v>
                </c:pt>
                <c:pt idx="1">
                  <c:v>592</c:v>
                </c:pt>
                <c:pt idx="2">
                  <c:v>684</c:v>
                </c:pt>
              </c:numCache>
            </c:numRef>
          </c:val>
        </c:ser>
        <c:gapWidth val="60"/>
        <c:overlap val="0"/>
        <c:axId val="53032132"/>
        <c:axId val="64157645"/>
      </c:barChart>
      <c:catAx>
        <c:axId val="530321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400" spc="-1" strike="noStrike">
                <a:solidFill>
                  <a:srgbClr val="10202b"/>
                </a:solidFill>
                <a:latin typeface="Calibri"/>
              </a:defRPr>
            </a:pPr>
          </a:p>
        </c:txPr>
        <c:crossAx val="64157645"/>
        <c:crosses val="autoZero"/>
        <c:auto val="1"/>
        <c:lblAlgn val="ctr"/>
        <c:lblOffset val="100"/>
        <c:noMultiLvlLbl val="0"/>
      </c:catAx>
      <c:valAx>
        <c:axId val="64157645"/>
        <c:scaling>
          <c:orientation val="minMax"/>
          <c:max val="900"/>
          <c:min val="0"/>
        </c:scaling>
        <c:delete val="0"/>
        <c:axPos val="l"/>
        <c:majorGridlines>
          <c:spPr>
            <a:ln w="9360">
              <a:solidFill>
                <a:srgbClr val="d5dee2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4f7685"/>
                </a:solidFill>
                <a:latin typeface="Calibri"/>
              </a:defRPr>
            </a:pPr>
          </a:p>
        </c:txPr>
        <c:crossAx val="53032132"/>
        <c:crosses val="autoZero"/>
        <c:crossBetween val="between"/>
        <c:majorUnit val="300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B804CD8-353D-4972-B5C7-E3ACB2CF493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Présentation des trois TP : même application e-commerce, trois modes de communication entre services.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32FF54-C05F-4F5D-851A-8844B93E2C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D5EFF0-01AD-4B29-B06A-B890D1BAA4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D95B68-5C70-49DB-8529-A22A9214CE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656C19-1224-4E82-B0AC-8DD97A3710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8F224A-A996-4520-A6A4-9B3B08B1705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1F5257-3674-4CFC-A7CE-CEBF6D52E3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3F4324-AA51-4EE5-8C19-D13F86C9C39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 modèle répond à une question oui/non : le client va-t-il passer une commande ? Il reçoit six caractéristiques et renvoie une classe et une probabilité.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3FBA40-9F09-4F2C-9114-0016612E499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Entraîner à chaque message serait lent et non reproductible. Le modèle est entraîné une fois, sauvegardé, puis simplement chargé.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192152-4E23-4773-9564-00CCC4057D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Pas de données historiques fournies : jeu synthétique avec une règle cachée. Le but du TP est l'intégration du modèle, pas sa performance.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CCD229-B7CC-4E0D-B1C0-827EF3889D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Deux topics indépendants : un pour les demandes, un pour les résultats. Les K instances de prediction partagent le même group_id et se répartissent les partitions.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AF3845-0A1A-4E22-B5EA-152D27C6C2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 commit manuel après traitement donne la garantie au moins une fois : un doublon est possible en cas de crash, mais aucun message n'est perdu.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AC6776-9675-40DC-BC28-FA2FFEE803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Les topics sont créés à la main pour choisir le nombre de partitions : 6 pour la demande, ce qui autorise jusqu'à 6 instances de prediction.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8E86D4-2585-41CD-9CD4-50A16206E5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 résultat n'est pas renvoyé dans la réponse HTTP : c'est le prix de l'asynchronisme. commandes l'affiche quand il arrive sur le topic résultats.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E7A416-1BC3-4891-AB3D-E213A3B655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PYTHONUNBUFFERED évite que les print restent en mémoire tampon et que docker logs reste vide.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12717B-6CB1-4B31-8958-3C1F5CF1AC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 instances dans le même groupe : Kafka répartit automatiquement les partitions. Au-delà de 6 instances, les suivantes resteraient inactives.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38D645-FAA2-416D-90C0-EB78D2F023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Chaque instance lit 2 des 6 partitions. La répartition est proche de l'égalité sans être parfaite.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AFE13F-5271-42AA-88E2-BEF3B66F72C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 partitions, trois consommateurs : deux partitions chacun. Le LAG est à zéro, les instances suivent le débit du générateur.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CCD2E7-F88B-4E82-9C33-E68CEB45356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Après l'arrêt propre, les partitions sont réaffectées aux deux instances restantes. Après le crash, la dernière instance lit les six partitions.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BD8682-5B44-4066-BD20-DFFA112EF9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 test 3 est décrit d'après le comportement attendu de Kafka : les demandes sont stockées, le groupe reprend à son dernier offset.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AF7DED-4BBD-40F2-B764-54CAAFC407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Du plus simple au plus avancé. Le producteur Flask et le broker peuvent aussi devenir le goulot d'étranglement.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F47161-4A93-4DAF-B170-1F50B19F8E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DE9FA9-85CB-4960-BFCF-9653353644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535889-0939-4D23-BC3D-BD15FD7BAD3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069072E-4D19-48CA-83A6-E6AB694C6272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731520" y="1371600"/>
            <a:ext cx="6674760" cy="274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731520" y="4343400"/>
            <a:ext cx="6674760" cy="82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1520" y="2743200"/>
            <a:ext cx="10515240" cy="137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31520" y="4206240"/>
            <a:ext cx="10515240" cy="63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Text 0"/>
          <p:cNvSpPr/>
          <p:nvPr/>
        </p:nvSpPr>
        <p:spPr>
          <a:xfrm>
            <a:off x="54864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accent4"/>
                </a:solidFill>
                <a:latin typeface="Calibri"/>
              </a:rPr>
              <a:t>Micro-services · REST, Kafka et Machine Learning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463560-9B4F-4A2C-AF44-7C618ECDCBD9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31520" y="1371600"/>
            <a:ext cx="6674760" cy="27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lt1"/>
                </a:solidFill>
                <a:latin typeface="Cambria"/>
              </a:rPr>
              <a:t>TOOLS AND LANGUAGE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731520" y="4343400"/>
            <a:ext cx="6674760" cy="82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2"/>
                </a:solidFill>
                <a:latin typeface="Calibri"/>
              </a:rPr>
              <a:t>3 TP pour construire une application en micro-services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Auteur"/>
          <p:cNvSpPr/>
          <p:nvPr/>
        </p:nvSpPr>
        <p:spPr>
          <a:xfrm>
            <a:off x="731520" y="54864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3"/>
                </a:solidFill>
                <a:latin typeface="Calibri"/>
              </a:rPr>
              <a:t>Aude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3"/>
                </a:solidFill>
                <a:latin typeface="Calibri"/>
              </a:rPr>
              <a:t>Lauraine KENFACK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3"/>
                </a:solidFill>
                <a:latin typeface="Calibri"/>
              </a:rPr>
              <a:t> </a:t>
            </a:r>
            <a:r>
              <a:rPr b="0" lang="en-US" sz="1400" spc="-1" strike="noStrike">
                <a:solidFill>
                  <a:schemeClr val="accent3"/>
                </a:solidFill>
                <a:latin typeface="Calibri"/>
              </a:rPr>
              <a:t>· ING2 Mathématiques Appliquées et Science des Données · CY Tech · Octobre 2026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Légende motif"/>
          <p:cNvSpPr/>
          <p:nvPr/>
        </p:nvSpPr>
        <p:spPr>
          <a:xfrm>
            <a:off x="7680960" y="48463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/>
                </a:solidFill>
                <a:latin typeface="Calibri"/>
              </a:rPr>
              <a:t>topic demandes-prediction · 6 partitions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Trois TP, trois modes de communication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Carte TP1"/>
          <p:cNvSpPr/>
          <p:nvPr/>
        </p:nvSpPr>
        <p:spPr>
          <a:xfrm>
            <a:off x="548640" y="1463040"/>
            <a:ext cx="3382920" cy="41144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Badge 1"/>
          <p:cNvSpPr/>
          <p:nvPr/>
        </p:nvSpPr>
        <p:spPr>
          <a:xfrm>
            <a:off x="822960" y="173736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lt1"/>
                </a:solidFill>
                <a:latin typeface="Calibri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itre TP1"/>
          <p:cNvSpPr/>
          <p:nvPr/>
        </p:nvSpPr>
        <p:spPr>
          <a:xfrm>
            <a:off x="822960" y="2468880"/>
            <a:ext cx="283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REST synchrone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ervices TP1"/>
          <p:cNvSpPr/>
          <p:nvPr/>
        </p:nvSpPr>
        <p:spPr>
          <a:xfrm>
            <a:off x="822960" y="33375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clients · commandes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chnos TP1"/>
          <p:cNvSpPr/>
          <p:nvPr/>
        </p:nvSpPr>
        <p:spPr>
          <a:xfrm>
            <a:off x="822960" y="37033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4"/>
                </a:solidFill>
                <a:latin typeface="Calibri"/>
              </a:rPr>
              <a:t>Flask · requests · Docker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Question TP1"/>
          <p:cNvSpPr/>
          <p:nvPr/>
        </p:nvSpPr>
        <p:spPr>
          <a:xfrm>
            <a:off x="822960" y="4297680"/>
            <a:ext cx="2834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dk1"/>
                </a:solidFill>
                <a:latin typeface="Calibri"/>
              </a:rPr>
              <a:t>Comment deux services se trouvent-ils et se parlent-ils 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Flèche 1"/>
          <p:cNvSpPr/>
          <p:nvPr/>
        </p:nvSpPr>
        <p:spPr>
          <a:xfrm>
            <a:off x="3977640" y="3291840"/>
            <a:ext cx="36540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Carte TP2"/>
          <p:cNvSpPr/>
          <p:nvPr/>
        </p:nvSpPr>
        <p:spPr>
          <a:xfrm>
            <a:off x="4389120" y="1463040"/>
            <a:ext cx="3382920" cy="41144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Badge 2"/>
          <p:cNvSpPr/>
          <p:nvPr/>
        </p:nvSpPr>
        <p:spPr>
          <a:xfrm>
            <a:off x="4663440" y="173736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lt1"/>
                </a:solidFill>
                <a:latin typeface="Calibri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itre TP2"/>
          <p:cNvSpPr/>
          <p:nvPr/>
        </p:nvSpPr>
        <p:spPr>
          <a:xfrm>
            <a:off x="4663440" y="2468880"/>
            <a:ext cx="283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Kafka asynchrone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ervices TP2"/>
          <p:cNvSpPr/>
          <p:nvPr/>
        </p:nvSpPr>
        <p:spPr>
          <a:xfrm>
            <a:off x="4663440" y="33375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+ statistiques + broker Kafka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chnos TP2"/>
          <p:cNvSpPr/>
          <p:nvPr/>
        </p:nvSpPr>
        <p:spPr>
          <a:xfrm>
            <a:off x="4663440" y="37033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4"/>
                </a:solidFill>
                <a:latin typeface="Calibri"/>
              </a:rPr>
              <a:t>???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Question TP2"/>
          <p:cNvSpPr/>
          <p:nvPr/>
        </p:nvSpPr>
        <p:spPr>
          <a:xfrm>
            <a:off x="4663440" y="4297680"/>
            <a:ext cx="2834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dk1"/>
                </a:solidFill>
                <a:latin typeface="Calibri"/>
              </a:rPr>
              <a:t>Que gagne-t-on à découpler les services 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Flèche 2"/>
          <p:cNvSpPr/>
          <p:nvPr/>
        </p:nvSpPr>
        <p:spPr>
          <a:xfrm>
            <a:off x="7818120" y="3291840"/>
            <a:ext cx="36540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Carte TP3"/>
          <p:cNvSpPr/>
          <p:nvPr/>
        </p:nvSpPr>
        <p:spPr>
          <a:xfrm>
            <a:off x="8229600" y="1463040"/>
            <a:ext cx="3382920" cy="41144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Badge 3"/>
          <p:cNvSpPr/>
          <p:nvPr/>
        </p:nvSpPr>
        <p:spPr>
          <a:xfrm>
            <a:off x="8503920" y="173736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lt1"/>
                </a:solidFill>
                <a:latin typeface="Calibri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itre TP3"/>
          <p:cNvSpPr/>
          <p:nvPr/>
        </p:nvSpPr>
        <p:spPr>
          <a:xfrm>
            <a:off x="8503920" y="2468880"/>
            <a:ext cx="283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Kafka + Machine Learning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ervices TP3"/>
          <p:cNvSpPr/>
          <p:nvPr/>
        </p:nvSpPr>
        <p:spPr>
          <a:xfrm>
            <a:off x="8503920" y="33375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+ prediction (K instances)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chnos TP3"/>
          <p:cNvSpPr/>
          <p:nvPr/>
        </p:nvSpPr>
        <p:spPr>
          <a:xfrm>
            <a:off x="8503920" y="37033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4"/>
                </a:solidFill>
                <a:latin typeface="Calibri"/>
              </a:rPr>
              <a:t>scikit-learn · joblib · pandas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Question TP3"/>
          <p:cNvSpPr/>
          <p:nvPr/>
        </p:nvSpPr>
        <p:spPr>
          <a:xfrm>
            <a:off x="8503920" y="4297680"/>
            <a:ext cx="2834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dk1"/>
                </a:solidFill>
                <a:latin typeface="Calibri"/>
              </a:rPr>
              <a:t>Comment intégrer un modèle, passer à l'échelle et résister aux pannes 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Conclusion de la slide"/>
          <p:cNvSpPr/>
          <p:nvPr/>
        </p:nvSpPr>
        <p:spPr>
          <a:xfrm>
            <a:off x="548640" y="58521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accent1"/>
                </a:solidFill>
                <a:latin typeface="Calibri"/>
              </a:rPr>
              <a:t>Une même application e-commerce, dont le mode de communication évolue d'un TP à l'autre.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5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537702-52EE-4FAF-9CCF-B50B13AF17BD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Numéro de TP"/>
          <p:cNvSpPr/>
          <p:nvPr/>
        </p:nvSpPr>
        <p:spPr>
          <a:xfrm>
            <a:off x="731520" y="146304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pc="-1" strike="noStrike">
                <a:solidFill>
                  <a:schemeClr val="accent3"/>
                </a:solidFill>
                <a:latin typeface="Calibri"/>
              </a:rPr>
              <a:t>TP1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31520" y="2743200"/>
            <a:ext cx="10515240" cy="13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chemeClr val="lt1"/>
                </a:solidFill>
                <a:latin typeface="Cambria"/>
              </a:rPr>
              <a:t>Communication par API REST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731520" y="4206240"/>
            <a:ext cx="1051524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2"/>
                </a:solidFill>
                <a:latin typeface="Calibri"/>
              </a:rPr>
              <a:t>Flask · requests · Docker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Message 1"/>
          <p:cNvSpPr/>
          <p:nvPr/>
        </p:nvSpPr>
        <p:spPr>
          <a:xfrm>
            <a:off x="7315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Message 2"/>
          <p:cNvSpPr/>
          <p:nvPr/>
        </p:nvSpPr>
        <p:spPr>
          <a:xfrm>
            <a:off x="11887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Message 3"/>
          <p:cNvSpPr/>
          <p:nvPr/>
        </p:nvSpPr>
        <p:spPr>
          <a:xfrm>
            <a:off x="16459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Message 4"/>
          <p:cNvSpPr/>
          <p:nvPr/>
        </p:nvSpPr>
        <p:spPr>
          <a:xfrm>
            <a:off x="21031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Message 5"/>
          <p:cNvSpPr/>
          <p:nvPr/>
        </p:nvSpPr>
        <p:spPr>
          <a:xfrm>
            <a:off x="25603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Message 6"/>
          <p:cNvSpPr/>
          <p:nvPr/>
        </p:nvSpPr>
        <p:spPr>
          <a:xfrm>
            <a:off x="30175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Message 7"/>
          <p:cNvSpPr/>
          <p:nvPr/>
        </p:nvSpPr>
        <p:spPr>
          <a:xfrm>
            <a:off x="34747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Message 8"/>
          <p:cNvSpPr/>
          <p:nvPr/>
        </p:nvSpPr>
        <p:spPr>
          <a:xfrm>
            <a:off x="39319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Message 9"/>
          <p:cNvSpPr/>
          <p:nvPr/>
        </p:nvSpPr>
        <p:spPr>
          <a:xfrm>
            <a:off x="43891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TP1 · 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6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C6BAA7-8836-4F21-ADEF-F270887B53C8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Numéro de TP"/>
          <p:cNvSpPr/>
          <p:nvPr/>
        </p:nvSpPr>
        <p:spPr>
          <a:xfrm>
            <a:off x="731520" y="146304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pc="-1" strike="noStrike">
                <a:solidFill>
                  <a:schemeClr val="accent3"/>
                </a:solidFill>
                <a:latin typeface="Calibri"/>
              </a:rPr>
              <a:t>TP2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31520" y="2743200"/>
            <a:ext cx="10515240" cy="13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chemeClr val="lt1"/>
                </a:solidFill>
                <a:latin typeface="Cambria"/>
              </a:rPr>
              <a:t>Titre 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731520" y="4206240"/>
            <a:ext cx="1051524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2"/>
                </a:solidFill>
                <a:latin typeface="Calibri"/>
              </a:rPr>
              <a:t>Producteur · consommateurs · ...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Message 1"/>
          <p:cNvSpPr/>
          <p:nvPr/>
        </p:nvSpPr>
        <p:spPr>
          <a:xfrm>
            <a:off x="7315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Message 2"/>
          <p:cNvSpPr/>
          <p:nvPr/>
        </p:nvSpPr>
        <p:spPr>
          <a:xfrm>
            <a:off x="11887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Message 3"/>
          <p:cNvSpPr/>
          <p:nvPr/>
        </p:nvSpPr>
        <p:spPr>
          <a:xfrm>
            <a:off x="16459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Message 4"/>
          <p:cNvSpPr/>
          <p:nvPr/>
        </p:nvSpPr>
        <p:spPr>
          <a:xfrm>
            <a:off x="21031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Message 5"/>
          <p:cNvSpPr/>
          <p:nvPr/>
        </p:nvSpPr>
        <p:spPr>
          <a:xfrm>
            <a:off x="25603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Message 6"/>
          <p:cNvSpPr/>
          <p:nvPr/>
        </p:nvSpPr>
        <p:spPr>
          <a:xfrm>
            <a:off x="30175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Message 7"/>
          <p:cNvSpPr/>
          <p:nvPr/>
        </p:nvSpPr>
        <p:spPr>
          <a:xfrm>
            <a:off x="34747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Message 8"/>
          <p:cNvSpPr/>
          <p:nvPr/>
        </p:nvSpPr>
        <p:spPr>
          <a:xfrm>
            <a:off x="39319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Message 9"/>
          <p:cNvSpPr/>
          <p:nvPr/>
        </p:nvSpPr>
        <p:spPr>
          <a:xfrm>
            <a:off x="43891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TP2 · 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7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F1FC1C-B87B-4A49-B793-19617D3A39B1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Numéro de TP"/>
          <p:cNvSpPr/>
          <p:nvPr/>
        </p:nvSpPr>
        <p:spPr>
          <a:xfrm>
            <a:off x="731520" y="146304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pc="-1" strike="noStrike">
                <a:solidFill>
                  <a:schemeClr val="accent3"/>
                </a:solidFill>
                <a:latin typeface="Calibri"/>
              </a:rPr>
              <a:t>TP3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31520" y="2743200"/>
            <a:ext cx="10515240" cy="13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chemeClr val="lt1"/>
                </a:solidFill>
                <a:latin typeface="Cambria"/>
              </a:rPr>
              <a:t>Microservice de prédiction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31520" y="4206240"/>
            <a:ext cx="1051524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2"/>
                </a:solidFill>
                <a:latin typeface="Calibri"/>
              </a:rPr>
              <a:t>Kafka + scikit-learn · passage à l'échelle · résilience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Ce client va-t-il commander ?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Caractéristique age"/>
          <p:cNvSpPr/>
          <p:nvPr/>
        </p:nvSpPr>
        <p:spPr>
          <a:xfrm>
            <a:off x="548640" y="1417320"/>
            <a:ext cx="5760360" cy="566640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Nom age"/>
          <p:cNvSpPr/>
          <p:nvPr/>
        </p:nvSpPr>
        <p:spPr>
          <a:xfrm>
            <a:off x="731520" y="141732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age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ens age"/>
          <p:cNvSpPr/>
          <p:nvPr/>
        </p:nvSpPr>
        <p:spPr>
          <a:xfrm>
            <a:off x="4114800" y="141732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Âge du client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Caractéristique anciennete"/>
          <p:cNvSpPr/>
          <p:nvPr/>
        </p:nvSpPr>
        <p:spPr>
          <a:xfrm>
            <a:off x="548640" y="2075760"/>
            <a:ext cx="5760360" cy="566640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Nom anciennete"/>
          <p:cNvSpPr/>
          <p:nvPr/>
        </p:nvSpPr>
        <p:spPr>
          <a:xfrm>
            <a:off x="731520" y="207576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anciennete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ens anciennete"/>
          <p:cNvSpPr/>
          <p:nvPr/>
        </p:nvSpPr>
        <p:spPr>
          <a:xfrm>
            <a:off x="4114800" y="207576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Ancienneté (années)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Caractéristique nombre_commandes"/>
          <p:cNvSpPr/>
          <p:nvPr/>
        </p:nvSpPr>
        <p:spPr>
          <a:xfrm>
            <a:off x="548640" y="2734200"/>
            <a:ext cx="5760360" cy="566640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Nom nombre_commandes"/>
          <p:cNvSpPr/>
          <p:nvPr/>
        </p:nvSpPr>
        <p:spPr>
          <a:xfrm>
            <a:off x="731520" y="273420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nombre_commandes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ens nombre_commandes"/>
          <p:cNvSpPr/>
          <p:nvPr/>
        </p:nvSpPr>
        <p:spPr>
          <a:xfrm>
            <a:off x="4114800" y="273420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Commandes passées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Caractéristique montant_total"/>
          <p:cNvSpPr/>
          <p:nvPr/>
        </p:nvSpPr>
        <p:spPr>
          <a:xfrm>
            <a:off x="548640" y="3392280"/>
            <a:ext cx="5760360" cy="566640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Nom montant_total"/>
          <p:cNvSpPr/>
          <p:nvPr/>
        </p:nvSpPr>
        <p:spPr>
          <a:xfrm>
            <a:off x="731520" y="339228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montant_total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ens montant_total"/>
          <p:cNvSpPr/>
          <p:nvPr/>
        </p:nvSpPr>
        <p:spPr>
          <a:xfrm>
            <a:off x="4114800" y="339228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Somme dépensée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Caractéristique montant_moyen"/>
          <p:cNvSpPr/>
          <p:nvPr/>
        </p:nvSpPr>
        <p:spPr>
          <a:xfrm>
            <a:off x="548640" y="4050720"/>
            <a:ext cx="5760360" cy="566640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Nom montant_moyen"/>
          <p:cNvSpPr/>
          <p:nvPr/>
        </p:nvSpPr>
        <p:spPr>
          <a:xfrm>
            <a:off x="731520" y="405072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montant_moyen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ens montant_moyen"/>
          <p:cNvSpPr/>
          <p:nvPr/>
        </p:nvSpPr>
        <p:spPr>
          <a:xfrm>
            <a:off x="4114800" y="405072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Panier moyen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Caractéristique jours_depuis_derniere_commande"/>
          <p:cNvSpPr/>
          <p:nvPr/>
        </p:nvSpPr>
        <p:spPr>
          <a:xfrm>
            <a:off x="548640" y="4709160"/>
            <a:ext cx="5760360" cy="566640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Nom jours_depuis_derniere_commande"/>
          <p:cNvSpPr/>
          <p:nvPr/>
        </p:nvSpPr>
        <p:spPr>
          <a:xfrm>
            <a:off x="731520" y="470916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jours_depuis_derniere_commande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ens jours_depuis_derniere_commande"/>
          <p:cNvSpPr/>
          <p:nvPr/>
        </p:nvSpPr>
        <p:spPr>
          <a:xfrm>
            <a:off x="4114800" y="470916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Récence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récision"/>
          <p:cNvSpPr/>
          <p:nvPr/>
        </p:nvSpPr>
        <p:spPr>
          <a:xfrm>
            <a:off x="548640" y="5440680"/>
            <a:ext cx="5760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Classification binaire : classe 1 = commande, classe 0 = pas de commande. Le client_id identifie la demande mais n'est pas une caractéristique du modèle.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Carte entrée"/>
          <p:cNvSpPr/>
          <p:nvPr/>
        </p:nvSpPr>
        <p:spPr>
          <a:xfrm>
            <a:off x="6675120" y="1417320"/>
            <a:ext cx="4937400" cy="25142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itre entrée"/>
          <p:cNvSpPr/>
          <p:nvPr/>
        </p:nvSpPr>
        <p:spPr>
          <a:xfrm>
            <a:off x="6903720" y="15087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Entrée : événement Kafka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JSON entrée"/>
          <p:cNvSpPr/>
          <p:nvPr/>
        </p:nvSpPr>
        <p:spPr>
          <a:xfrm>
            <a:off x="6903720" y="1828800"/>
            <a:ext cx="45716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"client_id": 25,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"age": 32,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"anciennete": 3,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"nombre_commandes": 8,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"montant_total": 1250,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"montant_moyen": 156.25,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"jours_depuis_derniere_commande": 12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Carte sortie"/>
          <p:cNvSpPr/>
          <p:nvPr/>
        </p:nvSpPr>
        <p:spPr>
          <a:xfrm>
            <a:off x="6675120" y="4114800"/>
            <a:ext cx="4937400" cy="173700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itre sortie"/>
          <p:cNvSpPr/>
          <p:nvPr/>
        </p:nvSpPr>
        <p:spPr>
          <a:xfrm>
            <a:off x="6903720" y="42062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Sortie : résultat obtenu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JSON sortie"/>
          <p:cNvSpPr/>
          <p:nvPr/>
        </p:nvSpPr>
        <p:spPr>
          <a:xfrm>
            <a:off x="6903720" y="4526280"/>
            <a:ext cx="4571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"client_id": 25,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"prediction": 1,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"probabilite_commande": 0.65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Num" idx="8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6EDD31-02A1-4756-94EF-0058CF48CA7B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Apprentissage ≠ prédiction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05" name="Tableau apprentissage vs prédiction"/>
          <p:cNvGraphicFramePr/>
          <p:nvPr/>
        </p:nvGraphicFramePr>
        <p:xfrm>
          <a:off x="548640" y="1417320"/>
          <a:ext cx="11063880" cy="318168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389120"/>
              </a:tblGrid>
              <a:tr h="530280">
                <a:tc>
                  <a:txBody>
                    <a:bodyPr lIns="137160" rIns="137160" tIns="36360" bIns="36360" anchor="ctr">
                      <a:noAutofit/>
                    </a:bodyPr>
                    <a:p>
                      <a:endParaRPr b="0" lang="en-US" sz="16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Apprentissage (training)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Prédiction (inference)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30280"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accent1"/>
                          </a:solidFill>
                          <a:latin typeface="Calibri"/>
                        </a:rPr>
                        <a:t>Quand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Une fois, hors ligne, avant le déploiement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À chaque événement Kafka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30280"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accent1"/>
                          </a:solidFill>
                          <a:latin typeface="Calibri"/>
                        </a:rPr>
                        <a:t>Entrée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Données historiques avec la réponse connue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Les caractéristiques d'un client, réponse inconnue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30280"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accent1"/>
                          </a:solidFill>
                          <a:latin typeface="Calibri"/>
                        </a:rPr>
                        <a:t>Opération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model.fit(X, y) ajuste les paramètres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model.predict(X) et predict_proba(X)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30280"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accent1"/>
                          </a:solidFill>
                          <a:latin typeface="Calibri"/>
                        </a:rPr>
                        <a:t>Effet sur le modèle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Il est modifié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Il n'est pas modifié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30280"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accent1"/>
                          </a:solidFill>
                          <a:latin typeface="Calibri"/>
                        </a:rPr>
                        <a:t>Résultat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Un fichier modele_commande.pkl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Une prédiction et une probabilité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06" name="Carte chargement"/>
          <p:cNvSpPr/>
          <p:nvPr/>
        </p:nvSpPr>
        <p:spPr>
          <a:xfrm>
            <a:off x="548640" y="4937760"/>
            <a:ext cx="5440320" cy="12340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itre chargement"/>
          <p:cNvSpPr/>
          <p:nvPr/>
        </p:nvSpPr>
        <p:spPr>
          <a:xfrm>
            <a:off x="777240" y="50475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Chargé une seule fois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e chargement"/>
          <p:cNvSpPr/>
          <p:nvPr/>
        </p:nvSpPr>
        <p:spPr>
          <a:xfrm>
            <a:off x="777240" y="537660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Le microservice lit le .pkl au démarrage et réutilise le même objet pour tous les messages.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Carte précautions"/>
          <p:cNvSpPr/>
          <p:nvPr/>
        </p:nvSpPr>
        <p:spPr>
          <a:xfrm>
            <a:off x="6172200" y="4937760"/>
            <a:ext cx="5440320" cy="12340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itre précautions"/>
          <p:cNvSpPr/>
          <p:nvPr/>
        </p:nvSpPr>
        <p:spPr>
          <a:xfrm>
            <a:off x="6400800" y="50475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Deux précautions sur le .pkl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e précautions"/>
          <p:cNvSpPr/>
          <p:nvPr/>
        </p:nvSpPr>
        <p:spPr>
          <a:xfrm>
            <a:off x="6400800" y="537660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Même version de scikit-learn pour le relire. Ne jamais charger un pickle de source inconnue.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Num" idx="9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414CD4-C796-4021-844D-708024FA563B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Construction du modèle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Carte chiffre 1"/>
          <p:cNvSpPr/>
          <p:nvPr/>
        </p:nvSpPr>
        <p:spPr>
          <a:xfrm>
            <a:off x="548640" y="1417320"/>
            <a:ext cx="4023000" cy="141696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Chiffre 1"/>
          <p:cNvSpPr/>
          <p:nvPr/>
        </p:nvSpPr>
        <p:spPr>
          <a:xfrm>
            <a:off x="777240" y="15087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chemeClr val="accent1"/>
                </a:solidFill>
                <a:latin typeface="Calibri"/>
              </a:rPr>
              <a:t>5 000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Libellé chiffre 1"/>
          <p:cNvSpPr/>
          <p:nvPr/>
        </p:nvSpPr>
        <p:spPr>
          <a:xfrm>
            <a:off x="777240" y="225864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clients synthétiques (80 % entraînement, 20 % test)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Carte chiffre 2"/>
          <p:cNvSpPr/>
          <p:nvPr/>
        </p:nvSpPr>
        <p:spPr>
          <a:xfrm>
            <a:off x="548640" y="2971800"/>
            <a:ext cx="4023000" cy="141696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Chiffre 2"/>
          <p:cNvSpPr/>
          <p:nvPr/>
        </p:nvSpPr>
        <p:spPr>
          <a:xfrm>
            <a:off x="777240" y="306324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chemeClr val="accent1"/>
                </a:solidFill>
                <a:latin typeface="Calibri"/>
              </a:rPr>
              <a:t>100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Libellé chiffre 2"/>
          <p:cNvSpPr/>
          <p:nvPr/>
        </p:nvSpPr>
        <p:spPr>
          <a:xfrm>
            <a:off x="777240" y="381312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arbres, profondeur maximale 8 : Random Forest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Carte chiffre 3"/>
          <p:cNvSpPr/>
          <p:nvPr/>
        </p:nvSpPr>
        <p:spPr>
          <a:xfrm>
            <a:off x="548640" y="4526280"/>
            <a:ext cx="4023000" cy="141696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Chiffre 3"/>
          <p:cNvSpPr/>
          <p:nvPr/>
        </p:nvSpPr>
        <p:spPr>
          <a:xfrm>
            <a:off x="777240" y="461772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chemeClr val="accent2"/>
                </a:solidFill>
                <a:latin typeface="Calibri"/>
              </a:rPr>
              <a:t>73,6 %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Libellé chiffre 3"/>
          <p:cNvSpPr/>
          <p:nvPr/>
        </p:nvSpPr>
        <p:spPr>
          <a:xfrm>
            <a:off x="777240" y="536760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d'accuracy sur le jeu de test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Légende"/>
          <p:cNvSpPr/>
          <p:nvPr/>
        </p:nvSpPr>
        <p:spPr>
          <a:xfrm>
            <a:off x="4937760" y="1371600"/>
            <a:ext cx="6674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Entraînement dans un conteneur Python 3.12, versions épinglées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Capture entraînement cadre"/>
          <p:cNvSpPr/>
          <p:nvPr/>
        </p:nvSpPr>
        <p:spPr>
          <a:xfrm>
            <a:off x="4937760" y="1691640"/>
            <a:ext cx="6711480" cy="1118880"/>
          </a:xfrm>
          <a:prstGeom prst="roundRect">
            <a:avLst>
              <a:gd name="adj" fmla="val 4902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Capture entraînement" descr="Capture entraînement"/>
          <p:cNvPicPr/>
          <p:nvPr/>
        </p:nvPicPr>
        <p:blipFill>
          <a:blip r:embed="rId1"/>
          <a:stretch/>
        </p:blipFill>
        <p:spPr>
          <a:xfrm>
            <a:off x="5001840" y="1755720"/>
            <a:ext cx="6583320" cy="990720"/>
          </a:xfrm>
          <a:prstGeom prst="rect">
            <a:avLst/>
          </a:prstGeom>
          <a:ln w="0">
            <a:noFill/>
          </a:ln>
        </p:spPr>
      </p:pic>
      <p:sp>
        <p:nvSpPr>
          <p:cNvPr id="126" name="Légende"/>
          <p:cNvSpPr/>
          <p:nvPr/>
        </p:nvSpPr>
        <p:spPr>
          <a:xfrm>
            <a:off x="4937760" y="32461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Fichier produit dans prediction/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Capture dossier prediction cadre"/>
          <p:cNvSpPr/>
          <p:nvPr/>
        </p:nvSpPr>
        <p:spPr>
          <a:xfrm>
            <a:off x="4937760" y="3566160"/>
            <a:ext cx="2322360" cy="1144440"/>
          </a:xfrm>
          <a:prstGeom prst="roundRect">
            <a:avLst>
              <a:gd name="adj" fmla="val 4792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Capture dossier prediction" descr="Capture dossier prediction"/>
          <p:cNvPicPr/>
          <p:nvPr/>
        </p:nvPicPr>
        <p:blipFill>
          <a:blip r:embed="rId2"/>
          <a:stretch/>
        </p:blipFill>
        <p:spPr>
          <a:xfrm>
            <a:off x="5001840" y="3630240"/>
            <a:ext cx="2194200" cy="1016280"/>
          </a:xfrm>
          <a:prstGeom prst="rect">
            <a:avLst/>
          </a:prstGeom>
          <a:ln w="0">
            <a:noFill/>
          </a:ln>
        </p:spPr>
      </p:pic>
      <p:sp>
        <p:nvSpPr>
          <p:cNvPr id="129" name="Pourquoi Random Forest"/>
          <p:cNvSpPr/>
          <p:nvPr/>
        </p:nvSpPr>
        <p:spPr>
          <a:xfrm>
            <a:off x="7589520" y="3657600"/>
            <a:ext cx="4023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Random Forest : gère le non-linéaire, sans normalisation, avec predict_proba.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Carte limite"/>
          <p:cNvSpPr/>
          <p:nvPr/>
        </p:nvSpPr>
        <p:spPr>
          <a:xfrm>
            <a:off x="4937760" y="4983480"/>
            <a:ext cx="6674760" cy="1188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e limite"/>
          <p:cNvSpPr/>
          <p:nvPr/>
        </p:nvSpPr>
        <p:spPr>
          <a:xfrm>
            <a:off x="5166360" y="5074920"/>
            <a:ext cx="6217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Limite : les données sont synthétiques. L'accuracy valide la chaîne technique, pas le comportement de vrais clients.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ldNum" idx="10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EE5EE1-4298-4801-AE3E-638A59A5D1A7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Architecture : deux topics, K instances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Nœud utilisateur"/>
          <p:cNvSpPr/>
          <p:nvPr/>
        </p:nvSpPr>
        <p:spPr>
          <a:xfrm>
            <a:off x="457200" y="2148840"/>
            <a:ext cx="1554120" cy="1188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Nœud utilisateur titre"/>
          <p:cNvSpPr/>
          <p:nvPr/>
        </p:nvSpPr>
        <p:spPr>
          <a:xfrm>
            <a:off x="548640" y="23317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Utilisateur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Nœud utilisateur détail"/>
          <p:cNvSpPr/>
          <p:nvPr/>
        </p:nvSpPr>
        <p:spPr>
          <a:xfrm>
            <a:off x="548640" y="274320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ou générateur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Nœud commandes"/>
          <p:cNvSpPr/>
          <p:nvPr/>
        </p:nvSpPr>
        <p:spPr>
          <a:xfrm>
            <a:off x="2423160" y="2148840"/>
            <a:ext cx="1645560" cy="1188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Nœud commandes titre"/>
          <p:cNvSpPr/>
          <p:nvPr/>
        </p:nvSpPr>
        <p:spPr>
          <a:xfrm>
            <a:off x="2514600" y="23317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commandes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Nœud commandes détail"/>
          <p:cNvSpPr/>
          <p:nvPr/>
        </p:nvSpPr>
        <p:spPr>
          <a:xfrm>
            <a:off x="2514600" y="274320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</a:rPr>
              <a:t>API Flask :8081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Nœud topic demandes"/>
          <p:cNvSpPr/>
          <p:nvPr/>
        </p:nvSpPr>
        <p:spPr>
          <a:xfrm>
            <a:off x="4480560" y="2148840"/>
            <a:ext cx="2011320" cy="1188360"/>
          </a:xfrm>
          <a:prstGeom prst="roundRect">
            <a:avLst>
              <a:gd name="adj" fmla="val 9231"/>
            </a:avLst>
          </a:prstGeom>
          <a:solidFill>
            <a:schemeClr val="accent3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Nœud topic demandes titre"/>
          <p:cNvSpPr/>
          <p:nvPr/>
        </p:nvSpPr>
        <p:spPr>
          <a:xfrm>
            <a:off x="4572000" y="2331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demandes-prediction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Nœud topic demandes détail"/>
          <p:cNvSpPr/>
          <p:nvPr/>
        </p:nvSpPr>
        <p:spPr>
          <a:xfrm>
            <a:off x="4572000" y="27432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6 partitions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Cadre groupe prediction"/>
          <p:cNvSpPr/>
          <p:nvPr/>
        </p:nvSpPr>
        <p:spPr>
          <a:xfrm>
            <a:off x="6949440" y="1463040"/>
            <a:ext cx="2194200" cy="25599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0f4c5c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Nom du groupe"/>
          <p:cNvSpPr/>
          <p:nvPr/>
        </p:nvSpPr>
        <p:spPr>
          <a:xfrm>
            <a:off x="6949440" y="15361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prediction-group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Instance 1"/>
          <p:cNvSpPr/>
          <p:nvPr/>
        </p:nvSpPr>
        <p:spPr>
          <a:xfrm>
            <a:off x="7132320" y="1874520"/>
            <a:ext cx="1828440" cy="5482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</a:rPr>
              <a:t>prediction #1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Instance 2"/>
          <p:cNvSpPr/>
          <p:nvPr/>
        </p:nvSpPr>
        <p:spPr>
          <a:xfrm>
            <a:off x="7132320" y="2560320"/>
            <a:ext cx="1828440" cy="5482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</a:rPr>
              <a:t>prediction #2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Instance 3"/>
          <p:cNvSpPr/>
          <p:nvPr/>
        </p:nvSpPr>
        <p:spPr>
          <a:xfrm>
            <a:off x="7132320" y="3246120"/>
            <a:ext cx="1828440" cy="5482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</a:rPr>
              <a:t>prediction #K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Nœud topic résultats"/>
          <p:cNvSpPr/>
          <p:nvPr/>
        </p:nvSpPr>
        <p:spPr>
          <a:xfrm>
            <a:off x="9601200" y="2148840"/>
            <a:ext cx="2011320" cy="1188360"/>
          </a:xfrm>
          <a:prstGeom prst="roundRect">
            <a:avLst>
              <a:gd name="adj" fmla="val 9231"/>
            </a:avLst>
          </a:prstGeom>
          <a:solidFill>
            <a:schemeClr val="accent3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Nœud topic résultats titre"/>
          <p:cNvSpPr/>
          <p:nvPr/>
        </p:nvSpPr>
        <p:spPr>
          <a:xfrm>
            <a:off x="9692640" y="2331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resultats-prediction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Nœud topic résultats détail"/>
          <p:cNvSpPr/>
          <p:nvPr/>
        </p:nvSpPr>
        <p:spPr>
          <a:xfrm>
            <a:off x="9692640" y="27432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2 partitions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Flèche"/>
          <p:cNvSpPr/>
          <p:nvPr/>
        </p:nvSpPr>
        <p:spPr>
          <a:xfrm>
            <a:off x="2011680" y="2743200"/>
            <a:ext cx="411480" cy="360"/>
          </a:xfrm>
          <a:prstGeom prst="line">
            <a:avLst/>
          </a:prstGeom>
          <a:ln w="25400">
            <a:solidFill>
              <a:srgbClr val="1020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Flèche"/>
          <p:cNvSpPr/>
          <p:nvPr/>
        </p:nvSpPr>
        <p:spPr>
          <a:xfrm>
            <a:off x="4069080" y="2743200"/>
            <a:ext cx="411480" cy="360"/>
          </a:xfrm>
          <a:prstGeom prst="line">
            <a:avLst/>
          </a:prstGeom>
          <a:ln w="25400">
            <a:solidFill>
              <a:srgbClr val="1020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Flèche"/>
          <p:cNvSpPr/>
          <p:nvPr/>
        </p:nvSpPr>
        <p:spPr>
          <a:xfrm>
            <a:off x="6492240" y="2743200"/>
            <a:ext cx="457200" cy="360"/>
          </a:xfrm>
          <a:prstGeom prst="line">
            <a:avLst/>
          </a:prstGeom>
          <a:ln w="25400">
            <a:solidFill>
              <a:srgbClr val="1020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Flèche"/>
          <p:cNvSpPr/>
          <p:nvPr/>
        </p:nvSpPr>
        <p:spPr>
          <a:xfrm>
            <a:off x="9144000" y="2743200"/>
            <a:ext cx="457200" cy="360"/>
          </a:xfrm>
          <a:prstGeom prst="line">
            <a:avLst/>
          </a:prstGeom>
          <a:ln w="25400">
            <a:solidFill>
              <a:srgbClr val="1020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Flèche"/>
          <p:cNvSpPr/>
          <p:nvPr/>
        </p:nvSpPr>
        <p:spPr>
          <a:xfrm>
            <a:off x="10607040" y="3337560"/>
            <a:ext cx="360" cy="1234440"/>
          </a:xfrm>
          <a:prstGeom prst="line">
            <a:avLst/>
          </a:prstGeom>
          <a:ln w="254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Flèche"/>
          <p:cNvSpPr/>
          <p:nvPr/>
        </p:nvSpPr>
        <p:spPr>
          <a:xfrm>
            <a:off x="3246120" y="4572000"/>
            <a:ext cx="7360920" cy="360"/>
          </a:xfrm>
          <a:prstGeom prst="line">
            <a:avLst/>
          </a:prstGeom>
          <a:ln w="254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Flèche retour"/>
          <p:cNvSpPr/>
          <p:nvPr/>
        </p:nvSpPr>
        <p:spPr>
          <a:xfrm flipV="1">
            <a:off x="3246120" y="3337560"/>
            <a:ext cx="360" cy="1234440"/>
          </a:xfrm>
          <a:prstGeom prst="line">
            <a:avLst/>
          </a:prstGeom>
          <a:ln w="25400">
            <a:solidFill>
              <a:srgbClr val="1020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Badge flèche 1"/>
          <p:cNvSpPr/>
          <p:nvPr/>
        </p:nvSpPr>
        <p:spPr>
          <a:xfrm>
            <a:off x="2011680" y="23590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</a:rPr>
              <a:t>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Badge flèche 2"/>
          <p:cNvSpPr/>
          <p:nvPr/>
        </p:nvSpPr>
        <p:spPr>
          <a:xfrm>
            <a:off x="4069080" y="23590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</a:rPr>
              <a:t>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Badge flèche 3"/>
          <p:cNvSpPr/>
          <p:nvPr/>
        </p:nvSpPr>
        <p:spPr>
          <a:xfrm>
            <a:off x="6556320" y="23590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</a:rPr>
              <a:t>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Badge flèche 4"/>
          <p:cNvSpPr/>
          <p:nvPr/>
        </p:nvSpPr>
        <p:spPr>
          <a:xfrm>
            <a:off x="9235440" y="23590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</a:rPr>
              <a:t>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Badge flèche 5"/>
          <p:cNvSpPr/>
          <p:nvPr/>
        </p:nvSpPr>
        <p:spPr>
          <a:xfrm>
            <a:off x="6766560" y="442584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</a:rPr>
              <a:t>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Légende badge 1"/>
          <p:cNvSpPr/>
          <p:nvPr/>
        </p:nvSpPr>
        <p:spPr>
          <a:xfrm>
            <a:off x="548640" y="49744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</a:rPr>
              <a:t>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Légende 1"/>
          <p:cNvSpPr/>
          <p:nvPr/>
        </p:nvSpPr>
        <p:spPr>
          <a:xfrm>
            <a:off x="960120" y="49377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POST /predictions : réponse 202 Accepted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Légende badge 2"/>
          <p:cNvSpPr/>
          <p:nvPr/>
        </p:nvSpPr>
        <p:spPr>
          <a:xfrm>
            <a:off x="548640" y="54316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</a:rPr>
              <a:t>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Légende 2"/>
          <p:cNvSpPr/>
          <p:nvPr/>
        </p:nvSpPr>
        <p:spPr>
          <a:xfrm>
            <a:off x="960120" y="53949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Publie la demande, clé = client_id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Légende badge 3"/>
          <p:cNvSpPr/>
          <p:nvPr/>
        </p:nvSpPr>
        <p:spPr>
          <a:xfrm>
            <a:off x="548640" y="58888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</a:rPr>
              <a:t>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Légende 3"/>
          <p:cNvSpPr/>
          <p:nvPr/>
        </p:nvSpPr>
        <p:spPr>
          <a:xfrm>
            <a:off x="960120" y="58521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Chaque partition est lue par une seule instance du groupe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Légende badge 4"/>
          <p:cNvSpPr/>
          <p:nvPr/>
        </p:nvSpPr>
        <p:spPr>
          <a:xfrm>
            <a:off x="6309360" y="49744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</a:rPr>
              <a:t>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Légende 4"/>
          <p:cNvSpPr/>
          <p:nvPr/>
        </p:nvSpPr>
        <p:spPr>
          <a:xfrm>
            <a:off x="6720840" y="49377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Publie le résultat (avec le champ instance)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Légende badge 5"/>
          <p:cNvSpPr/>
          <p:nvPr/>
        </p:nvSpPr>
        <p:spPr>
          <a:xfrm>
            <a:off x="6309360" y="54316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</a:rPr>
              <a:t>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Légende 5"/>
          <p:cNvSpPr/>
          <p:nvPr/>
        </p:nvSpPr>
        <p:spPr>
          <a:xfrm>
            <a:off x="6720840" y="53949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commandes consomme et affiche le résultat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Note partitions"/>
          <p:cNvSpPr/>
          <p:nvPr/>
        </p:nvSpPr>
        <p:spPr>
          <a:xfrm>
            <a:off x="6309360" y="585216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6 partitions : jusqu'à 6 instances actives en parallèle.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ldNum" idx="11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08A7BF-2C43-4BA5-BE7B-16CD34C99012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Le microservice de prédiction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6" name="Carte étape 1"/>
          <p:cNvSpPr/>
          <p:nvPr/>
        </p:nvSpPr>
        <p:spPr>
          <a:xfrm>
            <a:off x="548640" y="1417320"/>
            <a:ext cx="3520080" cy="1919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Badge 1"/>
          <p:cNvSpPr/>
          <p:nvPr/>
        </p:nvSpPr>
        <p:spPr>
          <a:xfrm>
            <a:off x="777240" y="164592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itre étape 1"/>
          <p:cNvSpPr/>
          <p:nvPr/>
        </p:nvSpPr>
        <p:spPr>
          <a:xfrm>
            <a:off x="1417320" y="164592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Charger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e étape 1"/>
          <p:cNvSpPr/>
          <p:nvPr/>
        </p:nvSpPr>
        <p:spPr>
          <a:xfrm>
            <a:off x="777240" y="228600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joblib.load(modele_commande.pkl), une seule fois au démarrage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Carte étape 2"/>
          <p:cNvSpPr/>
          <p:nvPr/>
        </p:nvSpPr>
        <p:spPr>
          <a:xfrm>
            <a:off x="4320720" y="1417320"/>
            <a:ext cx="3520080" cy="1919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Badge 2"/>
          <p:cNvSpPr/>
          <p:nvPr/>
        </p:nvSpPr>
        <p:spPr>
          <a:xfrm>
            <a:off x="4549320" y="164592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itre étape 2"/>
          <p:cNvSpPr/>
          <p:nvPr/>
        </p:nvSpPr>
        <p:spPr>
          <a:xfrm>
            <a:off x="5189400" y="164592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Consommer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e étape 2"/>
          <p:cNvSpPr/>
          <p:nvPr/>
        </p:nvSpPr>
        <p:spPr>
          <a:xfrm>
            <a:off x="4549320" y="228600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KafkaConsumer sur demandes-prediction, group_id = prediction-group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Carte étape 3"/>
          <p:cNvSpPr/>
          <p:nvPr/>
        </p:nvSpPr>
        <p:spPr>
          <a:xfrm>
            <a:off x="8092440" y="1417320"/>
            <a:ext cx="3520080" cy="1919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Badge 3"/>
          <p:cNvSpPr/>
          <p:nvPr/>
        </p:nvSpPr>
        <p:spPr>
          <a:xfrm>
            <a:off x="8321040" y="164592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itre étape 3"/>
          <p:cNvSpPr/>
          <p:nvPr/>
        </p:nvSpPr>
        <p:spPr>
          <a:xfrm>
            <a:off x="8961120" y="164592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Construire X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e étape 3"/>
          <p:cNvSpPr/>
          <p:nvPr/>
        </p:nvSpPr>
        <p:spPr>
          <a:xfrm>
            <a:off x="8321040" y="228600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DataFrame avec les mêmes colonnes et le même ordre qu'à l'entraînement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Carte étape 4"/>
          <p:cNvSpPr/>
          <p:nvPr/>
        </p:nvSpPr>
        <p:spPr>
          <a:xfrm>
            <a:off x="548640" y="3520440"/>
            <a:ext cx="3520080" cy="1919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Badge 4"/>
          <p:cNvSpPr/>
          <p:nvPr/>
        </p:nvSpPr>
        <p:spPr>
          <a:xfrm>
            <a:off x="777240" y="374904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</a:rPr>
              <a:t>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itre étape 4"/>
          <p:cNvSpPr/>
          <p:nvPr/>
        </p:nvSpPr>
        <p:spPr>
          <a:xfrm>
            <a:off x="1417320" y="37490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Prédire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e étape 4"/>
          <p:cNvSpPr/>
          <p:nvPr/>
        </p:nvSpPr>
        <p:spPr>
          <a:xfrm>
            <a:off x="777240" y="438912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predict(X)[0] et predict_proba(X)[0][1], la probabilité de la classe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Carte étape 5"/>
          <p:cNvSpPr/>
          <p:nvPr/>
        </p:nvSpPr>
        <p:spPr>
          <a:xfrm>
            <a:off x="4320720" y="3520440"/>
            <a:ext cx="3520080" cy="1919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Badge 5"/>
          <p:cNvSpPr/>
          <p:nvPr/>
        </p:nvSpPr>
        <p:spPr>
          <a:xfrm>
            <a:off x="4549320" y="374904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</a:rPr>
              <a:t>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itre étape 5"/>
          <p:cNvSpPr/>
          <p:nvPr/>
        </p:nvSpPr>
        <p:spPr>
          <a:xfrm>
            <a:off x="5189400" y="37490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Publier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e étape 5"/>
          <p:cNvSpPr/>
          <p:nvPr/>
        </p:nvSpPr>
        <p:spPr>
          <a:xfrm>
            <a:off x="4549320" y="438912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int(prediction) et float(probabilite) vers resultats-prediction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Carte étape 6"/>
          <p:cNvSpPr/>
          <p:nvPr/>
        </p:nvSpPr>
        <p:spPr>
          <a:xfrm>
            <a:off x="8092440" y="3520440"/>
            <a:ext cx="3520080" cy="1919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Badge 6"/>
          <p:cNvSpPr/>
          <p:nvPr/>
        </p:nvSpPr>
        <p:spPr>
          <a:xfrm>
            <a:off x="8321040" y="374904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</a:rPr>
              <a:t>6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itre étape 6"/>
          <p:cNvSpPr/>
          <p:nvPr/>
        </p:nvSpPr>
        <p:spPr>
          <a:xfrm>
            <a:off x="8961120" y="37490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Valider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e étape 6"/>
          <p:cNvSpPr/>
          <p:nvPr/>
        </p:nvSpPr>
        <p:spPr>
          <a:xfrm>
            <a:off x="8321040" y="438912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Commit manuel après traitement : au moins une fois, jamais de perte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Note messages invalides"/>
          <p:cNvSpPr/>
          <p:nvPr/>
        </p:nvSpPr>
        <p:spPr>
          <a:xfrm>
            <a:off x="548640" y="571500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Un message invalide (champ manquant, mauvais type) est ignoré avec un log, sans bloquer la partition.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sldNum" idx="12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50458C-FA52-4BE1-8108-BB0463A63B9B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Infrastructure : topics et conteneurs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3" name="Carte partitions"/>
          <p:cNvSpPr/>
          <p:nvPr/>
        </p:nvSpPr>
        <p:spPr>
          <a:xfrm>
            <a:off x="548640" y="1691640"/>
            <a:ext cx="3291480" cy="15541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itre partitions"/>
          <p:cNvSpPr/>
          <p:nvPr/>
        </p:nvSpPr>
        <p:spPr>
          <a:xfrm>
            <a:off x="777240" y="178308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1"/>
                </a:solidFill>
                <a:latin typeface="Calibri"/>
              </a:rPr>
              <a:t>6 partitions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e partitions"/>
          <p:cNvSpPr/>
          <p:nvPr/>
        </p:nvSpPr>
        <p:spPr>
          <a:xfrm>
            <a:off x="777240" y="2286000"/>
            <a:ext cx="2834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Facteur de réplication 1. Jusqu'à 6 instances de prediction travaillent en parallèle.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Carte conteneurs"/>
          <p:cNvSpPr/>
          <p:nvPr/>
        </p:nvSpPr>
        <p:spPr>
          <a:xfrm>
            <a:off x="548640" y="3520440"/>
            <a:ext cx="3291480" cy="1828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itre conteneurs"/>
          <p:cNvSpPr/>
          <p:nvPr/>
        </p:nvSpPr>
        <p:spPr>
          <a:xfrm>
            <a:off x="777240" y="361188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1"/>
                </a:solidFill>
                <a:latin typeface="Calibri"/>
              </a:rPr>
              <a:t>6 conteneurs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e conteneurs"/>
          <p:cNvSpPr/>
          <p:nvPr/>
        </p:nvSpPr>
        <p:spPr>
          <a:xfrm>
            <a:off x="777240" y="4114800"/>
            <a:ext cx="28342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kafka, clients, commandes, statistiques et 2 instances de prediction (K = 2 par défaut).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Badge capture topic"/>
          <p:cNvSpPr/>
          <p:nvPr/>
        </p:nvSpPr>
        <p:spPr>
          <a:xfrm>
            <a:off x="4206240" y="1389960"/>
            <a:ext cx="310680" cy="3106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</a:rPr>
              <a:t>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Légende topic"/>
          <p:cNvSpPr/>
          <p:nvPr/>
        </p:nvSpPr>
        <p:spPr>
          <a:xfrm>
            <a:off x="4617720" y="1371600"/>
            <a:ext cx="6949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kafka-topics.sh --describe --topic demandes-prediction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apture topic demandes-prediction cadre"/>
          <p:cNvSpPr/>
          <p:nvPr/>
        </p:nvSpPr>
        <p:spPr>
          <a:xfrm>
            <a:off x="4206240" y="1764720"/>
            <a:ext cx="7443000" cy="1204200"/>
          </a:xfrm>
          <a:prstGeom prst="roundRect">
            <a:avLst>
              <a:gd name="adj" fmla="val 4555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Capture topic demandes-prediction" descr="Capture topic demandes-prediction"/>
          <p:cNvPicPr/>
          <p:nvPr/>
        </p:nvPicPr>
        <p:blipFill>
          <a:blip r:embed="rId1"/>
          <a:stretch/>
        </p:blipFill>
        <p:spPr>
          <a:xfrm>
            <a:off x="4270320" y="1828800"/>
            <a:ext cx="7314840" cy="1076040"/>
          </a:xfrm>
          <a:prstGeom prst="rect">
            <a:avLst/>
          </a:prstGeom>
          <a:ln w="0">
            <a:noFill/>
          </a:ln>
        </p:spPr>
      </p:pic>
      <p:sp>
        <p:nvSpPr>
          <p:cNvPr id="213" name="Badge capture ps"/>
          <p:cNvSpPr/>
          <p:nvPr/>
        </p:nvSpPr>
        <p:spPr>
          <a:xfrm>
            <a:off x="4206240" y="3520440"/>
            <a:ext cx="310680" cy="3106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</a:rPr>
              <a:t>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Légende ps"/>
          <p:cNvSpPr/>
          <p:nvPr/>
        </p:nvSpPr>
        <p:spPr>
          <a:xfrm>
            <a:off x="4617720" y="3502080"/>
            <a:ext cx="6949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docker compose ps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apture docker compose ps cadre"/>
          <p:cNvSpPr/>
          <p:nvPr/>
        </p:nvSpPr>
        <p:spPr>
          <a:xfrm>
            <a:off x="4206240" y="3913560"/>
            <a:ext cx="7443000" cy="190620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Capture docker compose ps" descr="Capture docker compose ps"/>
          <p:cNvPicPr/>
          <p:nvPr/>
        </p:nvPicPr>
        <p:blipFill>
          <a:blip r:embed="rId2"/>
          <a:stretch/>
        </p:blipFill>
        <p:spPr>
          <a:xfrm>
            <a:off x="4270320" y="3977640"/>
            <a:ext cx="7314840" cy="1778400"/>
          </a:xfrm>
          <a:prstGeom prst="rect">
            <a:avLst/>
          </a:prstGeom>
          <a:ln w="0">
            <a:noFill/>
          </a:ln>
        </p:spPr>
      </p:pic>
      <p:sp>
        <p:nvSpPr>
          <p:cNvPr id="217" name="PlaceHolder 2"/>
          <p:cNvSpPr>
            <a:spLocks noGrp="1"/>
          </p:cNvSpPr>
          <p:nvPr>
            <p:ph type="sldNum" idx="13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6E96FB-DACC-4A33-BC8A-AFD2B66BD043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Une prédiction de bout en bout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9" name="Badge 1"/>
          <p:cNvSpPr/>
          <p:nvPr/>
        </p:nvSpPr>
        <p:spPr>
          <a:xfrm>
            <a:off x="548640" y="146304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itre étape 1"/>
          <p:cNvSpPr/>
          <p:nvPr/>
        </p:nvSpPr>
        <p:spPr>
          <a:xfrm>
            <a:off x="1188720" y="14446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Demande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e étape 1"/>
          <p:cNvSpPr/>
          <p:nvPr/>
        </p:nvSpPr>
        <p:spPr>
          <a:xfrm>
            <a:off x="1188720" y="179208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POST /predictions, réponse 202 Accepted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Capture étape 1 cadre"/>
          <p:cNvSpPr/>
          <p:nvPr/>
        </p:nvSpPr>
        <p:spPr>
          <a:xfrm>
            <a:off x="3959280" y="1444680"/>
            <a:ext cx="7717320" cy="74016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Capture étape 1" descr="Capture étape 1"/>
          <p:cNvPicPr/>
          <p:nvPr/>
        </p:nvPicPr>
        <p:blipFill>
          <a:blip r:embed="rId1"/>
          <a:stretch/>
        </p:blipFill>
        <p:spPr>
          <a:xfrm>
            <a:off x="4023360" y="1508760"/>
            <a:ext cx="7589160" cy="612360"/>
          </a:xfrm>
          <a:prstGeom prst="rect">
            <a:avLst/>
          </a:prstGeom>
          <a:ln w="0">
            <a:noFill/>
          </a:ln>
        </p:spPr>
      </p:pic>
      <p:sp>
        <p:nvSpPr>
          <p:cNvPr id="224" name="Badge 2"/>
          <p:cNvSpPr/>
          <p:nvPr/>
        </p:nvSpPr>
        <p:spPr>
          <a:xfrm>
            <a:off x="548640" y="265176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itre étape 2"/>
          <p:cNvSpPr/>
          <p:nvPr/>
        </p:nvSpPr>
        <p:spPr>
          <a:xfrm>
            <a:off x="1188720" y="26334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Prédiction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e étape 2"/>
          <p:cNvSpPr/>
          <p:nvPr/>
        </p:nvSpPr>
        <p:spPr>
          <a:xfrm>
            <a:off x="1188720" y="298080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Une instance de prediction traite la demande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Capture étape 2 cadre"/>
          <p:cNvSpPr/>
          <p:nvPr/>
        </p:nvSpPr>
        <p:spPr>
          <a:xfrm>
            <a:off x="3959280" y="2633400"/>
            <a:ext cx="7717320" cy="1001520"/>
          </a:xfrm>
          <a:prstGeom prst="roundRect">
            <a:avLst>
              <a:gd name="adj" fmla="val 5477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Capture étape 2" descr="Capture étape 2"/>
          <p:cNvPicPr/>
          <p:nvPr/>
        </p:nvPicPr>
        <p:blipFill>
          <a:blip r:embed="rId2"/>
          <a:stretch/>
        </p:blipFill>
        <p:spPr>
          <a:xfrm>
            <a:off x="4023360" y="2697480"/>
            <a:ext cx="7589160" cy="873360"/>
          </a:xfrm>
          <a:prstGeom prst="rect">
            <a:avLst/>
          </a:prstGeom>
          <a:ln w="0">
            <a:noFill/>
          </a:ln>
        </p:spPr>
      </p:pic>
      <p:sp>
        <p:nvSpPr>
          <p:cNvPr id="229" name="Badge 3"/>
          <p:cNvSpPr/>
          <p:nvPr/>
        </p:nvSpPr>
        <p:spPr>
          <a:xfrm>
            <a:off x="548640" y="393192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itre étape 3"/>
          <p:cNvSpPr/>
          <p:nvPr/>
        </p:nvSpPr>
        <p:spPr>
          <a:xfrm>
            <a:off x="1188720" y="39135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Résultat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e étape 3"/>
          <p:cNvSpPr/>
          <p:nvPr/>
        </p:nvSpPr>
        <p:spPr>
          <a:xfrm>
            <a:off x="1188720" y="426096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commandes reçoit le résultat via Kafka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apture étape 3 cadre"/>
          <p:cNvSpPr/>
          <p:nvPr/>
        </p:nvSpPr>
        <p:spPr>
          <a:xfrm>
            <a:off x="3959280" y="3913560"/>
            <a:ext cx="7717320" cy="969480"/>
          </a:xfrm>
          <a:prstGeom prst="roundRect">
            <a:avLst>
              <a:gd name="adj" fmla="val 5658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Capture étape 3" descr="Capture étape 3"/>
          <p:cNvPicPr/>
          <p:nvPr/>
        </p:nvPicPr>
        <p:blipFill>
          <a:blip r:embed="rId3"/>
          <a:stretch/>
        </p:blipFill>
        <p:spPr>
          <a:xfrm>
            <a:off x="4023360" y="3977640"/>
            <a:ext cx="7589160" cy="841320"/>
          </a:xfrm>
          <a:prstGeom prst="rect">
            <a:avLst/>
          </a:prstGeom>
          <a:ln w="0">
            <a:noFill/>
          </a:ln>
        </p:spPr>
      </p:pic>
      <p:sp>
        <p:nvSpPr>
          <p:cNvPr id="234" name="Carte conclusion"/>
          <p:cNvSpPr/>
          <p:nvPr/>
        </p:nvSpPr>
        <p:spPr>
          <a:xfrm>
            <a:off x="548640" y="5074920"/>
            <a:ext cx="11063880" cy="10969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e conclusion"/>
          <p:cNvSpPr/>
          <p:nvPr/>
        </p:nvSpPr>
        <p:spPr>
          <a:xfrm>
            <a:off x="822960" y="516636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Client 25 : prédiction 1, probabilité 0,65, calculée par l'instance ab1338eba7ab. La boucle commandes → Kafka → prediction → Kafka → commandes est complète.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ldNum" idx="14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64656F-B932-4E1C-B890-46AF8C118390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Dockerisation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8" name="Carte Image légère"/>
          <p:cNvSpPr/>
          <p:nvPr/>
        </p:nvSpPr>
        <p:spPr>
          <a:xfrm>
            <a:off x="548640" y="1417320"/>
            <a:ext cx="4480200" cy="10512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itre Image légère"/>
          <p:cNvSpPr/>
          <p:nvPr/>
        </p:nvSpPr>
        <p:spPr>
          <a:xfrm>
            <a:off x="777240" y="15087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Image légère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e Image légère"/>
          <p:cNvSpPr/>
          <p:nvPr/>
        </p:nvSpPr>
        <p:spPr>
          <a:xfrm>
            <a:off x="777240" y="187452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python:3.12-slim et dépendances épinglées (scikit-learn 1.5.2)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arte Modèle embarqué"/>
          <p:cNvSpPr/>
          <p:nvPr/>
        </p:nvSpPr>
        <p:spPr>
          <a:xfrm>
            <a:off x="548640" y="2606040"/>
            <a:ext cx="4480200" cy="10512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itre Modèle embarqué"/>
          <p:cNvSpPr/>
          <p:nvPr/>
        </p:nvSpPr>
        <p:spPr>
          <a:xfrm>
            <a:off x="777240" y="269748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Modèle embarqué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e Modèle embarqué"/>
          <p:cNvSpPr/>
          <p:nvPr/>
        </p:nvSpPr>
        <p:spPr>
          <a:xfrm>
            <a:off x="777240" y="306324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Un autre modèle donne une autre image : version traçable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Carte Aucun port exposé"/>
          <p:cNvSpPr/>
          <p:nvPr/>
        </p:nvSpPr>
        <p:spPr>
          <a:xfrm>
            <a:off x="548640" y="3794760"/>
            <a:ext cx="4480200" cy="10512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itre Aucun port exposé"/>
          <p:cNvSpPr/>
          <p:nvPr/>
        </p:nvSpPr>
        <p:spPr>
          <a:xfrm>
            <a:off x="777240" y="38862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Aucun port exposé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e Aucun port exposé"/>
          <p:cNvSpPr/>
          <p:nvPr/>
        </p:nvSpPr>
        <p:spPr>
          <a:xfrm>
            <a:off x="777240" y="425196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Service 100 % Kafka, pas d'API REST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Carte Pas de container_name"/>
          <p:cNvSpPr/>
          <p:nvPr/>
        </p:nvSpPr>
        <p:spPr>
          <a:xfrm>
            <a:off x="548640" y="4983480"/>
            <a:ext cx="4480200" cy="10512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itre Pas de container_name"/>
          <p:cNvSpPr/>
          <p:nvPr/>
        </p:nvSpPr>
        <p:spPr>
          <a:xfrm>
            <a:off x="777240" y="507492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Pas de container_name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e Pas de container_name"/>
          <p:cNvSpPr/>
          <p:nvPr/>
        </p:nvSpPr>
        <p:spPr>
          <a:xfrm>
            <a:off x="777240" y="544068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On peut lancer K copies du même service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Capture build prediction cadre"/>
          <p:cNvSpPr/>
          <p:nvPr/>
        </p:nvSpPr>
        <p:spPr>
          <a:xfrm>
            <a:off x="5422320" y="1417320"/>
            <a:ext cx="6254280" cy="2173680"/>
          </a:xfrm>
          <a:prstGeom prst="roundRect">
            <a:avLst>
              <a:gd name="adj" fmla="val 2524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1" name="Capture build prediction" descr="Capture build prediction"/>
          <p:cNvPicPr/>
          <p:nvPr/>
        </p:nvPicPr>
        <p:blipFill>
          <a:blip r:embed="rId1"/>
          <a:stretch/>
        </p:blipFill>
        <p:spPr>
          <a:xfrm>
            <a:off x="5486400" y="1481400"/>
            <a:ext cx="6126120" cy="2045520"/>
          </a:xfrm>
          <a:prstGeom prst="rect">
            <a:avLst/>
          </a:prstGeom>
          <a:ln w="0">
            <a:noFill/>
          </a:ln>
        </p:spPr>
      </p:pic>
      <p:sp>
        <p:nvSpPr>
          <p:cNvPr id="252" name="Légende build"/>
          <p:cNvSpPr/>
          <p:nvPr/>
        </p:nvSpPr>
        <p:spPr>
          <a:xfrm>
            <a:off x="5486400" y="3611880"/>
            <a:ext cx="6126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docker compose build prediction : image construite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Carte Dockerfile"/>
          <p:cNvSpPr/>
          <p:nvPr/>
        </p:nvSpPr>
        <p:spPr>
          <a:xfrm>
            <a:off x="5486400" y="4069080"/>
            <a:ext cx="6126120" cy="21027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Dockerfile"/>
          <p:cNvSpPr/>
          <p:nvPr/>
        </p:nvSpPr>
        <p:spPr>
          <a:xfrm>
            <a:off x="5715000" y="4160520"/>
            <a:ext cx="56689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FROM python:3.12-slim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ENV PYTHONUNBUFFERED=1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WORKDIR /app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COPY requirements.txt 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RUN pip install --no-cache-dir -r requirements.txt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COPY app.py modele_commande.pkl ./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ourier New"/>
                <a:ea typeface="Courier New"/>
              </a:rPr>
              <a:t>CMD ["python", "app.py"]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sldNum" idx="15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63E6E0-FEF7-4CAC-BC58-0888CC3E82EC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Flux infini et K instances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7" name="Carte Générateur : flux infini"/>
          <p:cNvSpPr/>
          <p:nvPr/>
        </p:nvSpPr>
        <p:spPr>
          <a:xfrm>
            <a:off x="548640" y="1417320"/>
            <a:ext cx="502884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itre Générateur : flux infini"/>
          <p:cNvSpPr/>
          <p:nvPr/>
        </p:nvSpPr>
        <p:spPr>
          <a:xfrm>
            <a:off x="777240" y="15271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accent1"/>
                </a:solidFill>
                <a:latin typeface="Calibri"/>
              </a:rPr>
              <a:t>Générateur : flux infini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e Générateur : flux infini"/>
          <p:cNvSpPr/>
          <p:nvPr/>
        </p:nvSpPr>
        <p:spPr>
          <a:xfrm>
            <a:off x="777240" y="1965960"/>
            <a:ext cx="4571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while True : demandes aléatoires (client_id de 1 à 200), 10 demandes par seconde.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Carte K est un paramètre"/>
          <p:cNvSpPr/>
          <p:nvPr/>
        </p:nvSpPr>
        <p:spPr>
          <a:xfrm>
            <a:off x="548640" y="3017520"/>
            <a:ext cx="502884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itre K est un paramètre"/>
          <p:cNvSpPr/>
          <p:nvPr/>
        </p:nvSpPr>
        <p:spPr>
          <a:xfrm>
            <a:off x="777240" y="3127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accent1"/>
                </a:solidFill>
                <a:latin typeface="Calibri"/>
              </a:rPr>
              <a:t>K est un paramètre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e K est un paramètre"/>
          <p:cNvSpPr/>
          <p:nvPr/>
        </p:nvSpPr>
        <p:spPr>
          <a:xfrm>
            <a:off x="777240" y="3566160"/>
            <a:ext cx="4571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$env:K=3 alimente deploy.replicas: ${K:-2} dans docker-compose.yml.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Carte Pour que ça marche"/>
          <p:cNvSpPr/>
          <p:nvPr/>
        </p:nvSpPr>
        <p:spPr>
          <a:xfrm>
            <a:off x="548640" y="4617720"/>
            <a:ext cx="502884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itre Pour que ça marche"/>
          <p:cNvSpPr/>
          <p:nvPr/>
        </p:nvSpPr>
        <p:spPr>
          <a:xfrm>
            <a:off x="777240" y="47275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accent1"/>
                </a:solidFill>
                <a:latin typeface="Calibri"/>
              </a:rPr>
              <a:t>Pour que ça marche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e Pour que ça marche"/>
          <p:cNvSpPr/>
          <p:nvPr/>
        </p:nvSpPr>
        <p:spPr>
          <a:xfrm>
            <a:off x="777240" y="5166360"/>
            <a:ext cx="4571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Même group_id, ni container_name ni ports fixes, au moins K partitions.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Légende"/>
          <p:cNvSpPr/>
          <p:nvPr/>
        </p:nvSpPr>
        <p:spPr>
          <a:xfrm>
            <a:off x="5943600" y="1371600"/>
            <a:ext cx="5668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python generateur/generateur.py 10 : plus de 1 100 demandes envoyées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Capture générateur cadre"/>
          <p:cNvSpPr/>
          <p:nvPr/>
        </p:nvSpPr>
        <p:spPr>
          <a:xfrm>
            <a:off x="5943600" y="1691640"/>
            <a:ext cx="5705640" cy="2448000"/>
          </a:xfrm>
          <a:prstGeom prst="roundRect">
            <a:avLst>
              <a:gd name="adj" fmla="val 2241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8" name="Capture générateur" descr="Capture générateur"/>
          <p:cNvPicPr/>
          <p:nvPr/>
        </p:nvPicPr>
        <p:blipFill>
          <a:blip r:embed="rId1"/>
          <a:stretch/>
        </p:blipFill>
        <p:spPr>
          <a:xfrm>
            <a:off x="6007680" y="1755720"/>
            <a:ext cx="5577480" cy="2320200"/>
          </a:xfrm>
          <a:prstGeom prst="rect">
            <a:avLst/>
          </a:prstGeom>
          <a:ln w="0">
            <a:noFill/>
          </a:ln>
        </p:spPr>
      </p:pic>
      <p:sp>
        <p:nvSpPr>
          <p:cNvPr id="269" name="Légende"/>
          <p:cNvSpPr/>
          <p:nvPr/>
        </p:nvSpPr>
        <p:spPr>
          <a:xfrm>
            <a:off x="5943600" y="4259160"/>
            <a:ext cx="5668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docker compose ps : trois instances prediction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Capture trois instances cadre"/>
          <p:cNvSpPr/>
          <p:nvPr/>
        </p:nvSpPr>
        <p:spPr>
          <a:xfrm>
            <a:off x="5943600" y="4579200"/>
            <a:ext cx="5705640" cy="1685160"/>
          </a:xfrm>
          <a:prstGeom prst="roundRect">
            <a:avLst>
              <a:gd name="adj" fmla="val 3255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1" name="Capture trois instances" descr="Capture trois instances"/>
          <p:cNvPicPr/>
          <p:nvPr/>
        </p:nvPicPr>
        <p:blipFill>
          <a:blip r:embed="rId2"/>
          <a:stretch/>
        </p:blipFill>
        <p:spPr>
          <a:xfrm>
            <a:off x="6007680" y="4642920"/>
            <a:ext cx="5577480" cy="1557000"/>
          </a:xfrm>
          <a:prstGeom prst="rect">
            <a:avLst/>
          </a:prstGeom>
          <a:ln w="0">
            <a:noFill/>
          </a:ln>
        </p:spPr>
      </p:pic>
      <p:sp>
        <p:nvSpPr>
          <p:cNvPr id="272" name="PlaceHolder 2"/>
          <p:cNvSpPr>
            <a:spLocks noGrp="1"/>
          </p:cNvSpPr>
          <p:nvPr>
            <p:ph type="sldNum" idx="16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5B7E22-0DAD-421F-A6F3-F30E11318100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Répartition de la charge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274" name="Chart 0"/>
          <p:cNvGraphicFramePr/>
          <p:nvPr/>
        </p:nvGraphicFramePr>
        <p:xfrm>
          <a:off x="548640" y="1417320"/>
          <a:ext cx="5211720" cy="384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75" name="Carte mesure"/>
          <p:cNvSpPr/>
          <p:nvPr/>
        </p:nvSpPr>
        <p:spPr>
          <a:xfrm>
            <a:off x="548640" y="5440680"/>
            <a:ext cx="5211720" cy="7311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e mesure"/>
          <p:cNvSpPr/>
          <p:nvPr/>
        </p:nvSpPr>
        <p:spPr>
          <a:xfrm>
            <a:off x="731520" y="5459040"/>
            <a:ext cx="48459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Mesure : docker compose logs prediction, filtré par instance avec Select-String et Measure-Object.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Légende"/>
          <p:cNvSpPr/>
          <p:nvPr/>
        </p:nvSpPr>
        <p:spPr>
          <a:xfrm>
            <a:off x="6126480" y="137160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docker compose logs -f prediction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Capture logs prediction cadre"/>
          <p:cNvSpPr/>
          <p:nvPr/>
        </p:nvSpPr>
        <p:spPr>
          <a:xfrm>
            <a:off x="6126480" y="1691640"/>
            <a:ext cx="5522760" cy="2631960"/>
          </a:xfrm>
          <a:prstGeom prst="roundRect">
            <a:avLst>
              <a:gd name="adj" fmla="val 2084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" name="Capture logs prediction" descr="Capture logs prediction"/>
          <p:cNvPicPr/>
          <p:nvPr/>
        </p:nvPicPr>
        <p:blipFill>
          <a:blip r:embed="rId2"/>
          <a:stretch/>
        </p:blipFill>
        <p:spPr>
          <a:xfrm>
            <a:off x="6190560" y="1755720"/>
            <a:ext cx="5394600" cy="2504160"/>
          </a:xfrm>
          <a:prstGeom prst="rect">
            <a:avLst/>
          </a:prstGeom>
          <a:ln w="0">
            <a:noFill/>
          </a:ln>
        </p:spPr>
      </p:pic>
      <p:sp>
        <p:nvSpPr>
          <p:cNvPr id="280" name="Texte partitions lues"/>
          <p:cNvSpPr/>
          <p:nvPr/>
        </p:nvSpPr>
        <p:spPr>
          <a:xfrm>
            <a:off x="6126480" y="4534200"/>
            <a:ext cx="5486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Chaque instance lit ses propres partitions : prediction-1 sur les partitions 2 et 3, prediction-3 sur les partitions 0 et 1.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e écart"/>
          <p:cNvSpPr/>
          <p:nvPr/>
        </p:nvSpPr>
        <p:spPr>
          <a:xfrm>
            <a:off x="6126480" y="5448600"/>
            <a:ext cx="5486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Écart de 592 à 765 messages : la répartition des clés sur les partitions est pseudo-aléatoire.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sldNum" idx="17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AD9131-D3D4-490B-B9F5-B2757214B3DF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Partitions affectées aux instances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4" name="Légende"/>
          <p:cNvSpPr/>
          <p:nvPr/>
        </p:nvSpPr>
        <p:spPr>
          <a:xfrm>
            <a:off x="548640" y="137160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kafka-consumer-groups.sh --describe --group prediction-group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Capture describe groupe cadre"/>
          <p:cNvSpPr/>
          <p:nvPr/>
        </p:nvSpPr>
        <p:spPr>
          <a:xfrm>
            <a:off x="548640" y="1691640"/>
            <a:ext cx="11100600" cy="2613240"/>
          </a:xfrm>
          <a:prstGeom prst="roundRect">
            <a:avLst>
              <a:gd name="adj" fmla="val 2099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" name="Capture describe groupe" descr="Capture describe groupe"/>
          <p:cNvPicPr/>
          <p:nvPr/>
        </p:nvPicPr>
        <p:blipFill>
          <a:blip r:embed="rId1"/>
          <a:stretch/>
        </p:blipFill>
        <p:spPr>
          <a:xfrm>
            <a:off x="612720" y="1755720"/>
            <a:ext cx="10972440" cy="2485440"/>
          </a:xfrm>
          <a:prstGeom prst="rect">
            <a:avLst/>
          </a:prstGeom>
          <a:ln w="0">
            <a:noFill/>
          </a:ln>
        </p:spPr>
      </p:pic>
      <p:sp>
        <p:nvSpPr>
          <p:cNvPr id="287" name="Carte chiffre 1"/>
          <p:cNvSpPr/>
          <p:nvPr/>
        </p:nvSpPr>
        <p:spPr>
          <a:xfrm>
            <a:off x="548640" y="4653000"/>
            <a:ext cx="3565800" cy="1188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Chiffre 1"/>
          <p:cNvSpPr/>
          <p:nvPr/>
        </p:nvSpPr>
        <p:spPr>
          <a:xfrm>
            <a:off x="777240" y="4744440"/>
            <a:ext cx="914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chemeClr val="accent1"/>
                </a:solidFill>
                <a:latin typeface="Calibri"/>
              </a:rPr>
              <a:t>3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Libellé chiffre 1"/>
          <p:cNvSpPr/>
          <p:nvPr/>
        </p:nvSpPr>
        <p:spPr>
          <a:xfrm>
            <a:off x="1737360" y="474444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consommateurs actifs (CONSUMER-ID distincts)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Carte chiffre 2"/>
          <p:cNvSpPr/>
          <p:nvPr/>
        </p:nvSpPr>
        <p:spPr>
          <a:xfrm>
            <a:off x="4297680" y="4653000"/>
            <a:ext cx="3565800" cy="1188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hiffre 2"/>
          <p:cNvSpPr/>
          <p:nvPr/>
        </p:nvSpPr>
        <p:spPr>
          <a:xfrm>
            <a:off x="4526280" y="4744440"/>
            <a:ext cx="914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chemeClr val="accent1"/>
                </a:solidFill>
                <a:latin typeface="Calibri"/>
              </a:rPr>
              <a:t>2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Libellé chiffre 2"/>
          <p:cNvSpPr/>
          <p:nvPr/>
        </p:nvSpPr>
        <p:spPr>
          <a:xfrm>
            <a:off x="5486400" y="474444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partitions par instance : 0-1, 2-3 et 4-5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Carte chiffre 3"/>
          <p:cNvSpPr/>
          <p:nvPr/>
        </p:nvSpPr>
        <p:spPr>
          <a:xfrm>
            <a:off x="8046720" y="4653000"/>
            <a:ext cx="3565800" cy="1188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Chiffre 3"/>
          <p:cNvSpPr/>
          <p:nvPr/>
        </p:nvSpPr>
        <p:spPr>
          <a:xfrm>
            <a:off x="8275320" y="4744440"/>
            <a:ext cx="914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chemeClr val="accent2"/>
                </a:solidFill>
                <a:latin typeface="Calibri"/>
              </a:rPr>
              <a:t>0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Libellé chiffre 3"/>
          <p:cNvSpPr/>
          <p:nvPr/>
        </p:nvSpPr>
        <p:spPr>
          <a:xfrm>
            <a:off x="9235440" y="474444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LAG : aucun message en attente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sldNum" idx="18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D12F81-4DBC-4935-A0E3-24B5B68B1EF1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Résilience : le travail continue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8" name="Carte test 1"/>
          <p:cNvSpPr/>
          <p:nvPr/>
        </p:nvSpPr>
        <p:spPr>
          <a:xfrm>
            <a:off x="548640" y="1417320"/>
            <a:ext cx="4114440" cy="1782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Badge 1"/>
          <p:cNvSpPr/>
          <p:nvPr/>
        </p:nvSpPr>
        <p:spPr>
          <a:xfrm>
            <a:off x="777240" y="1600200"/>
            <a:ext cx="411120" cy="4111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itre test 1"/>
          <p:cNvSpPr/>
          <p:nvPr/>
        </p:nvSpPr>
        <p:spPr>
          <a:xfrm>
            <a:off x="1371600" y="160020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Arrêt propre : docker stop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e test 1"/>
          <p:cNvSpPr/>
          <p:nvPr/>
        </p:nvSpPr>
        <p:spPr>
          <a:xfrm>
            <a:off x="777240" y="214884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SIGTERM intercepté : le consommateur prévient le groupe, rebalance immédiat.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Résultat test 1"/>
          <p:cNvSpPr/>
          <p:nvPr/>
        </p:nvSpPr>
        <p:spPr>
          <a:xfrm>
            <a:off x="777240" y="27158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Résultat : 2 consommateurs, 3 partitions chacun, LAG 0.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Capture test 1 cadre"/>
          <p:cNvSpPr/>
          <p:nvPr/>
        </p:nvSpPr>
        <p:spPr>
          <a:xfrm>
            <a:off x="4873680" y="1463040"/>
            <a:ext cx="6802920" cy="1665360"/>
          </a:xfrm>
          <a:prstGeom prst="roundRect">
            <a:avLst>
              <a:gd name="adj" fmla="val 3293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4" name="Capture test 1" descr="Capture test 1"/>
          <p:cNvPicPr/>
          <p:nvPr/>
        </p:nvPicPr>
        <p:blipFill>
          <a:blip r:embed="rId1"/>
          <a:stretch/>
        </p:blipFill>
        <p:spPr>
          <a:xfrm>
            <a:off x="4937760" y="1527120"/>
            <a:ext cx="6674760" cy="1537560"/>
          </a:xfrm>
          <a:prstGeom prst="rect">
            <a:avLst/>
          </a:prstGeom>
          <a:ln w="0">
            <a:noFill/>
          </a:ln>
        </p:spPr>
      </p:pic>
      <p:sp>
        <p:nvSpPr>
          <p:cNvPr id="305" name="Carte test 2"/>
          <p:cNvSpPr/>
          <p:nvPr/>
        </p:nvSpPr>
        <p:spPr>
          <a:xfrm>
            <a:off x="548640" y="3429000"/>
            <a:ext cx="4114440" cy="1782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Badge 2"/>
          <p:cNvSpPr/>
          <p:nvPr/>
        </p:nvSpPr>
        <p:spPr>
          <a:xfrm>
            <a:off x="777240" y="3611880"/>
            <a:ext cx="411120" cy="4111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itre test 2"/>
          <p:cNvSpPr/>
          <p:nvPr/>
        </p:nvSpPr>
        <p:spPr>
          <a:xfrm>
            <a:off x="1371600" y="361188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Panne brutale : docker kill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e test 2"/>
          <p:cNvSpPr/>
          <p:nvPr/>
        </p:nvSpPr>
        <p:spPr>
          <a:xfrm>
            <a:off x="777240" y="416052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Aucun adieu : le broker attend le session_timeout avant de réaffecter.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ésultat test 2"/>
          <p:cNvSpPr/>
          <p:nvPr/>
        </p:nvSpPr>
        <p:spPr>
          <a:xfrm>
            <a:off x="777240" y="47275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Calibri"/>
              </a:rPr>
              <a:t>Résultat : 1 consommateur, 6 partitions, LAG 0.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Capture test 2 cadre"/>
          <p:cNvSpPr/>
          <p:nvPr/>
        </p:nvSpPr>
        <p:spPr>
          <a:xfrm>
            <a:off x="4873680" y="3474720"/>
            <a:ext cx="6802920" cy="15908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10202b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1" name="Capture test 2" descr="Capture test 2"/>
          <p:cNvPicPr/>
          <p:nvPr/>
        </p:nvPicPr>
        <p:blipFill>
          <a:blip r:embed="rId2"/>
          <a:stretch/>
        </p:blipFill>
        <p:spPr>
          <a:xfrm>
            <a:off x="4937760" y="3538800"/>
            <a:ext cx="6674760" cy="1462680"/>
          </a:xfrm>
          <a:prstGeom prst="rect">
            <a:avLst/>
          </a:prstGeom>
          <a:ln w="0">
            <a:noFill/>
          </a:ln>
        </p:spPr>
      </p:pic>
      <p:sp>
        <p:nvSpPr>
          <p:cNvPr id="312" name="Carte conclusion"/>
          <p:cNvSpPr/>
          <p:nvPr/>
        </p:nvSpPr>
        <p:spPr>
          <a:xfrm>
            <a:off x="548640" y="5440680"/>
            <a:ext cx="11063880" cy="7311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e conclusion"/>
          <p:cNvSpPr/>
          <p:nvPr/>
        </p:nvSpPr>
        <p:spPr>
          <a:xfrm>
            <a:off x="822960" y="5459040"/>
            <a:ext cx="1051524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accent1"/>
                </a:solidFill>
                <a:latin typeface="Calibri"/>
              </a:rPr>
              <a:t>Tant qu'une instance vit, le service répond. Les demandes restent dans Kafka : aucune perte.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sldNum" idx="19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5E4B2E-0C88-4947-980C-F03AED866EEB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Pannes et garanties de livraison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316" name="Tableau des pannes"/>
          <p:cNvGraphicFramePr/>
          <p:nvPr/>
        </p:nvGraphicFramePr>
        <p:xfrm>
          <a:off x="548640" y="1417320"/>
          <a:ext cx="11063880" cy="283464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14800"/>
              </a:tblGrid>
              <a:tr h="502920"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Test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Comportement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Explication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77240"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accent1"/>
                          </a:solidFill>
                          <a:latin typeface="Calibri"/>
                        </a:rPr>
                        <a:t>1. Arrêt propre d'une instance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Observé : 6 partitions sur 2 instances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docker stop envoie SIGTERM : LeaveGroup, rebalance immédiat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777240"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accent1"/>
                          </a:solidFill>
                          <a:latin typeface="Calibri"/>
                        </a:rPr>
                        <a:t>2. Panne brutale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Observé : 6 partitions sur 1 instance, LAG 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Pas d'adieu : détection après le session_timeout (environ 10 s)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777240"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accent1"/>
                          </a:solidFill>
                          <a:latin typeface="Calibri"/>
                        </a:rPr>
                        <a:t>3. Arrêt de toutes les instances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Attendu : le LAG grossit puis retombe à 0 au redémarrage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37160" rIns="13716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Les demandes restent dans Kafka, l'offset du groupe est conservé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37160" marR="13716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317" name="Carte au moins une fois"/>
          <p:cNvSpPr/>
          <p:nvPr/>
        </p:nvSpPr>
        <p:spPr>
          <a:xfrm>
            <a:off x="548640" y="4526280"/>
            <a:ext cx="5440320" cy="1645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itre au moins une fois"/>
          <p:cNvSpPr/>
          <p:nvPr/>
        </p:nvSpPr>
        <p:spPr>
          <a:xfrm>
            <a:off x="777240" y="461772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accent1"/>
                </a:solidFill>
                <a:latin typeface="Calibri"/>
              </a:rPr>
              <a:t>Au moins une fois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e au moins une fois"/>
          <p:cNvSpPr/>
          <p:nvPr/>
        </p:nvSpPr>
        <p:spPr>
          <a:xfrm>
            <a:off x="777240" y="5029200"/>
            <a:ext cx="5028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Commit manuel après traitement : en cas de crash, un doublon est possible, jamais une perte.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Carte idempotence"/>
          <p:cNvSpPr/>
          <p:nvPr/>
        </p:nvSpPr>
        <p:spPr>
          <a:xfrm>
            <a:off x="6172200" y="4526280"/>
            <a:ext cx="5440320" cy="1645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itre idempotence"/>
          <p:cNvSpPr/>
          <p:nvPr/>
        </p:nvSpPr>
        <p:spPr>
          <a:xfrm>
            <a:off x="6400800" y="461772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accent1"/>
                </a:solidFill>
                <a:latin typeface="Calibri"/>
              </a:rPr>
              <a:t>Absorber les doublons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e idempotence"/>
          <p:cNvSpPr/>
          <p:nvPr/>
        </p:nvSpPr>
        <p:spPr>
          <a:xfrm>
            <a:off x="6400800" y="5029200"/>
            <a:ext cx="5028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commandes peut dédupliquer les résultats ou les rendre idempotents : traiter deux fois donne le même état.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sldNum" idx="20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B80448-26F1-4D0E-A210-5D3CCB776484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Gérer la montée en charge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5" name="Carte Ajouter des instances"/>
          <p:cNvSpPr/>
          <p:nvPr/>
        </p:nvSpPr>
        <p:spPr>
          <a:xfrm>
            <a:off x="548640" y="1417320"/>
            <a:ext cx="544032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astille icône 1"/>
          <p:cNvSpPr/>
          <p:nvPr/>
        </p:nvSpPr>
        <p:spPr>
          <a:xfrm>
            <a:off x="777240" y="1783080"/>
            <a:ext cx="731160" cy="7311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7" name="Icône Ajouter des instances" descr="Ajouter des instances"/>
          <p:cNvPicPr/>
          <p:nvPr/>
        </p:nvPicPr>
        <p:blipFill>
          <a:blip r:embed="rId1"/>
          <a:stretch/>
        </p:blipFill>
        <p:spPr>
          <a:xfrm>
            <a:off x="960120" y="19659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28" name="Titre Ajouter des instances"/>
          <p:cNvSpPr/>
          <p:nvPr/>
        </p:nvSpPr>
        <p:spPr>
          <a:xfrm>
            <a:off x="1737360" y="16002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Ajouter des instances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e Ajouter des instances"/>
          <p:cNvSpPr/>
          <p:nvPr/>
        </p:nvSpPr>
        <p:spPr>
          <a:xfrm>
            <a:off x="1737360" y="203904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K plus grand dans le même groupe : scalabilité horizontale.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Carte Prévoir les partitions"/>
          <p:cNvSpPr/>
          <p:nvPr/>
        </p:nvSpPr>
        <p:spPr>
          <a:xfrm>
            <a:off x="6172200" y="1417320"/>
            <a:ext cx="544032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astille icône 2"/>
          <p:cNvSpPr/>
          <p:nvPr/>
        </p:nvSpPr>
        <p:spPr>
          <a:xfrm>
            <a:off x="6400800" y="1783080"/>
            <a:ext cx="731160" cy="7311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2" name="Icône Prévoir les partitions" descr="Prévoir les partitions"/>
          <p:cNvPicPr/>
          <p:nvPr/>
        </p:nvPicPr>
        <p:blipFill>
          <a:blip r:embed="rId2"/>
          <a:stretch/>
        </p:blipFill>
        <p:spPr>
          <a:xfrm>
            <a:off x="6583680" y="19659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33" name="Titre Prévoir les partitions"/>
          <p:cNvSpPr/>
          <p:nvPr/>
        </p:nvSpPr>
        <p:spPr>
          <a:xfrm>
            <a:off x="7360920" y="16002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Prévoir les partitions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e Prévoir les partitions"/>
          <p:cNvSpPr/>
          <p:nvPr/>
        </p:nvSpPr>
        <p:spPr>
          <a:xfrm>
            <a:off x="7360920" y="203904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Parallélisme maximal = nombre de partitions (ici 6).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Carte Surveiller le LAG"/>
          <p:cNvSpPr/>
          <p:nvPr/>
        </p:nvSpPr>
        <p:spPr>
          <a:xfrm>
            <a:off x="548640" y="3017520"/>
            <a:ext cx="544032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astille icône 3"/>
          <p:cNvSpPr/>
          <p:nvPr/>
        </p:nvSpPr>
        <p:spPr>
          <a:xfrm>
            <a:off x="777240" y="3383280"/>
            <a:ext cx="731160" cy="7311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7" name="Icône Surveiller le LAG" descr="Surveiller le LAG"/>
          <p:cNvPicPr/>
          <p:nvPr/>
        </p:nvPicPr>
        <p:blipFill>
          <a:blip r:embed="rId3"/>
          <a:stretch/>
        </p:blipFill>
        <p:spPr>
          <a:xfrm>
            <a:off x="960120" y="35661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38" name="Titre Surveiller le LAG"/>
          <p:cNvSpPr/>
          <p:nvPr/>
        </p:nvSpPr>
        <p:spPr>
          <a:xfrm>
            <a:off x="1737360" y="32004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Surveiller le LAG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e Surveiller le LAG"/>
          <p:cNvSpPr/>
          <p:nvPr/>
        </p:nvSpPr>
        <p:spPr>
          <a:xfrm>
            <a:off x="1737360" y="363924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Un lag qui croît signale des consommateurs trop lents. Autoscaling possible (KEDA).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Carte Traiter par lots"/>
          <p:cNvSpPr/>
          <p:nvPr/>
        </p:nvSpPr>
        <p:spPr>
          <a:xfrm>
            <a:off x="6172200" y="3017520"/>
            <a:ext cx="544032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astille icône 4"/>
          <p:cNvSpPr/>
          <p:nvPr/>
        </p:nvSpPr>
        <p:spPr>
          <a:xfrm>
            <a:off x="6400800" y="3383280"/>
            <a:ext cx="731160" cy="7311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2" name="Icône Traiter par lots" descr="Traiter par lots"/>
          <p:cNvPicPr/>
          <p:nvPr/>
        </p:nvPicPr>
        <p:blipFill>
          <a:blip r:embed="rId4"/>
          <a:stretch/>
        </p:blipFill>
        <p:spPr>
          <a:xfrm>
            <a:off x="6583680" y="35661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43" name="Titre Traiter par lots"/>
          <p:cNvSpPr/>
          <p:nvPr/>
        </p:nvSpPr>
        <p:spPr>
          <a:xfrm>
            <a:off x="7360920" y="32004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Traiter par lots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e Traiter par lots"/>
          <p:cNvSpPr/>
          <p:nvPr/>
        </p:nvSpPr>
        <p:spPr>
          <a:xfrm>
            <a:off x="7360920" y="363924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poll(max_records), un seul predict sur le lot, un seul commit.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Carte Isoler et limiter"/>
          <p:cNvSpPr/>
          <p:nvPr/>
        </p:nvSpPr>
        <p:spPr>
          <a:xfrm>
            <a:off x="548640" y="4617720"/>
            <a:ext cx="544032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astille icône 5"/>
          <p:cNvSpPr/>
          <p:nvPr/>
        </p:nvSpPr>
        <p:spPr>
          <a:xfrm>
            <a:off x="777240" y="4983480"/>
            <a:ext cx="731160" cy="7311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7" name="Icône Isoler et limiter" descr="Isoler et limiter"/>
          <p:cNvPicPr/>
          <p:nvPr/>
        </p:nvPicPr>
        <p:blipFill>
          <a:blip r:embed="rId5"/>
          <a:stretch/>
        </p:blipFill>
        <p:spPr>
          <a:xfrm>
            <a:off x="960120" y="51663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48" name="Titre Isoler et limiter"/>
          <p:cNvSpPr/>
          <p:nvPr/>
        </p:nvSpPr>
        <p:spPr>
          <a:xfrm>
            <a:off x="1737360" y="48006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Isoler et limiter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e Isoler et limiter"/>
          <p:cNvSpPr/>
          <p:nvPr/>
        </p:nvSpPr>
        <p:spPr>
          <a:xfrm>
            <a:off x="1737360" y="523944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Topic dead letter pour les messages invalides, backpressure à l'entrée.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Carte Sécuriser Kafka"/>
          <p:cNvSpPr/>
          <p:nvPr/>
        </p:nvSpPr>
        <p:spPr>
          <a:xfrm>
            <a:off x="6172200" y="4617720"/>
            <a:ext cx="544032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astille icône 6"/>
          <p:cNvSpPr/>
          <p:nvPr/>
        </p:nvSpPr>
        <p:spPr>
          <a:xfrm>
            <a:off x="6400800" y="4983480"/>
            <a:ext cx="731160" cy="7311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2" name="Icône Sécuriser Kafka" descr="Sécuriser Kafka"/>
          <p:cNvPicPr/>
          <p:nvPr/>
        </p:nvPicPr>
        <p:blipFill>
          <a:blip r:embed="rId6"/>
          <a:stretch/>
        </p:blipFill>
        <p:spPr>
          <a:xfrm>
            <a:off x="6583680" y="51663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53" name="Titre Sécuriser Kafka"/>
          <p:cNvSpPr/>
          <p:nvPr/>
        </p:nvSpPr>
        <p:spPr>
          <a:xfrm>
            <a:off x="7360920" y="48006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Sécuriser Kafka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e Sécuriser Kafka"/>
          <p:cNvSpPr/>
          <p:nvPr/>
        </p:nvSpPr>
        <p:spPr>
          <a:xfrm>
            <a:off x="7360920" y="523944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Un seul broker est un point de défaillance : 3 brokers, réplication 3.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sldNum" idx="21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A2CA39-5201-4F4C-9660-6A0E7D335939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Cambria"/>
              </a:rPr>
              <a:t>Ce que montrent les trois TP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357" name="Tableau comparatif"/>
          <p:cNvGraphicFramePr/>
          <p:nvPr/>
        </p:nvGraphicFramePr>
        <p:xfrm>
          <a:off x="548640" y="1417320"/>
          <a:ext cx="11063880" cy="361188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502920"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Critère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TP1 · REST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TP2 · Kafka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TP3 · Kafka + ML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accent1"/>
                          </a:solidFill>
                          <a:latin typeface="Calibri"/>
                        </a:rPr>
                        <a:t>Couplage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Fort : dépend de clients à l'instant de l'appel?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Faible : les services s'ignorent?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Faible : la prédiction est un service indépendant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685800"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accent1"/>
                          </a:solidFill>
                          <a:latin typeface="Calibri"/>
                        </a:rPr>
                        <a:t>Panne d'un service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Échec immédiat (503)?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Messages conservés, rattrapage au retour?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Reprise par les autres instances, sans perte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48640"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accent1"/>
                          </a:solidFill>
                          <a:latin typeface="Calibri"/>
                        </a:rPr>
                        <a:t>Ajouter un destinataire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Modifier l'appelant?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S'abonner au topic?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S'abonner au topic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685800"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accent1"/>
                          </a:solidFill>
                          <a:latin typeface="Calibri"/>
                        </a:rPr>
                        <a:t>Passage à l'échelle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Répliquer et équilibrer les requêtes?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Groupes de consommateurs et partitions?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K instances, K ≤ nombre de partitions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02920"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accent1"/>
                          </a:solidFill>
                          <a:latin typeface="Calibri"/>
                        </a:rPr>
                        <a:t>Cohérence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Immédiate?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À terme?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À terme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358" name="Carte message clé"/>
          <p:cNvSpPr/>
          <p:nvPr/>
        </p:nvSpPr>
        <p:spPr>
          <a:xfrm>
            <a:off x="548640" y="5212080"/>
            <a:ext cx="11063880" cy="95976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Message clé"/>
          <p:cNvSpPr/>
          <p:nvPr/>
        </p:nvSpPr>
        <p:spPr>
          <a:xfrm>
            <a:off x="822960" y="525780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Synchrone ou asynchrone : une question de besoin, pas de technologie. REST répond tout de suite, Kafka découple dans le temps et diffuse à plusieurs services.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sldNum" idx="22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637604-1C4F-4E03-93BE-7D9F897D3A95}" type="slidenum">
              <a:rPr b="0" lang="en-US" sz="1000" spc="-1" strike="noStrike">
                <a:solidFill>
                  <a:schemeClr val="accent4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lt1"/>
                </a:solidFill>
                <a:latin typeface="Cambria"/>
              </a:rPr>
              <a:t>Limites et pistes d'amélioration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2" name="Puce 1"/>
          <p:cNvSpPr/>
          <p:nvPr/>
        </p:nvSpPr>
        <p:spPr>
          <a:xfrm>
            <a:off x="548640" y="1536120"/>
            <a:ext cx="255600" cy="255600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itre État en mémoire"/>
          <p:cNvSpPr/>
          <p:nvPr/>
        </p:nvSpPr>
        <p:spPr>
          <a:xfrm>
            <a:off x="1005840" y="146304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</a:rPr>
              <a:t>État en mémoire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e État en mémoire"/>
          <p:cNvSpPr/>
          <p:nvPr/>
        </p:nvSpPr>
        <p:spPr>
          <a:xfrm>
            <a:off x="1005840" y="192024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2"/>
                </a:solidFill>
                <a:latin typeface="Calibri"/>
              </a:rPr>
              <a:t>Persister les compteurs dans une base de données.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uce 2"/>
          <p:cNvSpPr/>
          <p:nvPr/>
        </p:nvSpPr>
        <p:spPr>
          <a:xfrm>
            <a:off x="6172200" y="1536120"/>
            <a:ext cx="255600" cy="255600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itre Idempotence"/>
          <p:cNvSpPr/>
          <p:nvPr/>
        </p:nvSpPr>
        <p:spPr>
          <a:xfrm>
            <a:off x="6629400" y="146304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</a:rPr>
              <a:t>Idempotence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e Idempotence"/>
          <p:cNvSpPr/>
          <p:nvPr/>
        </p:nvSpPr>
        <p:spPr>
          <a:xfrm>
            <a:off x="6629400" y="192024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2"/>
                </a:solidFill>
                <a:latin typeface="Calibri"/>
              </a:rPr>
              <a:t>Dédupliquer, puisque la garantie est « au moins une fois ».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uce 3"/>
          <p:cNvSpPr/>
          <p:nvPr/>
        </p:nvSpPr>
        <p:spPr>
          <a:xfrm>
            <a:off x="548640" y="2862000"/>
            <a:ext cx="255600" cy="255600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itre Contrat de messages"/>
          <p:cNvSpPr/>
          <p:nvPr/>
        </p:nvSpPr>
        <p:spPr>
          <a:xfrm>
            <a:off x="1005840" y="278892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</a:rPr>
              <a:t>Contrat de messages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e Contrat de messages"/>
          <p:cNvSpPr/>
          <p:nvPr/>
        </p:nvSpPr>
        <p:spPr>
          <a:xfrm>
            <a:off x="1005840" y="324612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2"/>
                </a:solidFill>
                <a:latin typeface="Calibri"/>
              </a:rPr>
              <a:t>Valider les événements avec un schéma (Avro, JSON Schema).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uce 4"/>
          <p:cNvSpPr/>
          <p:nvPr/>
        </p:nvSpPr>
        <p:spPr>
          <a:xfrm>
            <a:off x="6172200" y="2862000"/>
            <a:ext cx="255600" cy="255600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itre Haute disponibilité"/>
          <p:cNvSpPr/>
          <p:nvPr/>
        </p:nvSpPr>
        <p:spPr>
          <a:xfrm>
            <a:off x="6629400" y="278892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</a:rPr>
              <a:t>Haute disponibilité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e Haute disponibilité"/>
          <p:cNvSpPr/>
          <p:nvPr/>
        </p:nvSpPr>
        <p:spPr>
          <a:xfrm>
            <a:off x="6629400" y="324612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2"/>
                </a:solidFill>
                <a:latin typeface="Calibri"/>
              </a:rPr>
              <a:t>Plusieurs brokers Kafka et réplication 3.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uce 5"/>
          <p:cNvSpPr/>
          <p:nvPr/>
        </p:nvSpPr>
        <p:spPr>
          <a:xfrm>
            <a:off x="548640" y="4187880"/>
            <a:ext cx="255600" cy="255600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itre Observabilité"/>
          <p:cNvSpPr/>
          <p:nvPr/>
        </p:nvSpPr>
        <p:spPr>
          <a:xfrm>
            <a:off x="1005840" y="411480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</a:rPr>
              <a:t>Observabilité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e Observabilité"/>
          <p:cNvSpPr/>
          <p:nvPr/>
        </p:nvSpPr>
        <p:spPr>
          <a:xfrm>
            <a:off x="1005840" y="457200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2"/>
                </a:solidFill>
                <a:latin typeface="Calibri"/>
              </a:rPr>
              <a:t>Prometheus, Grafana, Kafka UI, journaux centralisés.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uce 6"/>
          <p:cNvSpPr/>
          <p:nvPr/>
        </p:nvSpPr>
        <p:spPr>
          <a:xfrm>
            <a:off x="6172200" y="4187880"/>
            <a:ext cx="255600" cy="255600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itre Qualité du modèle"/>
          <p:cNvSpPr/>
          <p:nvPr/>
        </p:nvSpPr>
        <p:spPr>
          <a:xfrm>
            <a:off x="6629400" y="411480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</a:rPr>
              <a:t>Qualité du modèle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e Qualité du modèle"/>
          <p:cNvSpPr/>
          <p:nvPr/>
        </p:nvSpPr>
        <p:spPr>
          <a:xfrm>
            <a:off x="6629400" y="457200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2"/>
                </a:solidFill>
                <a:latin typeface="Calibri"/>
              </a:rPr>
              <a:t>Données réelles, validation croisée, suivi de la dérive.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Remerciements"/>
          <p:cNvSpPr/>
          <p:nvPr/>
        </p:nvSpPr>
        <p:spPr>
          <a:xfrm>
            <a:off x="548640" y="557784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accent3"/>
                </a:solidFill>
                <a:latin typeface="Calibri"/>
              </a:rPr>
              <a:t>Merci de votre attention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Message 1"/>
          <p:cNvSpPr/>
          <p:nvPr/>
        </p:nvSpPr>
        <p:spPr>
          <a:xfrm>
            <a:off x="822960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Message 2"/>
          <p:cNvSpPr/>
          <p:nvPr/>
        </p:nvSpPr>
        <p:spPr>
          <a:xfrm>
            <a:off x="859536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Message 3"/>
          <p:cNvSpPr/>
          <p:nvPr/>
        </p:nvSpPr>
        <p:spPr>
          <a:xfrm>
            <a:off x="896112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Message 4"/>
          <p:cNvSpPr/>
          <p:nvPr/>
        </p:nvSpPr>
        <p:spPr>
          <a:xfrm>
            <a:off x="932688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Message 5"/>
          <p:cNvSpPr/>
          <p:nvPr/>
        </p:nvSpPr>
        <p:spPr>
          <a:xfrm>
            <a:off x="969264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Message 6"/>
          <p:cNvSpPr/>
          <p:nvPr/>
        </p:nvSpPr>
        <p:spPr>
          <a:xfrm>
            <a:off x="1005840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Message 7"/>
          <p:cNvSpPr/>
          <p:nvPr/>
        </p:nvSpPr>
        <p:spPr>
          <a:xfrm>
            <a:off x="1042416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Message 8"/>
          <p:cNvSpPr/>
          <p:nvPr/>
        </p:nvSpPr>
        <p:spPr>
          <a:xfrm>
            <a:off x="1078992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Message 9"/>
          <p:cNvSpPr/>
          <p:nvPr/>
        </p:nvSpPr>
        <p:spPr>
          <a:xfrm>
            <a:off x="1115568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P Micro-services">
  <a:themeElements>
    <a:clrScheme name="TP Micro-services">
      <a:dk1>
        <a:srgbClr val="10202b"/>
      </a:dk1>
      <a:lt1>
        <a:srgbClr val="ffffff"/>
      </a:lt1>
      <a:dk2>
        <a:srgbClr val="0f4c5c"/>
      </a:dk2>
      <a:lt2>
        <a:srgbClr val="eaf0f2"/>
      </a:lt2>
      <a:accent1>
        <a:srgbClr val="0f4c5c"/>
      </a:accent1>
      <a:accent2>
        <a:srgbClr val="e36414"/>
      </a:accent2>
      <a:accent3>
        <a:srgbClr val="fb8b24"/>
      </a:accent3>
      <a:accent4>
        <a:srgbClr val="4f7685"/>
      </a:accent4>
      <a:accent5>
        <a:srgbClr val="9a031e"/>
      </a:accent5>
      <a:accent6>
        <a:srgbClr val="2d6a4f"/>
      </a:accent6>
      <a:hlink>
        <a:srgbClr val="0f4c5c"/>
      </a:hlink>
      <a:folHlink>
        <a:srgbClr val="4f7685"/>
      </a:folHlink>
    </a:clrScheme>
    <a:fontScheme name="TP Micro-services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P Micro-services">
  <a:themeElements>
    <a:clrScheme name="TP Micro-services">
      <a:dk1>
        <a:srgbClr val="10202b"/>
      </a:dk1>
      <a:lt1>
        <a:srgbClr val="ffffff"/>
      </a:lt1>
      <a:dk2>
        <a:srgbClr val="0f4c5c"/>
      </a:dk2>
      <a:lt2>
        <a:srgbClr val="eaf0f2"/>
      </a:lt2>
      <a:accent1>
        <a:srgbClr val="0f4c5c"/>
      </a:accent1>
      <a:accent2>
        <a:srgbClr val="e36414"/>
      </a:accent2>
      <a:accent3>
        <a:srgbClr val="fb8b24"/>
      </a:accent3>
      <a:accent4>
        <a:srgbClr val="4f7685"/>
      </a:accent4>
      <a:accent5>
        <a:srgbClr val="9a031e"/>
      </a:accent5>
      <a:accent6>
        <a:srgbClr val="2d6a4f"/>
      </a:accent6>
      <a:hlink>
        <a:srgbClr val="0f4c5c"/>
      </a:hlink>
      <a:folHlink>
        <a:srgbClr val="4f7685"/>
      </a:folHlink>
    </a:clrScheme>
    <a:fontScheme name="TP Micro-services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P Micro-services">
  <a:themeElements>
    <a:clrScheme name="TP Micro-services">
      <a:dk1>
        <a:srgbClr val="10202b"/>
      </a:dk1>
      <a:lt1>
        <a:srgbClr val="ffffff"/>
      </a:lt1>
      <a:dk2>
        <a:srgbClr val="0f4c5c"/>
      </a:dk2>
      <a:lt2>
        <a:srgbClr val="eaf0f2"/>
      </a:lt2>
      <a:accent1>
        <a:srgbClr val="0f4c5c"/>
      </a:accent1>
      <a:accent2>
        <a:srgbClr val="e36414"/>
      </a:accent2>
      <a:accent3>
        <a:srgbClr val="fb8b24"/>
      </a:accent3>
      <a:accent4>
        <a:srgbClr val="4f7685"/>
      </a:accent4>
      <a:accent5>
        <a:srgbClr val="9a031e"/>
      </a:accent5>
      <a:accent6>
        <a:srgbClr val="2d6a4f"/>
      </a:accent6>
      <a:hlink>
        <a:srgbClr val="0f4c5c"/>
      </a:hlink>
      <a:folHlink>
        <a:srgbClr val="4f7685"/>
      </a:folHlink>
    </a:clrScheme>
    <a:fontScheme name="TP Micro-services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P Micro-services">
  <a:themeElements>
    <a:clrScheme name="TP Micro-services">
      <a:dk1>
        <a:srgbClr val="10202b"/>
      </a:dk1>
      <a:lt1>
        <a:srgbClr val="ffffff"/>
      </a:lt1>
      <a:dk2>
        <a:srgbClr val="0f4c5c"/>
      </a:dk2>
      <a:lt2>
        <a:srgbClr val="eaf0f2"/>
      </a:lt2>
      <a:accent1>
        <a:srgbClr val="0f4c5c"/>
      </a:accent1>
      <a:accent2>
        <a:srgbClr val="e36414"/>
      </a:accent2>
      <a:accent3>
        <a:srgbClr val="fb8b24"/>
      </a:accent3>
      <a:accent4>
        <a:srgbClr val="4f7685"/>
      </a:accent4>
      <a:accent5>
        <a:srgbClr val="9a031e"/>
      </a:accent5>
      <a:accent6>
        <a:srgbClr val="2d6a4f"/>
      </a:accent6>
      <a:hlink>
        <a:srgbClr val="0f4c5c"/>
      </a:hlink>
      <a:folHlink>
        <a:srgbClr val="4f7685"/>
      </a:folHlink>
    </a:clrScheme>
    <a:fontScheme name="TP Micro-services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P Micro-services">
  <a:themeElements>
    <a:clrScheme name="TP Micro-services">
      <a:dk1>
        <a:srgbClr val="10202b"/>
      </a:dk1>
      <a:lt1>
        <a:srgbClr val="ffffff"/>
      </a:lt1>
      <a:dk2>
        <a:srgbClr val="0f4c5c"/>
      </a:dk2>
      <a:lt2>
        <a:srgbClr val="eaf0f2"/>
      </a:lt2>
      <a:accent1>
        <a:srgbClr val="0f4c5c"/>
      </a:accent1>
      <a:accent2>
        <a:srgbClr val="e36414"/>
      </a:accent2>
      <a:accent3>
        <a:srgbClr val="fb8b24"/>
      </a:accent3>
      <a:accent4>
        <a:srgbClr val="4f7685"/>
      </a:accent4>
      <a:accent5>
        <a:srgbClr val="9a031e"/>
      </a:accent5>
      <a:accent6>
        <a:srgbClr val="2d6a4f"/>
      </a:accent6>
      <a:hlink>
        <a:srgbClr val="0f4c5c"/>
      </a:hlink>
      <a:folHlink>
        <a:srgbClr val="4f7685"/>
      </a:folHlink>
    </a:clrScheme>
    <a:fontScheme name="TP Micro-services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2026-10-11T15:36:07Z</dcterms:created>
  <dc:creator>Lau</dc:creator>
  <dc:description/>
  <dc:language>en-US</dc:language>
  <cp:lastModifiedBy/>
  <dcterms:modified xsi:type="dcterms:W3CDTF">2026-10-11T19:01:39Z</dcterms:modified>
  <cp:revision>2</cp:revision>
  <dc:subject>PptxGenJS Presentation</dc:subject>
  <dc:title>Micro-services : du REST à Kafka, puis au Machine Learning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On-screen Show (16:9)</vt:lpwstr>
  </property>
  <property fmtid="{D5CDD505-2E9C-101B-9397-08002B2CF9AE}" pid="4" name="Slides">
    <vt:i4>27</vt:i4>
  </property>
</Properties>
</file>