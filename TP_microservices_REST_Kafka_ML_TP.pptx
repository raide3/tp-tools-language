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</p:sldMasterIdLst>
  <p:notesMasterIdLst>
    <p:notesMasterId r:id="rId45"/>
  </p:notesMasterIdLst>
  <p:sldIdLst>
    <p:sldId id="256" r:id="rId6"/>
    <p:sldId id="257" r:id="rId7"/>
    <p:sldId id="258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60" r:id="rId19"/>
    <p:sldId id="261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</p:sldIdLst>
  <p:sldSz cx="12192000" cy="6858000"/>
  <p:notesSz cx="6858000" cy="12192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4D30F-AE12-4D67-BB45-98A4E101B2A1}" v="22" dt="2026-10-12T08:05:46.2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CHON Aude" userId="6071ddd4-0803-4336-b98b-c9726a4a064c" providerId="ADAL" clId="{7D1968D9-1363-4912-95D2-7B801B3CC5E4}"/>
    <pc:docChg chg="undo custSel addSld delSld modSld">
      <pc:chgData name="SOUCHON Aude" userId="6071ddd4-0803-4336-b98b-c9726a4a064c" providerId="ADAL" clId="{7D1968D9-1363-4912-95D2-7B801B3CC5E4}" dt="2026-10-12T08:10:29.153" v="595" actId="1076"/>
      <pc:docMkLst>
        <pc:docMk/>
      </pc:docMkLst>
      <pc:sldChg chg="addSp delSp modSp mod">
        <pc:chgData name="SOUCHON Aude" userId="6071ddd4-0803-4336-b98b-c9726a4a064c" providerId="ADAL" clId="{7D1968D9-1363-4912-95D2-7B801B3CC5E4}" dt="2026-10-12T08:10:29.153" v="595" actId="1076"/>
        <pc:sldMkLst>
          <pc:docMk/>
          <pc:sldMk cId="0" sldId="256"/>
        </pc:sldMkLst>
        <pc:spChg chg="mod">
          <ac:chgData name="SOUCHON Aude" userId="6071ddd4-0803-4336-b98b-c9726a4a064c" providerId="ADAL" clId="{7D1968D9-1363-4912-95D2-7B801B3CC5E4}" dt="2026-10-12T08:10:25.479" v="594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10:29.153" v="595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5:54.853" v="570" actId="20577"/>
          <ac:spMkLst>
            <pc:docMk/>
            <pc:sldMk cId="0" sldId="256"/>
            <ac:spMk id="21" creationId="{00000000-0000-0000-0000-000000000000}"/>
          </ac:spMkLst>
        </pc:spChg>
        <pc:picChg chg="add del">
          <ac:chgData name="SOUCHON Aude" userId="6071ddd4-0803-4336-b98b-c9726a4a064c" providerId="ADAL" clId="{7D1968D9-1363-4912-95D2-7B801B3CC5E4}" dt="2026-10-12T08:07:38.157" v="580" actId="478"/>
          <ac:picMkLst>
            <pc:docMk/>
            <pc:sldMk cId="0" sldId="256"/>
            <ac:picMk id="3" creationId="{1081824B-2072-673F-D01E-EF7399DA6BE4}"/>
          </ac:picMkLst>
        </pc:picChg>
        <pc:picChg chg="add mod">
          <ac:chgData name="SOUCHON Aude" userId="6071ddd4-0803-4336-b98b-c9726a4a064c" providerId="ADAL" clId="{7D1968D9-1363-4912-95D2-7B801B3CC5E4}" dt="2026-10-12T08:10:20.865" v="593" actId="1076"/>
          <ac:picMkLst>
            <pc:docMk/>
            <pc:sldMk cId="0" sldId="256"/>
            <ac:picMk id="4" creationId="{BC1F4E8F-47B0-8B6E-7B3C-F4C44680BB11}"/>
          </ac:picMkLst>
        </pc:picChg>
        <pc:picChg chg="add mod">
          <ac:chgData name="SOUCHON Aude" userId="6071ddd4-0803-4336-b98b-c9726a4a064c" providerId="ADAL" clId="{7D1968D9-1363-4912-95D2-7B801B3CC5E4}" dt="2026-10-12T08:10:14.600" v="590" actId="1076"/>
          <ac:picMkLst>
            <pc:docMk/>
            <pc:sldMk cId="0" sldId="256"/>
            <ac:picMk id="6" creationId="{68EFD592-EA75-C228-1068-E790899B0F7E}"/>
          </ac:picMkLst>
        </pc:picChg>
      </pc:sldChg>
      <pc:sldChg chg="delSp modSp del mod">
        <pc:chgData name="SOUCHON Aude" userId="6071ddd4-0803-4336-b98b-c9726a4a064c" providerId="ADAL" clId="{7D1968D9-1363-4912-95D2-7B801B3CC5E4}" dt="2026-10-12T07:51:09.561" v="398" actId="47"/>
        <pc:sldMkLst>
          <pc:docMk/>
          <pc:sldMk cId="0" sldId="259"/>
        </pc:sldMkLst>
        <pc:spChg chg="del mod">
          <ac:chgData name="SOUCHON Aude" userId="6071ddd4-0803-4336-b98b-c9726a4a064c" providerId="ADAL" clId="{7D1968D9-1363-4912-95D2-7B801B3CC5E4}" dt="2026-10-12T07:50:26.188" v="386" actId="21"/>
          <ac:spMkLst>
            <pc:docMk/>
            <pc:sldMk cId="0" sldId="259"/>
            <ac:spMk id="58" creationId="{00000000-0000-0000-0000-000000000000}"/>
          </ac:spMkLst>
        </pc:spChg>
      </pc:sldChg>
      <pc:sldChg chg="addSp delSp modSp mod">
        <pc:chgData name="SOUCHON Aude" userId="6071ddd4-0803-4336-b98b-c9726a4a064c" providerId="ADAL" clId="{7D1968D9-1363-4912-95D2-7B801B3CC5E4}" dt="2026-10-12T07:00:59.759" v="15" actId="20577"/>
        <pc:sldMkLst>
          <pc:docMk/>
          <pc:sldMk cId="0" sldId="279"/>
        </pc:sldMkLst>
        <pc:spChg chg="mod">
          <ac:chgData name="SOUCHON Aude" userId="6071ddd4-0803-4336-b98b-c9726a4a064c" providerId="ADAL" clId="{7D1968D9-1363-4912-95D2-7B801B3CC5E4}" dt="2026-10-12T07:00:59.759" v="15" actId="20577"/>
          <ac:spMkLst>
            <pc:docMk/>
            <pc:sldMk cId="0" sldId="279"/>
            <ac:spMk id="8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00:22.490" v="8" actId="14100"/>
          <ac:spMkLst>
            <pc:docMk/>
            <pc:sldMk cId="0" sldId="279"/>
            <ac:spMk id="84" creationId="{00000000-0000-0000-0000-000000000000}"/>
          </ac:spMkLst>
        </pc:spChg>
        <pc:spChg chg="del mod">
          <ac:chgData name="SOUCHON Aude" userId="6071ddd4-0803-4336-b98b-c9726a4a064c" providerId="ADAL" clId="{7D1968D9-1363-4912-95D2-7B801B3CC5E4}" dt="2026-10-12T06:59:49.682" v="4" actId="478"/>
          <ac:spMkLst>
            <pc:docMk/>
            <pc:sldMk cId="0" sldId="279"/>
            <ac:spMk id="85" creationId="{00000000-0000-0000-0000-000000000000}"/>
          </ac:spMkLst>
        </pc:spChg>
        <pc:picChg chg="add mod">
          <ac:chgData name="SOUCHON Aude" userId="6071ddd4-0803-4336-b98b-c9726a4a064c" providerId="ADAL" clId="{7D1968D9-1363-4912-95D2-7B801B3CC5E4}" dt="2026-10-12T07:00:46.169" v="14" actId="1076"/>
          <ac:picMkLst>
            <pc:docMk/>
            <pc:sldMk cId="0" sldId="279"/>
            <ac:picMk id="2" creationId="{D792102F-8000-7BA5-DDF8-164F388094D8}"/>
          </ac:picMkLst>
        </pc:picChg>
      </pc:sldChg>
      <pc:sldChg chg="addSp delSp modSp mod">
        <pc:chgData name="SOUCHON Aude" userId="6071ddd4-0803-4336-b98b-c9726a4a064c" providerId="ADAL" clId="{7D1968D9-1363-4912-95D2-7B801B3CC5E4}" dt="2026-10-12T07:21:13.286" v="190" actId="20577"/>
        <pc:sldMkLst>
          <pc:docMk/>
          <pc:sldMk cId="0" sldId="280"/>
        </pc:sldMkLst>
        <pc:spChg chg="add mod">
          <ac:chgData name="SOUCHON Aude" userId="6071ddd4-0803-4336-b98b-c9726a4a064c" providerId="ADAL" clId="{7D1968D9-1363-4912-95D2-7B801B3CC5E4}" dt="2026-10-12T07:20:40.751" v="162" actId="2711"/>
          <ac:spMkLst>
            <pc:docMk/>
            <pc:sldMk cId="0" sldId="280"/>
            <ac:spMk id="3" creationId="{E54732CE-795C-7D35-A6FD-85C0B7FD7025}"/>
          </ac:spMkLst>
        </pc:spChg>
        <pc:spChg chg="add del mod">
          <ac:chgData name="SOUCHON Aude" userId="6071ddd4-0803-4336-b98b-c9726a4a064c" providerId="ADAL" clId="{7D1968D9-1363-4912-95D2-7B801B3CC5E4}" dt="2026-10-12T07:19:03.599" v="125"/>
          <ac:spMkLst>
            <pc:docMk/>
            <pc:sldMk cId="0" sldId="280"/>
            <ac:spMk id="4" creationId="{CB230F49-FDF4-D736-ADFD-161835B548B8}"/>
          </ac:spMkLst>
        </pc:spChg>
        <pc:spChg chg="mod">
          <ac:chgData name="SOUCHON Aude" userId="6071ddd4-0803-4336-b98b-c9726a4a064c" providerId="ADAL" clId="{7D1968D9-1363-4912-95D2-7B801B3CC5E4}" dt="2026-10-12T07:17:05.165" v="97" actId="1076"/>
          <ac:spMkLst>
            <pc:docMk/>
            <pc:sldMk cId="0" sldId="280"/>
            <ac:spMk id="7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17:21.883" v="99" actId="1076"/>
          <ac:spMkLst>
            <pc:docMk/>
            <pc:sldMk cId="0" sldId="280"/>
            <ac:spMk id="73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16:17.774" v="87" actId="14100"/>
          <ac:spMkLst>
            <pc:docMk/>
            <pc:sldMk cId="0" sldId="280"/>
            <ac:spMk id="74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20:19.421" v="159" actId="14100"/>
          <ac:spMkLst>
            <pc:docMk/>
            <pc:sldMk cId="0" sldId="280"/>
            <ac:spMk id="75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16:34.881" v="91" actId="404"/>
          <ac:spMkLst>
            <pc:docMk/>
            <pc:sldMk cId="0" sldId="280"/>
            <ac:spMk id="76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19:29.738" v="129" actId="14100"/>
          <ac:spMkLst>
            <pc:docMk/>
            <pc:sldMk cId="0" sldId="280"/>
            <ac:spMk id="77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21:13.286" v="190" actId="20577"/>
          <ac:spMkLst>
            <pc:docMk/>
            <pc:sldMk cId="0" sldId="280"/>
            <ac:spMk id="78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19:12.832" v="126" actId="1076"/>
          <ac:spMkLst>
            <pc:docMk/>
            <pc:sldMk cId="0" sldId="280"/>
            <ac:spMk id="79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18:42.976" v="119" actId="404"/>
          <ac:spMkLst>
            <pc:docMk/>
            <pc:sldMk cId="0" sldId="280"/>
            <ac:spMk id="80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19:03.086" v="123" actId="14100"/>
          <ac:spMkLst>
            <pc:docMk/>
            <pc:sldMk cId="0" sldId="280"/>
            <ac:spMk id="81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16:54.338" v="95" actId="404"/>
          <ac:spMkLst>
            <pc:docMk/>
            <pc:sldMk cId="0" sldId="280"/>
            <ac:spMk id="82" creationId="{00000000-0000-0000-0000-000000000000}"/>
          </ac:spMkLst>
        </pc:spChg>
      </pc:sldChg>
      <pc:sldChg chg="modSp mod">
        <pc:chgData name="SOUCHON Aude" userId="6071ddd4-0803-4336-b98b-c9726a4a064c" providerId="ADAL" clId="{7D1968D9-1363-4912-95D2-7B801B3CC5E4}" dt="2026-10-12T07:33:12.325" v="208" actId="1076"/>
        <pc:sldMkLst>
          <pc:docMk/>
          <pc:sldMk cId="0" sldId="281"/>
        </pc:sldMkLst>
        <pc:spChg chg="mod">
          <ac:chgData name="SOUCHON Aude" userId="6071ddd4-0803-4336-b98b-c9726a4a064c" providerId="ADAL" clId="{7D1968D9-1363-4912-95D2-7B801B3CC5E4}" dt="2026-10-12T07:32:40.934" v="201" actId="14100"/>
          <ac:spMkLst>
            <pc:docMk/>
            <pc:sldMk cId="0" sldId="281"/>
            <ac:spMk id="74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2:17.846" v="194" actId="14100"/>
          <ac:spMkLst>
            <pc:docMk/>
            <pc:sldMk cId="0" sldId="281"/>
            <ac:spMk id="77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2:36.767" v="200" actId="14100"/>
          <ac:spMkLst>
            <pc:docMk/>
            <pc:sldMk cId="0" sldId="281"/>
            <ac:spMk id="78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2:20.597" v="195" actId="14100"/>
          <ac:spMkLst>
            <pc:docMk/>
            <pc:sldMk cId="0" sldId="281"/>
            <ac:spMk id="81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2:30.537" v="198" actId="14100"/>
          <ac:spMkLst>
            <pc:docMk/>
            <pc:sldMk cId="0" sldId="281"/>
            <ac:spMk id="8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2:23.443" v="196" actId="14100"/>
          <ac:spMkLst>
            <pc:docMk/>
            <pc:sldMk cId="0" sldId="281"/>
            <ac:spMk id="85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2:33.641" v="199" actId="14100"/>
          <ac:spMkLst>
            <pc:docMk/>
            <pc:sldMk cId="0" sldId="281"/>
            <ac:spMk id="86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2:26.019" v="197" actId="14100"/>
          <ac:spMkLst>
            <pc:docMk/>
            <pc:sldMk cId="0" sldId="281"/>
            <ac:spMk id="89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2:47.702" v="202" actId="14100"/>
          <ac:spMkLst>
            <pc:docMk/>
            <pc:sldMk cId="0" sldId="281"/>
            <ac:spMk id="90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3:02.885" v="207" actId="122"/>
          <ac:spMkLst>
            <pc:docMk/>
            <pc:sldMk cId="0" sldId="281"/>
            <ac:spMk id="91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33:12.325" v="208" actId="1076"/>
          <ac:spMkLst>
            <pc:docMk/>
            <pc:sldMk cId="0" sldId="281"/>
            <ac:spMk id="92" creationId="{00000000-0000-0000-0000-000000000000}"/>
          </ac:spMkLst>
        </pc:spChg>
      </pc:sldChg>
      <pc:sldChg chg="addSp delSp modSp mod">
        <pc:chgData name="SOUCHON Aude" userId="6071ddd4-0803-4336-b98b-c9726a4a064c" providerId="ADAL" clId="{7D1968D9-1363-4912-95D2-7B801B3CC5E4}" dt="2026-10-12T07:43:07.140" v="354" actId="14100"/>
        <pc:sldMkLst>
          <pc:docMk/>
          <pc:sldMk cId="0" sldId="283"/>
        </pc:sldMkLst>
        <pc:spChg chg="add mod">
          <ac:chgData name="SOUCHON Aude" userId="6071ddd4-0803-4336-b98b-c9726a4a064c" providerId="ADAL" clId="{7D1968D9-1363-4912-95D2-7B801B3CC5E4}" dt="2026-10-12T07:42:56.507" v="352" actId="1076"/>
          <ac:spMkLst>
            <pc:docMk/>
            <pc:sldMk cId="0" sldId="283"/>
            <ac:spMk id="2" creationId="{B3C60DC6-E639-D25F-5963-5CF1C8C575A7}"/>
          </ac:spMkLst>
        </pc:spChg>
        <pc:spChg chg="mod">
          <ac:chgData name="SOUCHON Aude" userId="6071ddd4-0803-4336-b98b-c9726a4a064c" providerId="ADAL" clId="{7D1968D9-1363-4912-95D2-7B801B3CC5E4}" dt="2026-10-12T07:42:51.775" v="351" actId="1076"/>
          <ac:spMkLst>
            <pc:docMk/>
            <pc:sldMk cId="0" sldId="283"/>
            <ac:spMk id="89" creationId="{00000000-0000-0000-0000-000000000000}"/>
          </ac:spMkLst>
        </pc:spChg>
        <pc:spChg chg="del mod">
          <ac:chgData name="SOUCHON Aude" userId="6071ddd4-0803-4336-b98b-c9726a4a064c" providerId="ADAL" clId="{7D1968D9-1363-4912-95D2-7B801B3CC5E4}" dt="2026-10-12T07:42:43.902" v="347" actId="478"/>
          <ac:spMkLst>
            <pc:docMk/>
            <pc:sldMk cId="0" sldId="283"/>
            <ac:spMk id="90" creationId="{00000000-0000-0000-0000-000000000000}"/>
          </ac:spMkLst>
        </pc:spChg>
        <pc:spChg chg="del">
          <ac:chgData name="SOUCHON Aude" userId="6071ddd4-0803-4336-b98b-c9726a4a064c" providerId="ADAL" clId="{7D1968D9-1363-4912-95D2-7B801B3CC5E4}" dt="2026-10-12T07:36:08.549" v="209" actId="478"/>
          <ac:spMkLst>
            <pc:docMk/>
            <pc:sldMk cId="0" sldId="283"/>
            <ac:spMk id="91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2:17.073" v="339" actId="14100"/>
          <ac:spMkLst>
            <pc:docMk/>
            <pc:sldMk cId="0" sldId="283"/>
            <ac:spMk id="9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2:22.627" v="341" actId="122"/>
          <ac:spMkLst>
            <pc:docMk/>
            <pc:sldMk cId="0" sldId="283"/>
            <ac:spMk id="93" creationId="{00000000-0000-0000-0000-000000000000}"/>
          </ac:spMkLst>
        </pc:spChg>
        <pc:spChg chg="del mod">
          <ac:chgData name="SOUCHON Aude" userId="6071ddd4-0803-4336-b98b-c9726a4a064c" providerId="ADAL" clId="{7D1968D9-1363-4912-95D2-7B801B3CC5E4}" dt="2026-10-12T07:37:37.366" v="243" actId="478"/>
          <ac:spMkLst>
            <pc:docMk/>
            <pc:sldMk cId="0" sldId="283"/>
            <ac:spMk id="94" creationId="{00000000-0000-0000-0000-000000000000}"/>
          </ac:spMkLst>
        </pc:spChg>
        <pc:picChg chg="add del mod">
          <ac:chgData name="SOUCHON Aude" userId="6071ddd4-0803-4336-b98b-c9726a4a064c" providerId="ADAL" clId="{7D1968D9-1363-4912-95D2-7B801B3CC5E4}" dt="2026-10-12T07:36:49.203" v="225" actId="478"/>
          <ac:picMkLst>
            <pc:docMk/>
            <pc:sldMk cId="0" sldId="283"/>
            <ac:picMk id="3" creationId="{96BC90E3-E843-FCAE-2B3A-531CFA29C3FC}"/>
          </ac:picMkLst>
        </pc:picChg>
        <pc:picChg chg="add del mod">
          <ac:chgData name="SOUCHON Aude" userId="6071ddd4-0803-4336-b98b-c9726a4a064c" providerId="ADAL" clId="{7D1968D9-1363-4912-95D2-7B801B3CC5E4}" dt="2026-10-12T07:41:17.349" v="329" actId="478"/>
          <ac:picMkLst>
            <pc:docMk/>
            <pc:sldMk cId="0" sldId="283"/>
            <ac:picMk id="4" creationId="{CA5C9354-B843-38D8-EE31-D363656973B9}"/>
          </ac:picMkLst>
        </pc:picChg>
        <pc:picChg chg="add mod">
          <ac:chgData name="SOUCHON Aude" userId="6071ddd4-0803-4336-b98b-c9726a4a064c" providerId="ADAL" clId="{7D1968D9-1363-4912-95D2-7B801B3CC5E4}" dt="2026-10-12T07:42:58.377" v="353" actId="1076"/>
          <ac:picMkLst>
            <pc:docMk/>
            <pc:sldMk cId="0" sldId="283"/>
            <ac:picMk id="5" creationId="{3287373B-3C52-1604-1D74-94FB961EEACB}"/>
          </ac:picMkLst>
        </pc:picChg>
        <pc:picChg chg="add mod modCrop">
          <ac:chgData name="SOUCHON Aude" userId="6071ddd4-0803-4336-b98b-c9726a4a064c" providerId="ADAL" clId="{7D1968D9-1363-4912-95D2-7B801B3CC5E4}" dt="2026-10-12T07:43:07.140" v="354" actId="14100"/>
          <ac:picMkLst>
            <pc:docMk/>
            <pc:sldMk cId="0" sldId="283"/>
            <ac:picMk id="6" creationId="{E81E1A9D-6DAC-7503-D40F-6766B67E1F46}"/>
          </ac:picMkLst>
        </pc:picChg>
        <pc:picChg chg="add mod">
          <ac:chgData name="SOUCHON Aude" userId="6071ddd4-0803-4336-b98b-c9726a4a064c" providerId="ADAL" clId="{7D1968D9-1363-4912-95D2-7B801B3CC5E4}" dt="2026-10-12T07:42:13.453" v="338" actId="1076"/>
          <ac:picMkLst>
            <pc:docMk/>
            <pc:sldMk cId="0" sldId="283"/>
            <ac:picMk id="7" creationId="{B4786CDB-F895-D077-5AFF-34B3B7528E16}"/>
          </ac:picMkLst>
        </pc:picChg>
      </pc:sldChg>
      <pc:sldChg chg="addSp delSp modSp mod">
        <pc:chgData name="SOUCHON Aude" userId="6071ddd4-0803-4336-b98b-c9726a4a064c" providerId="ADAL" clId="{7D1968D9-1363-4912-95D2-7B801B3CC5E4}" dt="2026-10-12T07:45:11.874" v="369" actId="1076"/>
        <pc:sldMkLst>
          <pc:docMk/>
          <pc:sldMk cId="0" sldId="284"/>
        </pc:sldMkLst>
        <pc:spChg chg="add del mod">
          <ac:chgData name="SOUCHON Aude" userId="6071ddd4-0803-4336-b98b-c9726a4a064c" providerId="ADAL" clId="{7D1968D9-1363-4912-95D2-7B801B3CC5E4}" dt="2026-10-12T07:44:40.334" v="360" actId="1076"/>
          <ac:spMkLst>
            <pc:docMk/>
            <pc:sldMk cId="0" sldId="284"/>
            <ac:spMk id="80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4:49.096" v="362" actId="1076"/>
          <ac:spMkLst>
            <pc:docMk/>
            <pc:sldMk cId="0" sldId="284"/>
            <ac:spMk id="91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5:11.874" v="369" actId="1076"/>
          <ac:spMkLst>
            <pc:docMk/>
            <pc:sldMk cId="0" sldId="284"/>
            <ac:spMk id="98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5:08.549" v="368" actId="114"/>
          <ac:spMkLst>
            <pc:docMk/>
            <pc:sldMk cId="0" sldId="284"/>
            <ac:spMk id="99" creationId="{00000000-0000-0000-0000-000000000000}"/>
          </ac:spMkLst>
        </pc:spChg>
      </pc:sldChg>
      <pc:sldChg chg="new del">
        <pc:chgData name="SOUCHON Aude" userId="6071ddd4-0803-4336-b98b-c9726a4a064c" providerId="ADAL" clId="{7D1968D9-1363-4912-95D2-7B801B3CC5E4}" dt="2026-10-12T07:48:20.349" v="376" actId="47"/>
        <pc:sldMkLst>
          <pc:docMk/>
          <pc:sldMk cId="979487330" sldId="286"/>
        </pc:sldMkLst>
      </pc:sldChg>
      <pc:sldChg chg="addSp modSp add mod setBg modNotes">
        <pc:chgData name="SOUCHON Aude" userId="6071ddd4-0803-4336-b98b-c9726a4a064c" providerId="ADAL" clId="{7D1968D9-1363-4912-95D2-7B801B3CC5E4}" dt="2026-10-12T07:51:34.509" v="403" actId="14100"/>
        <pc:sldMkLst>
          <pc:docMk/>
          <pc:sldMk cId="0" sldId="287"/>
        </pc:sldMkLst>
        <pc:spChg chg="mod">
          <ac:chgData name="SOUCHON Aude" userId="6071ddd4-0803-4336-b98b-c9726a4a064c" providerId="ADAL" clId="{7D1968D9-1363-4912-95D2-7B801B3CC5E4}" dt="2026-10-12T07:50:55.714" v="395" actId="14100"/>
          <ac:spMkLst>
            <pc:docMk/>
            <pc:sldMk cId="0" sldId="287"/>
            <ac:spMk id="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51:34.509" v="403" actId="14100"/>
          <ac:spMkLst>
            <pc:docMk/>
            <pc:sldMk cId="0" sldId="287"/>
            <ac:spMk id="3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4.590" v="380" actId="1076"/>
          <ac:spMkLst>
            <pc:docMk/>
            <pc:sldMk cId="0" sldId="287"/>
            <ac:spMk id="4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5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6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7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8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9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11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1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7:49:11.816" v="379" actId="1076"/>
          <ac:spMkLst>
            <pc:docMk/>
            <pc:sldMk cId="0" sldId="287"/>
            <ac:spMk id="14" creationId="{00000000-0000-0000-0000-000000000000}"/>
          </ac:spMkLst>
        </pc:spChg>
        <pc:spChg chg="add mod">
          <ac:chgData name="SOUCHON Aude" userId="6071ddd4-0803-4336-b98b-c9726a4a064c" providerId="ADAL" clId="{7D1968D9-1363-4912-95D2-7B801B3CC5E4}" dt="2026-10-12T07:50:41.758" v="391" actId="122"/>
          <ac:spMkLst>
            <pc:docMk/>
            <pc:sldMk cId="0" sldId="287"/>
            <ac:spMk id="58" creationId="{00000000-0000-0000-0000-000000000000}"/>
          </ac:spMkLst>
        </pc:spChg>
      </pc:sldChg>
      <pc:sldChg chg="modSp add mod setBg modNotes">
        <pc:chgData name="SOUCHON Aude" userId="6071ddd4-0803-4336-b98b-c9726a4a064c" providerId="ADAL" clId="{7D1968D9-1363-4912-95D2-7B801B3CC5E4}" dt="2026-10-12T07:54:35.912" v="411" actId="207"/>
        <pc:sldMkLst>
          <pc:docMk/>
          <pc:sldMk cId="0" sldId="288"/>
        </pc:sldMkLst>
        <pc:spChg chg="mod">
          <ac:chgData name="SOUCHON Aude" userId="6071ddd4-0803-4336-b98b-c9726a4a064c" providerId="ADAL" clId="{7D1968D9-1363-4912-95D2-7B801B3CC5E4}" dt="2026-10-12T07:54:35.912" v="411" actId="207"/>
          <ac:spMkLst>
            <pc:docMk/>
            <pc:sldMk cId="0" sldId="288"/>
            <ac:spMk id="8" creationId="{00000000-0000-0000-0000-000000000000}"/>
          </ac:spMkLst>
        </pc:spChg>
      </pc:sldChg>
      <pc:sldChg chg="modSp add mod setBg modNotes">
        <pc:chgData name="SOUCHON Aude" userId="6071ddd4-0803-4336-b98b-c9726a4a064c" providerId="ADAL" clId="{7D1968D9-1363-4912-95D2-7B801B3CC5E4}" dt="2026-10-12T08:03:10.588" v="517" actId="2711"/>
        <pc:sldMkLst>
          <pc:docMk/>
          <pc:sldMk cId="0" sldId="289"/>
        </pc:sldMkLst>
        <pc:spChg chg="mod">
          <ac:chgData name="SOUCHON Aude" userId="6071ddd4-0803-4336-b98b-c9726a4a064c" providerId="ADAL" clId="{7D1968D9-1363-4912-95D2-7B801B3CC5E4}" dt="2026-10-12T08:01:21.071" v="497" actId="14100"/>
          <ac:spMkLst>
            <pc:docMk/>
            <pc:sldMk cId="0" sldId="289"/>
            <ac:spMk id="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23.924" v="498" actId="1076"/>
          <ac:spMkLst>
            <pc:docMk/>
            <pc:sldMk cId="0" sldId="289"/>
            <ac:spMk id="3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4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5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6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7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8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9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11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32.373" v="499" actId="107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40.941" v="500" actId="14100"/>
          <ac:spMkLst>
            <pc:docMk/>
            <pc:sldMk cId="0" sldId="289"/>
            <ac:spMk id="13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10.588" v="517" actId="2711"/>
          <ac:spMkLst>
            <pc:docMk/>
            <pc:sldMk cId="0" sldId="289"/>
            <ac:spMk id="14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1:59.632" v="504" actId="14100"/>
          <ac:spMkLst>
            <pc:docMk/>
            <pc:sldMk cId="0" sldId="289"/>
            <ac:spMk id="15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2:13.579" v="508" actId="120"/>
          <ac:spMkLst>
            <pc:docMk/>
            <pc:sldMk cId="0" sldId="289"/>
            <ac:spMk id="16" creationId="{00000000-0000-0000-0000-000000000000}"/>
          </ac:spMkLst>
        </pc:spChg>
      </pc:sldChg>
      <pc:sldChg chg="add setBg modNotes">
        <pc:chgData name="SOUCHON Aude" userId="6071ddd4-0803-4336-b98b-c9726a4a064c" providerId="ADAL" clId="{7D1968D9-1363-4912-95D2-7B801B3CC5E4}" dt="2026-10-12T07:48:38.381" v="377"/>
        <pc:sldMkLst>
          <pc:docMk/>
          <pc:sldMk cId="0" sldId="290"/>
        </pc:sldMkLst>
      </pc:sldChg>
      <pc:sldChg chg="add">
        <pc:chgData name="SOUCHON Aude" userId="6071ddd4-0803-4336-b98b-c9726a4a064c" providerId="ADAL" clId="{7D1968D9-1363-4912-95D2-7B801B3CC5E4}" dt="2026-10-12T07:48:38.381" v="377"/>
        <pc:sldMkLst>
          <pc:docMk/>
          <pc:sldMk cId="536381592" sldId="291"/>
        </pc:sldMkLst>
      </pc:sldChg>
      <pc:sldChg chg="add setBg modNotes">
        <pc:chgData name="SOUCHON Aude" userId="6071ddd4-0803-4336-b98b-c9726a4a064c" providerId="ADAL" clId="{7D1968D9-1363-4912-95D2-7B801B3CC5E4}" dt="2026-10-12T07:48:38.381" v="377"/>
        <pc:sldMkLst>
          <pc:docMk/>
          <pc:sldMk cId="234147137" sldId="292"/>
        </pc:sldMkLst>
      </pc:sldChg>
      <pc:sldChg chg="add">
        <pc:chgData name="SOUCHON Aude" userId="6071ddd4-0803-4336-b98b-c9726a4a064c" providerId="ADAL" clId="{7D1968D9-1363-4912-95D2-7B801B3CC5E4}" dt="2026-10-12T07:48:38.381" v="377"/>
        <pc:sldMkLst>
          <pc:docMk/>
          <pc:sldMk cId="446502589" sldId="293"/>
        </pc:sldMkLst>
      </pc:sldChg>
      <pc:sldChg chg="modSp add mod setBg modNotes">
        <pc:chgData name="SOUCHON Aude" userId="6071ddd4-0803-4336-b98b-c9726a4a064c" providerId="ADAL" clId="{7D1968D9-1363-4912-95D2-7B801B3CC5E4}" dt="2026-10-12T08:04:08.057" v="525" actId="1076"/>
        <pc:sldMkLst>
          <pc:docMk/>
          <pc:sldMk cId="0" sldId="294"/>
        </pc:sldMkLst>
        <pc:spChg chg="mod">
          <ac:chgData name="SOUCHON Aude" userId="6071ddd4-0803-4336-b98b-c9726a4a064c" providerId="ADAL" clId="{7D1968D9-1363-4912-95D2-7B801B3CC5E4}" dt="2026-10-12T08:03:43.133" v="520" actId="14100"/>
          <ac:spMkLst>
            <pc:docMk/>
            <pc:sldMk cId="0" sldId="294"/>
            <ac:spMk id="2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40.805" v="519" actId="14100"/>
          <ac:spMkLst>
            <pc:docMk/>
            <pc:sldMk cId="0" sldId="294"/>
            <ac:spMk id="3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4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5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6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7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8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10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11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13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15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2.522" v="521" actId="1076"/>
          <ac:spMkLst>
            <pc:docMk/>
            <pc:sldMk cId="0" sldId="294"/>
            <ac:spMk id="16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3:59.349" v="522" actId="1076"/>
          <ac:spMkLst>
            <pc:docMk/>
            <pc:sldMk cId="0" sldId="294"/>
            <ac:spMk id="17" creationId="{00000000-0000-0000-0000-000000000000}"/>
          </ac:spMkLst>
        </pc:spChg>
        <pc:spChg chg="mod">
          <ac:chgData name="SOUCHON Aude" userId="6071ddd4-0803-4336-b98b-c9726a4a064c" providerId="ADAL" clId="{7D1968D9-1363-4912-95D2-7B801B3CC5E4}" dt="2026-10-12T08:04:08.057" v="525" actId="1076"/>
          <ac:spMkLst>
            <pc:docMk/>
            <pc:sldMk cId="0" sldId="294"/>
            <ac:spMk id="18" creationId="{00000000-0000-0000-0000-000000000000}"/>
          </ac:spMkLst>
        </pc:spChg>
      </pc:sldChg>
      <pc:sldChg chg="add setBg modNotes">
        <pc:chgData name="SOUCHON Aude" userId="6071ddd4-0803-4336-b98b-c9726a4a064c" providerId="ADAL" clId="{7D1968D9-1363-4912-95D2-7B801B3CC5E4}" dt="2026-10-12T07:48:38.381" v="377"/>
        <pc:sldMkLst>
          <pc:docMk/>
          <pc:sldMk cId="0" sldId="295"/>
        </pc:sldMkLst>
      </pc:sldChg>
      <pc:sldChg chg="modSp add mod setBg modNotes">
        <pc:chgData name="SOUCHON Aude" userId="6071ddd4-0803-4336-b98b-c9726a4a064c" providerId="ADAL" clId="{7D1968D9-1363-4912-95D2-7B801B3CC5E4}" dt="2026-10-12T08:04:38.714" v="531" actId="255"/>
        <pc:sldMkLst>
          <pc:docMk/>
          <pc:sldMk cId="0" sldId="296"/>
        </pc:sldMkLst>
        <pc:spChg chg="mod">
          <ac:chgData name="SOUCHON Aude" userId="6071ddd4-0803-4336-b98b-c9726a4a064c" providerId="ADAL" clId="{7D1968D9-1363-4912-95D2-7B801B3CC5E4}" dt="2026-10-12T08:04:38.714" v="531" actId="255"/>
          <ac:spMkLst>
            <pc:docMk/>
            <pc:sldMk cId="0" sldId="296"/>
            <ac:spMk id="8" creationId="{00000000-0000-0000-0000-000000000000}"/>
          </ac:spMkLst>
        </pc:spChg>
        <pc:picChg chg="mod">
          <ac:chgData name="SOUCHON Aude" userId="6071ddd4-0803-4336-b98b-c9726a4a064c" providerId="ADAL" clId="{7D1968D9-1363-4912-95D2-7B801B3CC5E4}" dt="2026-10-12T08:04:26.398" v="528" actId="14100"/>
          <ac:picMkLst>
            <pc:docMk/>
            <pc:sldMk cId="0" sldId="296"/>
            <ac:picMk id="10" creationId="{BA3C1F88-1A37-0500-8168-2C3B9467B209}"/>
          </ac:picMkLst>
        </pc:picChg>
        <pc:picChg chg="mod">
          <ac:chgData name="SOUCHON Aude" userId="6071ddd4-0803-4336-b98b-c9726a4a064c" providerId="ADAL" clId="{7D1968D9-1363-4912-95D2-7B801B3CC5E4}" dt="2026-10-12T08:04:34.458" v="530" actId="1076"/>
          <ac:picMkLst>
            <pc:docMk/>
            <pc:sldMk cId="0" sldId="296"/>
            <ac:picMk id="12" creationId="{B40BFB0C-CAE5-5AD2-5906-B179694F4B56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0"/>
  <c:style val="2"/>
  <c:chart>
    <c:title>
      <c:tx>
        <c:rich>
          <a:bodyPr rot="0"/>
          <a:lstStyle/>
          <a:p>
            <a:pPr>
              <a:defRPr sz="1600" b="0" strike="noStrike" spc="-1">
                <a:solidFill>
                  <a:srgbClr val="10202B"/>
                </a:solidFill>
                <a:latin typeface="Calibri"/>
              </a:defRPr>
            </a:pPr>
            <a:r>
              <a:rPr lang="fr-FR" sz="1600" b="0" strike="noStrike" spc="-1">
                <a:solidFill>
                  <a:srgbClr val="10202B"/>
                </a:solidFill>
                <a:latin typeface="Calibri"/>
              </a:rPr>
              <a:t>Messages traités par instance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Messages traités</c:v>
                </c:pt>
              </c:strCache>
            </c:strRef>
          </c:tx>
          <c:spPr>
            <a:solidFill>
              <a:srgbClr val="0F4C5C"/>
            </a:solidFill>
            <a:ln w="0">
              <a:noFill/>
            </a:ln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600" b="1" strike="noStrike" spc="-1">
                    <a:solidFill>
                      <a:srgbClr val="10202B"/>
                    </a:solidFill>
                    <a:latin typeface="Calibri"/>
                  </a:defRPr>
                </a:pPr>
                <a:endParaRPr lang="fr-F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prediction-1</c:v>
                </c:pt>
                <c:pt idx="1">
                  <c:v>prediction-2</c:v>
                </c:pt>
                <c:pt idx="2">
                  <c:v>prediction-3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765</c:v>
                </c:pt>
                <c:pt idx="1">
                  <c:v>592</c:v>
                </c:pt>
                <c:pt idx="2">
                  <c:v>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BD-492A-9D80-E1A3ACFB55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53032132"/>
        <c:axId val="64157645"/>
      </c:barChart>
      <c:catAx>
        <c:axId val="530321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400" b="0" strike="noStrike" spc="-1">
                <a:solidFill>
                  <a:srgbClr val="10202B"/>
                </a:solidFill>
                <a:latin typeface="Calibri"/>
              </a:defRPr>
            </a:pPr>
            <a:endParaRPr lang="fr-FR"/>
          </a:p>
        </c:txPr>
        <c:crossAx val="64157645"/>
        <c:crosses val="autoZero"/>
        <c:auto val="1"/>
        <c:lblAlgn val="ctr"/>
        <c:lblOffset val="100"/>
        <c:noMultiLvlLbl val="0"/>
      </c:catAx>
      <c:valAx>
        <c:axId val="64157645"/>
        <c:scaling>
          <c:orientation val="minMax"/>
          <c:max val="900"/>
          <c:min val="0"/>
        </c:scaling>
        <c:delete val="0"/>
        <c:axPos val="l"/>
        <c:majorGridlines>
          <c:spPr>
            <a:ln w="9360">
              <a:solidFill>
                <a:srgbClr val="D5DEE2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strike="noStrike" spc="-1">
                <a:solidFill>
                  <a:srgbClr val="4F7685"/>
                </a:solidFill>
                <a:latin typeface="Calibri"/>
              </a:defRPr>
            </a:pPr>
            <a:endParaRPr lang="fr-FR"/>
          </a:p>
        </c:txPr>
        <c:crossAx val="53032132"/>
        <c:crosses val="autoZero"/>
        <c:crossBetween val="between"/>
        <c:majorUnit val="300"/>
      </c:valAx>
      <c:spPr>
        <a:noFill/>
        <a:ln w="0">
          <a:noFill/>
        </a:ln>
      </c:spPr>
    </c:plotArea>
    <c:plotVisOnly val="1"/>
    <c:dispBlanksAs val="span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8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B804CD8-353D-4972-B5C7-E3ACB2CF4932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Présentation des trois TP : même application e-commerce, trois modes de communication entre services.</a:t>
            </a:r>
          </a:p>
        </p:txBody>
      </p:sp>
      <p:sp>
        <p:nvSpPr>
          <p:cNvPr id="39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32FF54-C05F-4F5D-851A-8844B93E2C6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D5EFF0-01AD-4B29-B06A-B890D1BAA41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D95B68-5C70-49DB-8529-A22A9214CE7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9692-8787-431F-D76E-D391367D9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94A95-FD71-EF28-DD7E-8A1CA4B7C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BF2C1-A0C9-FDA0-5E1F-9D17832FA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54915-8A23-50A4-5DAF-0B37A8148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45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8F224A-A996-4520-A6A4-9B3B08B1705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r>
              <a:t>TP1 : commandes appelait clients. TP2 : commandes publie un événement dans Kafka, les autres services l'écoutent.</a:t>
            </a:r>
          </a:p>
        </p:txBody>
      </p:sp>
      <p:sp>
        <p:nvSpPr>
          <p:cNvPr id="40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1F5257-3674-4CFC-A7CE-CEBF6D52E31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Un seul conteneur Kafka en mode KRaft (broker + contrôleur), sans ZooKeeper. Deux listeners : un pour l'hôte, un pour les conteneurs.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Le POST /commandes construit l'événement puis le publie. La clé client_id garde l'ordre des commandes d'un même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Le consommateur tourne dans un thread, Flask dans le thread principal. Le groupe clients-group permet à Kafka de mémoriser la position de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Pendant l'arrêt de clients, trois commandes sont produites. Au redémarrage, le groupe reprend à son dernier offset et rattrape le retard.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Troisième microservice : il lit le même topic avec un autre groupe et calcule des statistiques. date_commande a été ajouté à l'événement.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Même groupe : les partitions sont réparties, chaque message est lu par un seul consommateur. Groupes différents : chaque groupe reçoit tous les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Kafka découple les services dans le temps ; en échange, il n'y a pas de réponse immédiate du consommateur.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3F4324-AA51-4EE5-8C19-D13F86C9C39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Le modèle répond à une question oui/non : le client va-t-il passer une commande ? Il reçoit six caractéristiques et renvoie une classe et une probabilité.</a:t>
            </a:r>
          </a:p>
        </p:txBody>
      </p:sp>
      <p:sp>
        <p:nvSpPr>
          <p:cNvPr id="41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FBA40-9F09-4F2C-9114-0016612E499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Entraîner à chaque message serait lent et non reproductible. Le modèle est entraîné une fois, sauvegardé, puis simplement chargé.</a:t>
            </a:r>
          </a:p>
        </p:txBody>
      </p:sp>
      <p:sp>
        <p:nvSpPr>
          <p:cNvPr id="41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192152-4E23-4773-9564-00CCC4057DA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Pas de données historiques fournies : jeu synthétique avec une règle cachée. Le but du TP est l'intégration du modèle, pas sa performance.</a:t>
            </a:r>
          </a:p>
        </p:txBody>
      </p:sp>
      <p:sp>
        <p:nvSpPr>
          <p:cNvPr id="41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CCD229-B7CC-4E0D-B1C0-827EF3889D3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Deux topics indépendants : un pour les demandes, un pour les résultats. Les K instances de prediction partagent le même group_id et se répartissent les partitions.</a:t>
            </a:r>
          </a:p>
        </p:txBody>
      </p:sp>
      <p:sp>
        <p:nvSpPr>
          <p:cNvPr id="42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AF3845-0A1A-4E22-B5EA-152D27C6C22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Le commit manuel après traitement donne la garantie au moins une fois : un doublon est possible en cas de crash, mais aucun message n'est perdu.</a:t>
            </a:r>
          </a:p>
        </p:txBody>
      </p:sp>
      <p:sp>
        <p:nvSpPr>
          <p:cNvPr id="42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AC6776-9675-40DC-BC28-FA2FFEE803B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Les topics sont créés à la main pour choisir le nombre de partitions : 6 pour la demande, ce qui autorise jusqu'à 6 instances de prediction.</a:t>
            </a:r>
          </a:p>
        </p:txBody>
      </p:sp>
      <p:sp>
        <p:nvSpPr>
          <p:cNvPr id="42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8E86D4-2585-41CD-9CD4-50A16206E58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Le résultat n'est pas renvoyé dans la réponse HTTP : c'est le prix de l'asynchronisme. commandes l'affiche quand il arrive sur le topic résultats.</a:t>
            </a:r>
          </a:p>
        </p:txBody>
      </p:sp>
      <p:sp>
        <p:nvSpPr>
          <p:cNvPr id="43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E7A416-1BC3-4891-AB3D-E213A3B655D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PYTHONUNBUFFERED évite que les print restent en mémoire tampon et que docker logs reste vide.</a:t>
            </a:r>
          </a:p>
        </p:txBody>
      </p:sp>
      <p:sp>
        <p:nvSpPr>
          <p:cNvPr id="43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12717B-6CB1-4B31-8958-3C1F5CF1AC7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K instances dans le même groupe : Kafka répartit automatiquement les partitions. Au-delà de 6 instances, les suivantes resteraient inactives.</a:t>
            </a:r>
          </a:p>
        </p:txBody>
      </p:sp>
      <p:sp>
        <p:nvSpPr>
          <p:cNvPr id="43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38D645-FAA2-416D-90C0-EB78D2F023C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Chaque instance lit 2 des 6 partitions. La répartition est proche de l'égalité sans être parfaite.</a:t>
            </a:r>
          </a:p>
        </p:txBody>
      </p:sp>
      <p:sp>
        <p:nvSpPr>
          <p:cNvPr id="44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AFE13F-5271-42AA-88E2-BEF3B66F72C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 partitions, trois consommateurs : deux partitions chacun. Le LAG est à zéro, les instances suivent le débit du générateur.</a:t>
            </a:r>
          </a:p>
        </p:txBody>
      </p:sp>
      <p:sp>
        <p:nvSpPr>
          <p:cNvPr id="44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CCD2E7-F88B-4E82-9C33-E68CEB45356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Après l'arrêt propre, les partitions sont réaffectées aux deux instances restantes. Après le crash, la dernière instance lit les six partitions.</a:t>
            </a:r>
          </a:p>
        </p:txBody>
      </p:sp>
      <p:sp>
        <p:nvSpPr>
          <p:cNvPr id="44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BD8682-5B44-4066-BD20-DFFA112EF9A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Le test 3 est décrit d'après le comportement attendu de Kafka : les demandes sont stockées, le groupe reprend à son dernier offset.</a:t>
            </a:r>
          </a:p>
        </p:txBody>
      </p:sp>
      <p:sp>
        <p:nvSpPr>
          <p:cNvPr id="44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AF7DED-4BBD-40F2-B764-54CAAFC4073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Du plus simple au plus avancé. Le producteur Flask et le broker peuvent aussi devenir le goulot d'étranglement.</a:t>
            </a:r>
          </a:p>
        </p:txBody>
      </p:sp>
      <p:sp>
        <p:nvSpPr>
          <p:cNvPr id="45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F47161-4A93-4DAF-B170-1F50B19F8EF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DE9FA9-85CB-4960-BFCF-9653353644A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35889-0939-4D23-BC3D-BD15FD7BAD3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069072E-4D19-48CA-83A6-E6AB694C6272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22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6674760" cy="274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en-US" sz="40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731520" y="4343400"/>
            <a:ext cx="667476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2743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en-US" sz="4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31520" y="4206240"/>
            <a:ext cx="10515240" cy="63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7" name="Text 0"/>
          <p:cNvSpPr/>
          <p:nvPr/>
        </p:nvSpPr>
        <p:spPr>
          <a:xfrm>
            <a:off x="548640" y="64465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chemeClr val="accent4"/>
                </a:solidFill>
                <a:latin typeface="Calibri"/>
              </a:rPr>
              <a:t>Micro-services · REST, Kafka et Machine Learning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463560-9B4F-4A2C-AF44-7C618ECDCBD9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‹N°›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buNone/>
            </a:pPr>
            <a:r>
              <a:rPr lang="en-US" sz="36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clients/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1/command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006200" y="2243098"/>
            <a:ext cx="6674760" cy="100112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lt1"/>
                </a:solidFill>
                <a:latin typeface="Cambria"/>
              </a:rPr>
              <a:t>TOOLS AND LANGUAGE</a:t>
            </a:r>
            <a:endParaRPr lang="en-US" sz="40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51263" y="3613777"/>
            <a:ext cx="667476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chemeClr val="lt2"/>
                </a:solidFill>
                <a:latin typeface="Calibri"/>
              </a:rPr>
              <a:t>3 TP pour </a:t>
            </a:r>
            <a:r>
              <a:rPr lang="en-US" sz="2000" b="0" strike="noStrike" spc="-1" dirty="0" err="1">
                <a:solidFill>
                  <a:schemeClr val="lt2"/>
                </a:solidFill>
                <a:latin typeface="Calibri"/>
              </a:rPr>
              <a:t>construire</a:t>
            </a:r>
            <a:r>
              <a:rPr lang="en-US" sz="2000" b="0" strike="noStrike" spc="-1" dirty="0">
                <a:solidFill>
                  <a:schemeClr val="lt2"/>
                </a:solidFill>
                <a:latin typeface="Calibri"/>
              </a:rPr>
              <a:t> </a:t>
            </a:r>
            <a:r>
              <a:rPr lang="en-US" sz="2000" b="0" strike="noStrike" spc="-1" dirty="0" err="1">
                <a:solidFill>
                  <a:schemeClr val="lt2"/>
                </a:solidFill>
                <a:latin typeface="Calibri"/>
              </a:rPr>
              <a:t>une</a:t>
            </a:r>
            <a:r>
              <a:rPr lang="en-US" sz="2000" b="0" strike="noStrike" spc="-1" dirty="0">
                <a:solidFill>
                  <a:schemeClr val="lt2"/>
                </a:solidFill>
                <a:latin typeface="Calibri"/>
              </a:rPr>
              <a:t> application </a:t>
            </a:r>
            <a:r>
              <a:rPr lang="en-US" sz="2000" b="0" strike="noStrike" spc="-1" dirty="0" err="1">
                <a:solidFill>
                  <a:schemeClr val="lt2"/>
                </a:solidFill>
                <a:latin typeface="Calibri"/>
              </a:rPr>
              <a:t>en</a:t>
            </a:r>
            <a:r>
              <a:rPr lang="en-US" sz="2000" b="0" strike="noStrike" spc="-1" dirty="0">
                <a:solidFill>
                  <a:schemeClr val="lt2"/>
                </a:solidFill>
                <a:latin typeface="Calibri"/>
              </a:rPr>
              <a:t> micro-services</a:t>
            </a:r>
            <a:endParaRPr lang="en-US" sz="20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Auteur"/>
          <p:cNvSpPr/>
          <p:nvPr/>
        </p:nvSpPr>
        <p:spPr>
          <a:xfrm>
            <a:off x="731520" y="5643514"/>
            <a:ext cx="10611394" cy="9797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i="1" strike="noStrike" spc="-1" dirty="0">
                <a:solidFill>
                  <a:schemeClr val="accent3"/>
                </a:solidFill>
                <a:latin typeface="Calibri"/>
              </a:rPr>
              <a:t>Aude SOUCHON</a:t>
            </a:r>
            <a:endParaRPr lang="en-US" i="1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i="1" strike="noStrike" spc="-1" dirty="0">
                <a:solidFill>
                  <a:schemeClr val="accent3"/>
                </a:solidFill>
                <a:latin typeface="Calibri"/>
              </a:rPr>
              <a:t>Lauraine KENFACK</a:t>
            </a:r>
            <a:endParaRPr lang="en-US" i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i="1" strike="noStrike" spc="-1" dirty="0">
                <a:solidFill>
                  <a:schemeClr val="accent3"/>
                </a:solidFill>
                <a:latin typeface="Calibri"/>
              </a:rPr>
              <a:t> ING3 </a:t>
            </a:r>
            <a:r>
              <a:rPr lang="en-US" i="1" strike="noStrike" spc="-1" dirty="0" err="1">
                <a:solidFill>
                  <a:schemeClr val="accent3"/>
                </a:solidFill>
                <a:latin typeface="Calibri"/>
              </a:rPr>
              <a:t>Datascience</a:t>
            </a:r>
            <a:r>
              <a:rPr lang="en-US" i="1" strike="noStrike" spc="-1" dirty="0">
                <a:solidFill>
                  <a:schemeClr val="accent3"/>
                </a:solidFill>
                <a:latin typeface="Calibri"/>
              </a:rPr>
              <a:t>· Tools </a:t>
            </a:r>
            <a:r>
              <a:rPr lang="en-US" i="1" strike="noStrike" spc="-1" dirty="0" err="1">
                <a:solidFill>
                  <a:schemeClr val="accent3"/>
                </a:solidFill>
                <a:latin typeface="Calibri"/>
              </a:rPr>
              <a:t>Langage</a:t>
            </a:r>
            <a:r>
              <a:rPr lang="en-US" i="1" spc="-1" dirty="0">
                <a:solidFill>
                  <a:schemeClr val="accent3"/>
                </a:solidFill>
              </a:rPr>
              <a:t> ·</a:t>
            </a:r>
            <a:r>
              <a:rPr lang="en-US" i="1" strike="noStrike" spc="-1" dirty="0">
                <a:solidFill>
                  <a:schemeClr val="accent3"/>
                </a:solidFill>
                <a:latin typeface="Calibri"/>
              </a:rPr>
              <a:t>CY Tech · Octobre 2026</a:t>
            </a:r>
            <a:endParaRPr lang="en-US" i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Légende motif"/>
          <p:cNvSpPr/>
          <p:nvPr/>
        </p:nvSpPr>
        <p:spPr>
          <a:xfrm>
            <a:off x="7680960" y="48463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chemeClr val="lt2"/>
                </a:solidFill>
                <a:latin typeface="Calibri"/>
              </a:rPr>
              <a:t>topic demandes-prediction · 6 partitions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Image 3" descr="Qu'est-ce que Kafka ? | OVHcloud France">
            <a:extLst>
              <a:ext uri="{FF2B5EF4-FFF2-40B4-BE49-F238E27FC236}">
                <a16:creationId xmlns:a16="http://schemas.microsoft.com/office/drawing/2014/main" id="{BC1F4E8F-47B0-8B6E-7B3C-F4C44680B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63537" cy="12621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8EFD592-EA75-C228-1068-E790899B0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2881" y="207469"/>
            <a:ext cx="2379119" cy="2035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Trois TP, trois modes de communication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Carte TP1"/>
          <p:cNvSpPr/>
          <p:nvPr/>
        </p:nvSpPr>
        <p:spPr>
          <a:xfrm>
            <a:off x="548640" y="1463040"/>
            <a:ext cx="3382920" cy="41144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Badge 1"/>
          <p:cNvSpPr/>
          <p:nvPr/>
        </p:nvSpPr>
        <p:spPr>
          <a:xfrm>
            <a:off x="822960" y="173736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chemeClr val="lt1"/>
                </a:solidFill>
                <a:latin typeface="Calibri"/>
              </a:rPr>
              <a:t>1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itre TP1"/>
          <p:cNvSpPr/>
          <p:nvPr/>
        </p:nvSpPr>
        <p:spPr>
          <a:xfrm>
            <a:off x="822960" y="246888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REST synchrone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ervices TP1"/>
          <p:cNvSpPr/>
          <p:nvPr/>
        </p:nvSpPr>
        <p:spPr>
          <a:xfrm>
            <a:off x="822960" y="3337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clients · commandes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chnos TP1"/>
          <p:cNvSpPr/>
          <p:nvPr/>
        </p:nvSpPr>
        <p:spPr>
          <a:xfrm>
            <a:off x="822960" y="37033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accent4"/>
                </a:solidFill>
                <a:latin typeface="Calibri"/>
              </a:rPr>
              <a:t>Flask · requests · Docker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Question TP1"/>
          <p:cNvSpPr/>
          <p:nvPr/>
        </p:nvSpPr>
        <p:spPr>
          <a:xfrm>
            <a:off x="822960" y="4297680"/>
            <a:ext cx="2834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chemeClr val="dk1"/>
                </a:solidFill>
                <a:latin typeface="Calibri"/>
              </a:rPr>
              <a:t>Comment deux services se trouvent-ils et se parlent-ils 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Flèche 1"/>
          <p:cNvSpPr/>
          <p:nvPr/>
        </p:nvSpPr>
        <p:spPr>
          <a:xfrm>
            <a:off x="3977640" y="3291840"/>
            <a:ext cx="36540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Carte TP2"/>
          <p:cNvSpPr/>
          <p:nvPr/>
        </p:nvSpPr>
        <p:spPr>
          <a:xfrm>
            <a:off x="4389120" y="1463040"/>
            <a:ext cx="3382920" cy="41144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Badge 2"/>
          <p:cNvSpPr/>
          <p:nvPr/>
        </p:nvSpPr>
        <p:spPr>
          <a:xfrm>
            <a:off x="4663440" y="173736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chemeClr val="lt1"/>
                </a:solidFill>
                <a:latin typeface="Calibri"/>
              </a:rPr>
              <a:t>2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itre TP2"/>
          <p:cNvSpPr/>
          <p:nvPr/>
        </p:nvSpPr>
        <p:spPr>
          <a:xfrm>
            <a:off x="4663440" y="246888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Kafka asynchrone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ervices TP2"/>
          <p:cNvSpPr/>
          <p:nvPr/>
        </p:nvSpPr>
        <p:spPr>
          <a:xfrm>
            <a:off x="4663440" y="3337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+ statistiques + broker Kafka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chnos TP2"/>
          <p:cNvSpPr/>
          <p:nvPr/>
        </p:nvSpPr>
        <p:spPr>
          <a:xfrm>
            <a:off x="4663440" y="37033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accent4"/>
                </a:solidFill>
                <a:latin typeface="Calibri"/>
              </a:rPr>
              <a:t>Flask · kafka-python · Docker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Question TP2"/>
          <p:cNvSpPr/>
          <p:nvPr/>
        </p:nvSpPr>
        <p:spPr>
          <a:xfrm>
            <a:off x="4663440" y="4297680"/>
            <a:ext cx="2834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chemeClr val="dk1"/>
                </a:solidFill>
                <a:latin typeface="Calibri"/>
              </a:rPr>
              <a:t>Que gagne-t-on à découpler les services 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Flèche 2"/>
          <p:cNvSpPr/>
          <p:nvPr/>
        </p:nvSpPr>
        <p:spPr>
          <a:xfrm>
            <a:off x="7818120" y="3291840"/>
            <a:ext cx="365400" cy="36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Carte TP3"/>
          <p:cNvSpPr/>
          <p:nvPr/>
        </p:nvSpPr>
        <p:spPr>
          <a:xfrm>
            <a:off x="8229600" y="1463040"/>
            <a:ext cx="3382920" cy="41144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Badge 3"/>
          <p:cNvSpPr/>
          <p:nvPr/>
        </p:nvSpPr>
        <p:spPr>
          <a:xfrm>
            <a:off x="8503920" y="1737360"/>
            <a:ext cx="548280" cy="5482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chemeClr val="lt1"/>
                </a:solidFill>
                <a:latin typeface="Calibri"/>
              </a:rPr>
              <a:t>3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itre TP3"/>
          <p:cNvSpPr/>
          <p:nvPr/>
        </p:nvSpPr>
        <p:spPr>
          <a:xfrm>
            <a:off x="8503920" y="2468880"/>
            <a:ext cx="28342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Kafka + Machine Learning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ervices TP3"/>
          <p:cNvSpPr/>
          <p:nvPr/>
        </p:nvSpPr>
        <p:spPr>
          <a:xfrm>
            <a:off x="8503920" y="33375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+ prediction (K instances)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chnos TP3"/>
          <p:cNvSpPr/>
          <p:nvPr/>
        </p:nvSpPr>
        <p:spPr>
          <a:xfrm>
            <a:off x="8503920" y="37033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accent4"/>
                </a:solidFill>
                <a:latin typeface="Calibri"/>
              </a:rPr>
              <a:t>scikit-learn · joblib · pandas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Question TP3"/>
          <p:cNvSpPr/>
          <p:nvPr/>
        </p:nvSpPr>
        <p:spPr>
          <a:xfrm>
            <a:off x="8503920" y="4297680"/>
            <a:ext cx="283428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strike="noStrike" spc="-1">
                <a:solidFill>
                  <a:schemeClr val="dk1"/>
                </a:solidFill>
                <a:latin typeface="Calibri"/>
              </a:rPr>
              <a:t>Comment intégrer un modèle, passer à l'échelle et résister aux pannes 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Conclusion de la slide"/>
          <p:cNvSpPr/>
          <p:nvPr/>
        </p:nvSpPr>
        <p:spPr>
          <a:xfrm>
            <a:off x="548640" y="58521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chemeClr val="accent1"/>
                </a:solidFill>
                <a:latin typeface="Calibri"/>
              </a:rPr>
              <a:t>Une même application e-commerce, dont le mode de communication évolue d'un TP à l'autre.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5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537702-52EE-4FAF-9CCF-B50B13AF17BD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Numéro de TP"/>
          <p:cNvSpPr/>
          <p:nvPr/>
        </p:nvSpPr>
        <p:spPr>
          <a:xfrm>
            <a:off x="731520" y="14630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strike="noStrike" spc="-1">
                <a:solidFill>
                  <a:schemeClr val="accent3"/>
                </a:solidFill>
                <a:latin typeface="Calibri"/>
              </a:rPr>
              <a:t>TP1</a:t>
            </a:r>
            <a:endParaRPr lang="en-US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31520" y="2743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strike="noStrike" spc="-1">
                <a:solidFill>
                  <a:schemeClr val="lt1"/>
                </a:solidFill>
                <a:latin typeface="Cambria"/>
              </a:rPr>
              <a:t>Communication par API REST</a:t>
            </a:r>
            <a:endParaRPr lang="en-US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731520" y="4206240"/>
            <a:ext cx="10515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lt2"/>
                </a:solidFill>
                <a:latin typeface="Calibri"/>
              </a:rPr>
              <a:t>Flask · requests · Docker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Message 1"/>
          <p:cNvSpPr/>
          <p:nvPr/>
        </p:nvSpPr>
        <p:spPr>
          <a:xfrm>
            <a:off x="7315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Message 2"/>
          <p:cNvSpPr/>
          <p:nvPr/>
        </p:nvSpPr>
        <p:spPr>
          <a:xfrm>
            <a:off x="11887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Message 3"/>
          <p:cNvSpPr/>
          <p:nvPr/>
        </p:nvSpPr>
        <p:spPr>
          <a:xfrm>
            <a:off x="16459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Message 4"/>
          <p:cNvSpPr/>
          <p:nvPr/>
        </p:nvSpPr>
        <p:spPr>
          <a:xfrm>
            <a:off x="21031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Message 5"/>
          <p:cNvSpPr/>
          <p:nvPr/>
        </p:nvSpPr>
        <p:spPr>
          <a:xfrm>
            <a:off x="25603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Message 6"/>
          <p:cNvSpPr/>
          <p:nvPr/>
        </p:nvSpPr>
        <p:spPr>
          <a:xfrm>
            <a:off x="30175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Message 7"/>
          <p:cNvSpPr/>
          <p:nvPr/>
        </p:nvSpPr>
        <p:spPr>
          <a:xfrm>
            <a:off x="34747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Message 8"/>
          <p:cNvSpPr/>
          <p:nvPr/>
        </p:nvSpPr>
        <p:spPr>
          <a:xfrm>
            <a:off x="39319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Message 9"/>
          <p:cNvSpPr/>
          <p:nvPr/>
        </p:nvSpPr>
        <p:spPr>
          <a:xfrm>
            <a:off x="43891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9991"/>
            <a:ext cx="12192000" cy="958356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 txBox="1"/>
          <p:nvPr/>
        </p:nvSpPr>
        <p:spPr>
          <a:xfrm>
            <a:off x="489857" y="1232160"/>
            <a:ext cx="11792130" cy="63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et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53143" y="2435134"/>
            <a:ext cx="10885714" cy="115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deux micro-services Python (Flask) exposant une API REST</a:t>
            </a:r>
            <a:endParaRPr lang="en-US" sz="20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appeler le service Clients par le service Commandes</a:t>
            </a:r>
            <a:endParaRPr lang="en-US" sz="20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dockeriser et les faire communiquer via un réseau Docker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96686" y="3997663"/>
            <a:ext cx="2660952" cy="1058817"/>
          </a:xfrm>
          <a:prstGeom prst="roundRect">
            <a:avLst>
              <a:gd name="adj" fmla="val 9091"/>
            </a:avLst>
          </a:prstGeom>
          <a:solidFill>
            <a:srgbClr val="6C7A89"/>
          </a:solidFill>
          <a:ln>
            <a:solidFill>
              <a:srgbClr val="6C7A89"/>
            </a:solidFill>
          </a:ln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(curl)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4841966" y="3997663"/>
            <a:ext cx="2660952" cy="1058817"/>
          </a:xfrm>
          <a:prstGeom prst="roundRect">
            <a:avLst>
              <a:gd name="adj" fmla="val 9091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8081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8987246" y="3997663"/>
            <a:ext cx="2660952" cy="1058817"/>
          </a:xfrm>
          <a:prstGeom prst="roundRect">
            <a:avLst>
              <a:gd name="adj" fmla="val 9091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3369248" y="4385921"/>
            <a:ext cx="1451429" cy="0"/>
          </a:xfrm>
          <a:prstGeom prst="line">
            <a:avLst/>
          </a:prstGeom>
          <a:noFill/>
          <a:ln w="25400">
            <a:solidFill>
              <a:srgbClr val="222B36"/>
            </a:solidFill>
            <a:prstDash val="solid"/>
            <a:tailEnd type="triangle"/>
          </a:ln>
        </p:spPr>
        <p:txBody>
          <a:bodyPr/>
          <a:lstStyle/>
          <a:p>
            <a:endParaRPr lang="fr-FR" sz="2400"/>
          </a:p>
        </p:txBody>
      </p:sp>
      <p:sp>
        <p:nvSpPr>
          <p:cNvPr id="9" name="Shape 7"/>
          <p:cNvSpPr/>
          <p:nvPr/>
        </p:nvSpPr>
        <p:spPr>
          <a:xfrm>
            <a:off x="7514528" y="4385921"/>
            <a:ext cx="1451429" cy="0"/>
          </a:xfrm>
          <a:prstGeom prst="line">
            <a:avLst/>
          </a:prstGeom>
          <a:noFill/>
          <a:ln w="25400">
            <a:solidFill>
              <a:srgbClr val="222B36"/>
            </a:solidFill>
            <a:prstDash val="solid"/>
            <a:tailEnd type="triangle"/>
          </a:ln>
        </p:spPr>
        <p:txBody>
          <a:bodyPr/>
          <a:lstStyle/>
          <a:p>
            <a:endParaRPr lang="fr-FR" sz="2400"/>
          </a:p>
        </p:txBody>
      </p:sp>
      <p:sp>
        <p:nvSpPr>
          <p:cNvPr id="10" name="Text 8"/>
          <p:cNvSpPr txBox="1"/>
          <p:nvPr/>
        </p:nvSpPr>
        <p:spPr>
          <a:xfrm>
            <a:off x="3309256" y="3975233"/>
            <a:ext cx="1572381" cy="28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/commandes/1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54536" y="3975233"/>
            <a:ext cx="1572381" cy="28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/clients/1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62026" y="5316353"/>
            <a:ext cx="3628571" cy="28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commandes, interroge Clients</a:t>
            </a:r>
            <a:endParaRPr lang="en-US" sz="1333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4693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les informations clients</a:t>
            </a:r>
            <a:endParaRPr lang="en-US" sz="1333" dirty="0"/>
          </a:p>
        </p:txBody>
      </p:sp>
      <p:sp>
        <p:nvSpPr>
          <p:cNvPr id="14" name="Text 12"/>
          <p:cNvSpPr txBox="1"/>
          <p:nvPr/>
        </p:nvSpPr>
        <p:spPr>
          <a:xfrm>
            <a:off x="3162178" y="6108833"/>
            <a:ext cx="6047619" cy="28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commande + infos du client</a:t>
            </a:r>
            <a:endParaRPr lang="en-US" sz="1600" dirty="0"/>
          </a:p>
        </p:txBody>
      </p:sp>
      <p:sp>
        <p:nvSpPr>
          <p:cNvPr id="58" name="PlaceHolder 1"/>
          <p:cNvSpPr txBox="1">
            <a:spLocks/>
          </p:cNvSpPr>
          <p:nvPr/>
        </p:nvSpPr>
        <p:spPr>
          <a:xfrm>
            <a:off x="0" y="229115"/>
            <a:ext cx="1219200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spc="-1"/>
              <a:t>TP1 · </a:t>
            </a:r>
            <a:r>
              <a:rPr lang="en-US" sz="3600" b="1">
                <a:ea typeface="Calibri" pitchFamily="34" charset="-122"/>
                <a:cs typeface="Calibri" pitchFamily="34" charset="-120"/>
              </a:rPr>
              <a:t>Communication entre micro-services</a:t>
            </a:r>
            <a:r>
              <a:rPr lang="en-US" sz="3600" b="1" spc="-1"/>
              <a:t> </a:t>
            </a:r>
            <a:endParaRPr lang="en-US" sz="3600" spc="-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 txBox="1"/>
          <p:nvPr/>
        </p:nvSpPr>
        <p:spPr>
          <a:xfrm>
            <a:off x="609600" y="14630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Micro-service Clients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463040"/>
            <a:ext cx="487680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sur le port 8080</a:t>
            </a:r>
            <a:endParaRPr lang="en-US" sz="20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/clients : tous les clients</a:t>
            </a:r>
            <a:endParaRPr lang="en-US" sz="20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/clients/&lt;id&gt; : un client, 404 sinon</a:t>
            </a:r>
            <a:endParaRPr lang="en-US" sz="20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: flask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730240" y="1463040"/>
            <a:ext cx="6136640" cy="29260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6" name="Text 4"/>
          <p:cNvSpPr txBox="1"/>
          <p:nvPr/>
        </p:nvSpPr>
        <p:spPr>
          <a:xfrm>
            <a:off x="5791200" y="1463040"/>
            <a:ext cx="6075680" cy="29260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4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@app.route("/clients/&lt;int:client_id&gt;“, methods=[“GET”])</a:t>
            </a:r>
            <a:endParaRPr lang="en-US" sz="1467" dirty="0"/>
          </a:p>
          <a:p>
            <a:r>
              <a:rPr lang="en-US" sz="14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get_client(client_id):</a:t>
            </a:r>
            <a:endParaRPr lang="en-US" sz="1467" dirty="0"/>
          </a:p>
          <a:p>
            <a:r>
              <a:rPr lang="en-US" sz="14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c in clients:</a:t>
            </a:r>
            <a:endParaRPr lang="en-US" sz="1467" dirty="0"/>
          </a:p>
          <a:p>
            <a:r>
              <a:rPr lang="en-US" sz="14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c["id"] == client_id:</a:t>
            </a:r>
            <a:endParaRPr lang="en-US" sz="1467" dirty="0"/>
          </a:p>
          <a:p>
            <a:r>
              <a:rPr lang="en-US" sz="14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jsonify(c)</a:t>
            </a:r>
            <a:endParaRPr lang="en-US" sz="1467" dirty="0"/>
          </a:p>
          <a:p>
            <a:r>
              <a:rPr lang="en-US" sz="14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jsonify(</a:t>
            </a:r>
            <a:endParaRPr lang="en-US" sz="1467" dirty="0"/>
          </a:p>
          <a:p>
            <a:r>
              <a:rPr lang="en-US" sz="14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{"erreur": "Client introuvable"}), 404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609600" y="4876800"/>
            <a:ext cx="10972800" cy="10972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8" name="Text 6"/>
          <p:cNvSpPr txBox="1"/>
          <p:nvPr/>
        </p:nvSpPr>
        <p:spPr>
          <a:xfrm>
            <a:off x="670560" y="4876800"/>
            <a:ext cx="10850880" cy="1097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</a:t>
            </a: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http://localhost:8080/clients/1</a:t>
            </a:r>
            <a:endParaRPr lang="en-US" sz="16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{"id":1,"nom":"Alice","pays":"France"}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 txBox="1"/>
          <p:nvPr/>
        </p:nvSpPr>
        <p:spPr>
          <a:xfrm>
            <a:off x="609600" y="2438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Micro-service Commandes : appel REST vers Clients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63752"/>
            <a:ext cx="1950720" cy="1097280"/>
          </a:xfrm>
          <a:prstGeom prst="roundRect">
            <a:avLst>
              <a:gd name="adj" fmla="val 11111"/>
            </a:avLst>
          </a:prstGeom>
          <a:solidFill>
            <a:srgbClr val="6C7A89"/>
          </a:solidFill>
          <a:ln>
            <a:solidFill>
              <a:srgbClr val="6C7A89"/>
            </a:solidFill>
          </a:ln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/commandes/1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2682240" y="1063752"/>
            <a:ext cx="1950720" cy="1097280"/>
          </a:xfrm>
          <a:prstGeom prst="roundRect">
            <a:avLst>
              <a:gd name="adj" fmla="val 11111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commande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son client_id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4998720" y="1063752"/>
            <a:ext cx="1950720" cy="1097280"/>
          </a:xfrm>
          <a:prstGeom prst="roundRect">
            <a:avLst>
              <a:gd name="adj" fmla="val 11111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Clients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7315200" y="1063752"/>
            <a:ext cx="1950720" cy="1097280"/>
          </a:xfrm>
          <a:prstGeom prst="roundRect">
            <a:avLst>
              <a:gd name="adj" fmla="val 11111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9631680" y="1063752"/>
            <a:ext cx="1950720" cy="1097280"/>
          </a:xfrm>
          <a:prstGeom prst="roundRect">
            <a:avLst>
              <a:gd name="adj" fmla="val 11111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JSON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+ client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2316480" y="1612392"/>
            <a:ext cx="365760" cy="0"/>
          </a:xfrm>
          <a:prstGeom prst="line">
            <a:avLst/>
          </a:prstGeom>
          <a:noFill/>
          <a:ln w="25400">
            <a:solidFill>
              <a:srgbClr val="222B36"/>
            </a:solidFill>
            <a:prstDash val="solid"/>
            <a:tailEnd type="triangle"/>
          </a:ln>
        </p:spPr>
        <p:txBody>
          <a:bodyPr/>
          <a:lstStyle/>
          <a:p>
            <a:endParaRPr lang="fr-FR" sz="2400"/>
          </a:p>
        </p:txBody>
      </p:sp>
      <p:sp>
        <p:nvSpPr>
          <p:cNvPr id="10" name="Shape 8"/>
          <p:cNvSpPr/>
          <p:nvPr/>
        </p:nvSpPr>
        <p:spPr>
          <a:xfrm>
            <a:off x="4632960" y="1612392"/>
            <a:ext cx="365760" cy="0"/>
          </a:xfrm>
          <a:prstGeom prst="line">
            <a:avLst/>
          </a:prstGeom>
          <a:noFill/>
          <a:ln w="25400">
            <a:solidFill>
              <a:srgbClr val="222B36"/>
            </a:solidFill>
            <a:prstDash val="solid"/>
            <a:tailEnd type="triangle"/>
          </a:ln>
        </p:spPr>
        <p:txBody>
          <a:bodyPr/>
          <a:lstStyle/>
          <a:p>
            <a:endParaRPr lang="fr-FR" sz="2400"/>
          </a:p>
        </p:txBody>
      </p:sp>
      <p:sp>
        <p:nvSpPr>
          <p:cNvPr id="11" name="Shape 9"/>
          <p:cNvSpPr/>
          <p:nvPr/>
        </p:nvSpPr>
        <p:spPr>
          <a:xfrm>
            <a:off x="6949440" y="1612392"/>
            <a:ext cx="365760" cy="0"/>
          </a:xfrm>
          <a:prstGeom prst="line">
            <a:avLst/>
          </a:prstGeom>
          <a:noFill/>
          <a:ln w="25400">
            <a:solidFill>
              <a:srgbClr val="222B36"/>
            </a:solidFill>
            <a:prstDash val="solid"/>
            <a:tailEnd type="triangle"/>
          </a:ln>
        </p:spPr>
        <p:txBody>
          <a:bodyPr/>
          <a:lstStyle/>
          <a:p>
            <a:endParaRPr lang="fr-FR" sz="2400"/>
          </a:p>
        </p:txBody>
      </p:sp>
      <p:sp>
        <p:nvSpPr>
          <p:cNvPr id="12" name="Shape 10"/>
          <p:cNvSpPr/>
          <p:nvPr/>
        </p:nvSpPr>
        <p:spPr>
          <a:xfrm>
            <a:off x="9265920" y="1612392"/>
            <a:ext cx="365760" cy="0"/>
          </a:xfrm>
          <a:prstGeom prst="line">
            <a:avLst/>
          </a:prstGeom>
          <a:noFill/>
          <a:ln w="25400">
            <a:solidFill>
              <a:srgbClr val="222B36"/>
            </a:solidFill>
            <a:prstDash val="solid"/>
            <a:tailEnd type="triangle"/>
          </a:ln>
        </p:spPr>
        <p:txBody>
          <a:bodyPr/>
          <a:lstStyle/>
          <a:p>
            <a:endParaRPr lang="fr-FR" sz="2400"/>
          </a:p>
        </p:txBody>
      </p:sp>
      <p:sp>
        <p:nvSpPr>
          <p:cNvPr id="13" name="Shape 11"/>
          <p:cNvSpPr/>
          <p:nvPr/>
        </p:nvSpPr>
        <p:spPr>
          <a:xfrm>
            <a:off x="365760" y="2371343"/>
            <a:ext cx="7341327" cy="4029447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4" name="Text 12"/>
          <p:cNvSpPr txBox="1"/>
          <p:nvPr/>
        </p:nvSpPr>
        <p:spPr>
          <a:xfrm>
            <a:off x="365760" y="2371344"/>
            <a:ext cx="7243353" cy="3920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CLIENTS_URL = </a:t>
            </a:r>
            <a:r>
              <a:rPr lang="fr-FR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os.environ.get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("CLIENTS_URL", "http://localhost:8080")</a:t>
            </a:r>
          </a:p>
          <a:p>
            <a:endParaRPr 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reponse = requests.get(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f"{CLIENTS_URL}/clients/{commande['client_id']}",</a:t>
            </a:r>
            <a:endParaRPr 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timeout=5)</a:t>
            </a:r>
          </a:p>
          <a:p>
            <a:endParaRPr 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Requete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terminal : 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curl 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http://localhost:8081/commandes</a:t>
            </a:r>
            <a:r>
              <a:rPr lang="fr-FR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09562" y="2371344"/>
            <a:ext cx="4162696" cy="440305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6" name="Text 14"/>
          <p:cNvSpPr txBox="1"/>
          <p:nvPr/>
        </p:nvSpPr>
        <p:spPr>
          <a:xfrm>
            <a:off x="7909562" y="2371345"/>
            <a:ext cx="4162696" cy="440305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fr-FR" sz="1400" dirty="0">
                <a:solidFill>
                  <a:schemeClr val="bg1"/>
                </a:solidFill>
              </a:rPr>
              <a:t>[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{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</a:t>
            </a:r>
            <a:r>
              <a:rPr lang="fr-FR" sz="1400" dirty="0" err="1">
                <a:solidFill>
                  <a:schemeClr val="bg1"/>
                </a:solidFill>
              </a:rPr>
              <a:t>client_id</a:t>
            </a:r>
            <a:r>
              <a:rPr lang="fr-FR" sz="1400" dirty="0">
                <a:solidFill>
                  <a:schemeClr val="bg1"/>
                </a:solidFill>
              </a:rPr>
              <a:t>": 1,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"id": 1,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"montant": 1200,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"produit": "PC"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},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{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</a:t>
            </a:r>
            <a:r>
              <a:rPr lang="fr-FR" sz="1400" dirty="0" err="1">
                <a:solidFill>
                  <a:schemeClr val="bg1"/>
                </a:solidFill>
              </a:rPr>
              <a:t>client_id</a:t>
            </a:r>
            <a:r>
              <a:rPr lang="fr-FR" sz="1400" dirty="0">
                <a:solidFill>
                  <a:schemeClr val="bg1"/>
                </a:solidFill>
              </a:rPr>
              <a:t>": 2,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"id": 2,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"montant": 30,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"produit": "Livre"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},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{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</a:t>
            </a:r>
            <a:r>
              <a:rPr lang="fr-FR" sz="1400" dirty="0" err="1">
                <a:solidFill>
                  <a:schemeClr val="bg1"/>
                </a:solidFill>
              </a:rPr>
              <a:t>client_id</a:t>
            </a:r>
            <a:r>
              <a:rPr lang="fr-FR" sz="1400" dirty="0">
                <a:solidFill>
                  <a:schemeClr val="bg1"/>
                </a:solidFill>
              </a:rPr>
              <a:t>": 1,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"id": 3,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"montant": 80,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  "produit": "Casque"</a:t>
            </a:r>
          </a:p>
          <a:p>
            <a:r>
              <a:rPr lang="fr-FR" sz="1400" dirty="0">
                <a:solidFill>
                  <a:schemeClr val="bg1"/>
                </a:solidFill>
              </a:rPr>
              <a:t>  }</a:t>
            </a:r>
          </a:p>
          <a:p>
            <a:r>
              <a:rPr lang="fr-FR" sz="1400" dirty="0">
                <a:solidFill>
                  <a:schemeClr val="bg1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 txBox="1"/>
          <p:nvPr/>
        </p:nvSpPr>
        <p:spPr>
          <a:xfrm>
            <a:off x="609600" y="14630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Dockerisation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micro-service client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600" y="1463040"/>
            <a:ext cx="6096000" cy="3169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5" name="Text 3"/>
          <p:cNvSpPr txBox="1"/>
          <p:nvPr/>
        </p:nvSpPr>
        <p:spPr>
          <a:xfrm>
            <a:off x="670560" y="1463040"/>
            <a:ext cx="5974080" cy="3169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python:3.12-slim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2133" dirty="0"/>
          </a:p>
        </p:txBody>
      </p:sp>
      <p:sp>
        <p:nvSpPr>
          <p:cNvPr id="6" name="Text 4"/>
          <p:cNvSpPr txBox="1"/>
          <p:nvPr/>
        </p:nvSpPr>
        <p:spPr>
          <a:xfrm>
            <a:off x="7071360" y="1463040"/>
            <a:ext cx="4632960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légère python:3.12-slim</a:t>
            </a:r>
            <a:endParaRPr lang="en-US" sz="2133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133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copié avant app.py : cache des couches Docker</a:t>
            </a:r>
            <a:endParaRPr lang="en-US" sz="2133" dirty="0"/>
          </a:p>
        </p:txBody>
      </p:sp>
      <p:sp>
        <p:nvSpPr>
          <p:cNvPr id="7" name="Shape 5"/>
          <p:cNvSpPr/>
          <p:nvPr/>
        </p:nvSpPr>
        <p:spPr>
          <a:xfrm>
            <a:off x="609600" y="4998720"/>
            <a:ext cx="10972800" cy="975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8" name="Text 6"/>
          <p:cNvSpPr txBox="1"/>
          <p:nvPr/>
        </p:nvSpPr>
        <p:spPr>
          <a:xfrm>
            <a:off x="670560" y="4998720"/>
            <a:ext cx="10850880" cy="975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microservice-clients ./clients</a:t>
            </a:r>
            <a:endParaRPr lang="en-US" sz="21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63A7CA6-4C67-A01B-0446-4420D32E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28" y="0"/>
            <a:ext cx="111629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81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AFA0-6E8F-33DF-9D0C-FCB2C820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B208D6-39A9-AA7E-A72E-B3F5343111D3}"/>
              </a:ext>
            </a:extLst>
          </p:cNvPr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6F7E91-1481-7975-3BEC-9B8A944C3F34}"/>
              </a:ext>
            </a:extLst>
          </p:cNvPr>
          <p:cNvSpPr txBox="1"/>
          <p:nvPr/>
        </p:nvSpPr>
        <p:spPr>
          <a:xfrm>
            <a:off x="609600" y="14630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Dockerisation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micro-service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8FA1E64-755B-182C-0160-F877674CF864}"/>
              </a:ext>
            </a:extLst>
          </p:cNvPr>
          <p:cNvSpPr/>
          <p:nvPr/>
        </p:nvSpPr>
        <p:spPr>
          <a:xfrm>
            <a:off x="609600" y="1463040"/>
            <a:ext cx="6096000" cy="3169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5B2821-4059-9685-84C2-3A1990005BCB}"/>
              </a:ext>
            </a:extLst>
          </p:cNvPr>
          <p:cNvSpPr txBox="1"/>
          <p:nvPr/>
        </p:nvSpPr>
        <p:spPr>
          <a:xfrm>
            <a:off x="670560" y="1463040"/>
            <a:ext cx="5974080" cy="3169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python:3.12-slim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8081</a:t>
            </a:r>
            <a:endParaRPr lang="en-US" sz="2133" dirty="0"/>
          </a:p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["python", "app.py"]</a:t>
            </a:r>
            <a:endParaRPr lang="en-US" sz="2133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4DF52F3-0310-837F-8B8A-93CA105394AB}"/>
              </a:ext>
            </a:extLst>
          </p:cNvPr>
          <p:cNvSpPr txBox="1"/>
          <p:nvPr/>
        </p:nvSpPr>
        <p:spPr>
          <a:xfrm>
            <a:off x="7071360" y="2328672"/>
            <a:ext cx="481177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légère python:3.12-slim</a:t>
            </a:r>
            <a:endParaRPr lang="en-US" sz="24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copié avant app.py : cache des couches Docker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6025A9-490E-3DB8-EBE1-005BB88D316A}"/>
              </a:ext>
            </a:extLst>
          </p:cNvPr>
          <p:cNvSpPr/>
          <p:nvPr/>
        </p:nvSpPr>
        <p:spPr>
          <a:xfrm>
            <a:off x="609600" y="4998720"/>
            <a:ext cx="10972800" cy="975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BA6F8A6-DA23-0607-2229-EFFFB893FAAE}"/>
              </a:ext>
            </a:extLst>
          </p:cNvPr>
          <p:cNvSpPr txBox="1"/>
          <p:nvPr/>
        </p:nvSpPr>
        <p:spPr>
          <a:xfrm>
            <a:off x="670560" y="4998720"/>
            <a:ext cx="10850880" cy="975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2133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microservice-commandes ./commandes</a:t>
            </a:r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234147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3610F41-E0F2-FE9D-B9FB-F417BD7BE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62" y="1"/>
            <a:ext cx="1137927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502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16863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 txBox="1"/>
          <p:nvPr/>
        </p:nvSpPr>
        <p:spPr>
          <a:xfrm>
            <a:off x="487680" y="24385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Docker et conteneurs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2040" y="969264"/>
            <a:ext cx="11747919" cy="3206495"/>
          </a:xfrm>
          <a:prstGeom prst="rect">
            <a:avLst/>
          </a:prstGeom>
          <a:solidFill>
            <a:srgbClr val="F4F7FA"/>
          </a:solidFill>
          <a:ln w="12700">
            <a:solidFill>
              <a:srgbClr val="999999"/>
            </a:solidFill>
            <a:prstDash val="dash"/>
          </a:ln>
        </p:spPr>
        <p:txBody>
          <a:bodyPr/>
          <a:lstStyle/>
          <a:p>
            <a:endParaRPr lang="fr-FR" sz="2400"/>
          </a:p>
        </p:txBody>
      </p:sp>
      <p:sp>
        <p:nvSpPr>
          <p:cNvPr id="5" name="Text 3"/>
          <p:cNvSpPr txBox="1"/>
          <p:nvPr/>
        </p:nvSpPr>
        <p:spPr>
          <a:xfrm>
            <a:off x="467494" y="993649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 (ma machine)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3881254" y="1395985"/>
            <a:ext cx="7680960" cy="2560320"/>
          </a:xfrm>
          <a:prstGeom prst="roundRect">
            <a:avLst>
              <a:gd name="adj" fmla="val 4762"/>
            </a:avLst>
          </a:prstGeom>
          <a:solidFill>
            <a:srgbClr val="E3F4F1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7" name="Text 5"/>
          <p:cNvSpPr txBox="1"/>
          <p:nvPr/>
        </p:nvSpPr>
        <p:spPr>
          <a:xfrm>
            <a:off x="4003174" y="1420369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Docker : mon-reseau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589414" y="2066545"/>
            <a:ext cx="2194560" cy="1219200"/>
          </a:xfrm>
          <a:prstGeom prst="roundRect">
            <a:avLst>
              <a:gd name="adj" fmla="val 10000"/>
            </a:avLst>
          </a:prstGeom>
          <a:solidFill>
            <a:srgbClr val="6C7A89"/>
          </a:solidFill>
          <a:ln>
            <a:solidFill>
              <a:srgbClr val="6C7A89"/>
            </a:solidFill>
          </a:ln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(extérieur)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47014" y="2066545"/>
            <a:ext cx="2804160" cy="121920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92294" y="2066545"/>
            <a:ext cx="2804160" cy="12192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83974" y="2676145"/>
            <a:ext cx="1463040" cy="0"/>
          </a:xfrm>
          <a:prstGeom prst="line">
            <a:avLst/>
          </a:prstGeom>
          <a:noFill/>
          <a:ln w="25400">
            <a:solidFill>
              <a:srgbClr val="222B36"/>
            </a:solidFill>
            <a:prstDash val="solid"/>
            <a:tailEnd type="triangle"/>
          </a:ln>
        </p:spPr>
        <p:txBody>
          <a:bodyPr/>
          <a:lstStyle/>
          <a:p>
            <a:endParaRPr lang="fr-FR" sz="2400"/>
          </a:p>
        </p:txBody>
      </p:sp>
      <p:sp>
        <p:nvSpPr>
          <p:cNvPr id="12" name="Text 10"/>
          <p:cNvSpPr txBox="1"/>
          <p:nvPr/>
        </p:nvSpPr>
        <p:spPr>
          <a:xfrm>
            <a:off x="2601094" y="2235200"/>
            <a:ext cx="158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8081→8080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51174" y="2676145"/>
            <a:ext cx="1341120" cy="0"/>
          </a:xfrm>
          <a:prstGeom prst="line">
            <a:avLst/>
          </a:prstGeom>
          <a:noFill/>
          <a:ln w="25400">
            <a:solidFill>
              <a:srgbClr val="222B36"/>
            </a:solidFill>
            <a:prstDash val="solid"/>
            <a:tailEnd type="triangle"/>
          </a:ln>
        </p:spPr>
        <p:txBody>
          <a:bodyPr/>
          <a:lstStyle/>
          <a:p>
            <a:endParaRPr lang="fr-FR" sz="2400"/>
          </a:p>
        </p:txBody>
      </p:sp>
      <p:sp>
        <p:nvSpPr>
          <p:cNvPr id="14" name="Text 12"/>
          <p:cNvSpPr txBox="1"/>
          <p:nvPr/>
        </p:nvSpPr>
        <p:spPr>
          <a:xfrm>
            <a:off x="6746374" y="2249425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http://clients:8080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247014" y="3346705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8081:8080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92294" y="3346705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8080:8080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2040" y="4322067"/>
            <a:ext cx="11747919" cy="1915193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18" name="Text 16"/>
          <p:cNvSpPr txBox="1"/>
          <p:nvPr/>
        </p:nvSpPr>
        <p:spPr>
          <a:xfrm>
            <a:off x="426719" y="4429761"/>
            <a:ext cx="11338560" cy="1584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8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create mon-reseau</a:t>
            </a:r>
            <a:endParaRPr lang="en-US" sz="1867" dirty="0"/>
          </a:p>
          <a:p>
            <a:r>
              <a:rPr lang="en-US" sz="18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clients --network </a:t>
            </a:r>
            <a:r>
              <a:rPr lang="en-US" sz="1867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</a:t>
            </a:r>
            <a:r>
              <a:rPr lang="en-US" sz="18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-reseau -p 8080:8080 microservice-clients</a:t>
            </a:r>
            <a:endParaRPr lang="en-US" sz="1867" dirty="0"/>
          </a:p>
          <a:p>
            <a:r>
              <a:rPr lang="en-US" sz="1867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commandes --network mon-reseau -p 8081:8080 -e PORT=8080 -e CLIENTS_URL=http://clients:8080 microservice-commandes</a:t>
            </a:r>
            <a:endParaRPr lang="en-US" sz="186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 txBox="1"/>
          <p:nvPr/>
        </p:nvSpPr>
        <p:spPr>
          <a:xfrm>
            <a:off x="609600" y="14630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09600" y="1463040"/>
          <a:ext cx="10972800" cy="3352800"/>
        </p:xfrm>
        <a:graphic>
          <a:graphicData uri="http://schemas.openxmlformats.org/drawingml/2006/table">
            <a:tbl>
              <a:tblPr/>
              <a:tblGrid>
                <a:gridCol w="3535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inexistant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localhost:8080/clients/100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 inexistante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localhost:8081/commandes/100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de la commande introuvable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/commandes/&lt;id&gt; avec client_id absent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Clients arrêté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stop clients, puis curl localhost:8081/commandes/1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9600" y="5242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ne plante pas quand Clients est indisponible : il renvoie une erreur propre (503).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fr-FR" sz="2400"/>
          </a:p>
        </p:txBody>
      </p:sp>
      <p:sp>
        <p:nvSpPr>
          <p:cNvPr id="3" name="Text 1"/>
          <p:cNvSpPr txBox="1"/>
          <p:nvPr/>
        </p:nvSpPr>
        <p:spPr>
          <a:xfrm>
            <a:off x="609600" y="14630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et conclusion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76493" y="4017275"/>
            <a:ext cx="69045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découplés, chacun avec son conteneur</a:t>
            </a:r>
            <a:endParaRPr lang="en-US" sz="20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REST par nom de conteneur sur un réseau Docker</a:t>
            </a:r>
            <a:endParaRPr lang="en-US" sz="2000" dirty="0"/>
          </a:p>
          <a:p>
            <a:pPr marL="457189" indent="-457189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: appel synchrone, si Clients tombe Commandes est bloqué → piste Kafka</a:t>
            </a:r>
            <a:endParaRPr lang="en-US" sz="20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A3C1F88-1A37-0500-8168-2C3B9467B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93" y="1520069"/>
            <a:ext cx="11300947" cy="109728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40BFB0C-CAE5-5AD2-5906-B179694F4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657" y="3429000"/>
            <a:ext cx="4631171" cy="267418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uméro de TP"/>
          <p:cNvSpPr/>
          <p:nvPr/>
        </p:nvSpPr>
        <p:spPr>
          <a:xfrm>
            <a:off x="731520" y="14630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strike="noStrike" spc="-1">
                <a:solidFill>
                  <a:schemeClr val="accent3"/>
                </a:solidFill>
                <a:latin typeface="Calibri"/>
              </a:rPr>
              <a:t>TP2</a:t>
            </a:r>
            <a:endParaRPr lang="en-US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31520" y="2743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strike="noStrike" spc="-1">
                <a:solidFill>
                  <a:schemeClr val="lt1"/>
                </a:solidFill>
                <a:latin typeface="Cambria"/>
              </a:rPr>
              <a:t>Communication par Kafka</a:t>
            </a:r>
            <a:endParaRPr lang="en-US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31520" y="4206240"/>
            <a:ext cx="10515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lt2"/>
                </a:solidFill>
                <a:latin typeface="Calibri"/>
              </a:rPr>
              <a:t>Producteur · consommateurs · groupes de consommateurs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Message 1"/>
          <p:cNvSpPr/>
          <p:nvPr/>
        </p:nvSpPr>
        <p:spPr>
          <a:xfrm>
            <a:off x="7315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Message 2"/>
          <p:cNvSpPr/>
          <p:nvPr/>
        </p:nvSpPr>
        <p:spPr>
          <a:xfrm>
            <a:off x="11887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Message 3"/>
          <p:cNvSpPr/>
          <p:nvPr/>
        </p:nvSpPr>
        <p:spPr>
          <a:xfrm>
            <a:off x="16459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Message 4"/>
          <p:cNvSpPr/>
          <p:nvPr/>
        </p:nvSpPr>
        <p:spPr>
          <a:xfrm>
            <a:off x="21031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Message 5"/>
          <p:cNvSpPr/>
          <p:nvPr/>
        </p:nvSpPr>
        <p:spPr>
          <a:xfrm>
            <a:off x="25603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Message 6"/>
          <p:cNvSpPr/>
          <p:nvPr/>
        </p:nvSpPr>
        <p:spPr>
          <a:xfrm>
            <a:off x="30175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Message 7"/>
          <p:cNvSpPr/>
          <p:nvPr/>
        </p:nvSpPr>
        <p:spPr>
          <a:xfrm>
            <a:off x="34747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Message 8"/>
          <p:cNvSpPr/>
          <p:nvPr/>
        </p:nvSpPr>
        <p:spPr>
          <a:xfrm>
            <a:off x="39319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Message 9"/>
          <p:cNvSpPr/>
          <p:nvPr/>
        </p:nvSpPr>
        <p:spPr>
          <a:xfrm>
            <a:off x="4389120" y="5760720"/>
            <a:ext cx="347040" cy="347040"/>
          </a:xfrm>
          <a:prstGeom prst="roundRect">
            <a:avLst>
              <a:gd name="adj" fmla="val 13158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chemeClr val="dk1"/>
                </a:solidFill>
                <a:latin typeface="Cambria"/>
              </a:rPr>
              <a:t>TP2 · Architecture </a:t>
            </a:r>
            <a:r>
              <a:rPr lang="en-US" sz="3600" b="1" strike="noStrike" spc="-1" dirty="0" err="1">
                <a:solidFill>
                  <a:schemeClr val="dk1"/>
                </a:solidFill>
                <a:latin typeface="Cambria"/>
              </a:rPr>
              <a:t>événementielle</a:t>
            </a:r>
            <a:endParaRPr lang="en-US" sz="36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15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457200" y="1828800"/>
            <a:ext cx="1554480" cy="11887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8640" y="20116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dk1"/>
                </a:solidFill>
                <a:latin typeface="Calibri"/>
              </a:rPr>
              <a:t>Utilisateur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2423160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dk1"/>
                </a:solidFill>
                <a:latin typeface="Calibri"/>
              </a:rPr>
              <a:t>curl / Postman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514600" y="1828800"/>
            <a:ext cx="1920240" cy="118872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606040" y="20116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lt1"/>
                </a:solidFill>
                <a:latin typeface="Calibri"/>
              </a:rPr>
              <a:t>commandes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040" y="242316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Flask :5002</a:t>
            </a:r>
          </a:p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producteur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800600" y="1417320"/>
            <a:ext cx="2514600" cy="2011680"/>
          </a:xfrm>
          <a:prstGeom prst="roundRect">
            <a:avLst>
              <a:gd name="adj" fmla="val 6000"/>
            </a:avLst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800600" y="14813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1"/>
                </a:solidFill>
                <a:latin typeface="Calibri"/>
              </a:rPr>
              <a:t>Broker Kafka (Docker)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937760" y="1828800"/>
            <a:ext cx="2240280" cy="118872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029200" y="20116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dk1"/>
                </a:solidFill>
                <a:latin typeface="Calibri"/>
              </a:rPr>
              <a:t>commandes-creees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200" y="242316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dk1"/>
                </a:solidFill>
                <a:latin typeface="Calibri"/>
              </a:rPr>
              <a:t>topic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8160" y="1417320"/>
            <a:ext cx="3474720" cy="100584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229600" y="160020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lt1"/>
                </a:solidFill>
                <a:latin typeface="Calibri"/>
              </a:rPr>
              <a:t>clients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0" y="201168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Flask :5001 · clients-group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38160" y="2788920"/>
            <a:ext cx="3474720" cy="100584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229600" y="2971800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lt1"/>
                </a:solidFill>
                <a:latin typeface="Calibri"/>
              </a:rPr>
              <a:t>statistiques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3383279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Flask :5003 · statistiques-group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011680" y="2423160"/>
            <a:ext cx="502920" cy="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434840" y="2423160"/>
            <a:ext cx="502920" cy="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315200" y="1920240"/>
            <a:ext cx="822960" cy="50292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315200" y="2423160"/>
            <a:ext cx="822960" cy="86868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2112264" y="2011680"/>
            <a:ext cx="292608" cy="292608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chemeClr val="lt1"/>
                </a:solidFill>
                <a:latin typeface="Calibri"/>
              </a:rPr>
              <a:t>1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26280" y="2011680"/>
            <a:ext cx="292608" cy="292608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chemeClr val="lt1"/>
                </a:solidFill>
                <a:latin typeface="Calibri"/>
              </a:rPr>
              <a:t>2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60920" y="1783080"/>
            <a:ext cx="292608" cy="292608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chemeClr val="lt1"/>
                </a:solidFill>
                <a:latin typeface="Calibri"/>
              </a:rPr>
              <a:t>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48640" y="4206240"/>
            <a:ext cx="292608" cy="292608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chemeClr val="lt1"/>
                </a:solidFill>
                <a:latin typeface="Calibri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0120" y="4169663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POST /commandes : l'utilisateur crée une commande (réponse 201)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8640" y="4663440"/>
            <a:ext cx="292608" cy="292608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chemeClr val="lt1"/>
                </a:solidFill>
                <a:latin typeface="Calibri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0120" y="462686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Le producteur publie l'événement JSON dans le topic, clé = client_id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48640" y="5120640"/>
            <a:ext cx="292608" cy="292608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chemeClr val="lt1"/>
                </a:solidFill>
                <a:latin typeface="Calibri"/>
              </a:rP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0120" y="508406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Kafka conserve le message ; chaque groupe de consommateurs le lit à son rythme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Plus d'appel REST direct : commandes ne connaît ni clients ni statistiques.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Kafka avec Docker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16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48640" y="1417320"/>
            <a:ext cx="6400800" cy="3429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7240" y="152704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docker-compose.yml (extrait)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1874519"/>
            <a:ext cx="5943600" cy="2880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services:</a:t>
            </a: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</a:t>
            </a:r>
            <a:r>
              <a:rPr sz="1200" b="0" i="0" dirty="0" err="1">
                <a:solidFill>
                  <a:schemeClr val="dk1"/>
                </a:solidFill>
                <a:latin typeface="Courier New"/>
              </a:rPr>
              <a:t>kafka</a:t>
            </a:r>
            <a:r>
              <a:rPr sz="1200" b="0" i="0" dirty="0">
                <a:solidFill>
                  <a:schemeClr val="dk1"/>
                </a:solidFill>
                <a:latin typeface="Courier New"/>
              </a:rPr>
              <a:t>:</a:t>
            </a: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image: </a:t>
            </a:r>
            <a:r>
              <a:rPr sz="1200" b="0" i="0" dirty="0" err="1">
                <a:solidFill>
                  <a:schemeClr val="dk1"/>
                </a:solidFill>
                <a:latin typeface="Courier New"/>
              </a:rPr>
              <a:t>apache</a:t>
            </a:r>
            <a:r>
              <a:rPr sz="1200" b="0" i="0" dirty="0">
                <a:solidFill>
                  <a:schemeClr val="dk1"/>
                </a:solidFill>
                <a:latin typeface="Courier New"/>
              </a:rPr>
              <a:t>/kafka:3.9.0</a:t>
            </a: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</a:t>
            </a:r>
            <a:r>
              <a:rPr sz="1200" b="0" i="0" dirty="0" err="1">
                <a:solidFill>
                  <a:schemeClr val="dk1"/>
                </a:solidFill>
                <a:latin typeface="Courier New"/>
              </a:rPr>
              <a:t>container_name</a:t>
            </a:r>
            <a:r>
              <a:rPr sz="1200" b="0" i="0" dirty="0">
                <a:solidFill>
                  <a:schemeClr val="dk1"/>
                </a:solidFill>
                <a:latin typeface="Courier New"/>
              </a:rPr>
              <a:t>: </a:t>
            </a:r>
            <a:r>
              <a:rPr sz="1200" b="0" i="0" dirty="0" err="1">
                <a:solidFill>
                  <a:schemeClr val="dk1"/>
                </a:solidFill>
                <a:latin typeface="Courier New"/>
              </a:rPr>
              <a:t>kafka</a:t>
            </a:r>
            <a:endParaRPr sz="1200" b="0" i="0" dirty="0">
              <a:solidFill>
                <a:schemeClr val="dk1"/>
              </a:solidFill>
              <a:latin typeface="Courier New"/>
            </a:endParaRP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ports: ["9092:9092"]</a:t>
            </a: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environment:</a:t>
            </a: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  KAFKA_PROCESS_ROLES: </a:t>
            </a:r>
            <a:r>
              <a:rPr sz="1200" b="0" i="0" dirty="0" err="1">
                <a:solidFill>
                  <a:schemeClr val="dk1"/>
                </a:solidFill>
                <a:latin typeface="Courier New"/>
              </a:rPr>
              <a:t>broker,controller</a:t>
            </a:r>
            <a:endParaRPr sz="1200" b="0" i="0" dirty="0">
              <a:solidFill>
                <a:schemeClr val="dk1"/>
              </a:solidFill>
              <a:latin typeface="Courier New"/>
            </a:endParaRP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  KAFKA_ADVERTISED_LISTENERS:</a:t>
            </a: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    PLAINTEXT://kafka:19092,</a:t>
            </a: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    HOST://localhost:9092</a:t>
            </a:r>
          </a:p>
          <a:p>
            <a:r>
              <a:rPr sz="1200" b="0" i="0" dirty="0">
                <a:solidFill>
                  <a:schemeClr val="dk1"/>
                </a:solidFill>
                <a:latin typeface="Courier New"/>
              </a:rPr>
              <a:t>    networks: [</a:t>
            </a:r>
            <a:r>
              <a:rPr sz="1200" b="0" i="0" dirty="0" err="1">
                <a:solidFill>
                  <a:schemeClr val="dk1"/>
                </a:solidFill>
                <a:latin typeface="Courier New"/>
              </a:rPr>
              <a:t>kafka</a:t>
            </a:r>
            <a:r>
              <a:rPr sz="1200" b="0" i="0" dirty="0">
                <a:solidFill>
                  <a:schemeClr val="dk1"/>
                </a:solidFill>
                <a:latin typeface="Courier New"/>
              </a:rPr>
              <a:t>-net]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23760" y="1417320"/>
            <a:ext cx="4389120" cy="20116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452360" y="1645920"/>
            <a:ext cx="39776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chemeClr val="dk1"/>
                </a:solidFill>
                <a:latin typeface="Calibri"/>
              </a:rPr>
              <a:t>Deux accès au broker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52360" y="2286000"/>
            <a:ext cx="3931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localhost:9092 : depuis ma machine (scripts, services lancés en local)</a:t>
            </a:r>
          </a:p>
          <a:p>
            <a:r>
              <a:rPr sz="1400" b="0" i="0">
                <a:solidFill>
                  <a:schemeClr val="dk1"/>
                </a:solidFill>
                <a:latin typeface="Calibri"/>
              </a:rPr>
              <a:t>kafka:19092 : depuis un conteneur du réseau kafka-net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223760" y="3611880"/>
            <a:ext cx="4389120" cy="1234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452360" y="3840480"/>
            <a:ext cx="39776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chemeClr val="dk1"/>
                </a:solidFill>
                <a:latin typeface="Calibri"/>
              </a:rPr>
              <a:t>Démarrage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75220" y="4265116"/>
            <a:ext cx="397763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>
                <a:solidFill>
                  <a:schemeClr val="dk1"/>
                </a:solidFill>
                <a:latin typeface="Calibri"/>
              </a:rPr>
              <a:t>docker 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ps</a:t>
            </a:r>
            <a:endParaRPr sz="1400" b="0" i="0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Mode KRaft : un seul conteneur joue le rôle de broker et de contrôleur.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48640" y="5330953"/>
            <a:ext cx="11094720" cy="1024126"/>
          </a:xfrm>
          <a:prstGeom prst="roundRect">
            <a:avLst>
              <a:gd name="adj" fmla="val 6000"/>
            </a:avLst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792102F-8000-7BA5-DDF8-164F38809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07" y="5349239"/>
            <a:ext cx="10665951" cy="101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 err="1">
                <a:solidFill>
                  <a:schemeClr val="dk1"/>
                </a:solidFill>
                <a:latin typeface="Cambria"/>
              </a:rPr>
              <a:t>Producteur</a:t>
            </a:r>
            <a:r>
              <a:rPr lang="en-US" sz="3600" b="1" strike="noStrike" spc="-1" dirty="0">
                <a:solidFill>
                  <a:schemeClr val="dk1"/>
                </a:solidFill>
                <a:latin typeface="Cambria"/>
              </a:rPr>
              <a:t> : le service </a:t>
            </a:r>
            <a:r>
              <a:rPr lang="en-US" sz="3600" b="1" strike="noStrike" spc="-1" dirty="0" err="1">
                <a:solidFill>
                  <a:schemeClr val="dk1"/>
                </a:solidFill>
                <a:latin typeface="Cambria"/>
              </a:rPr>
              <a:t>commandes</a:t>
            </a:r>
            <a:endParaRPr lang="en-US" sz="3600" b="0" strike="noStrike" spc="-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1292660" y="649224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17</a:t>
            </a:fld>
            <a:endParaRPr lang="en-US" sz="10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48640" y="1417320"/>
            <a:ext cx="4584834" cy="3331143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7239" y="1527047"/>
            <a:ext cx="414568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i="0" dirty="0" err="1">
                <a:solidFill>
                  <a:schemeClr val="accent1"/>
                </a:solidFill>
                <a:latin typeface="Calibri"/>
              </a:rPr>
              <a:t>Connexion</a:t>
            </a:r>
            <a:r>
              <a:rPr sz="2000" b="1" i="0" dirty="0">
                <a:solidFill>
                  <a:schemeClr val="accent1"/>
                </a:solidFill>
                <a:latin typeface="Calibri"/>
              </a:rPr>
              <a:t> et envoi (</a:t>
            </a:r>
            <a:r>
              <a:rPr sz="2000" b="1" i="0" dirty="0" err="1">
                <a:solidFill>
                  <a:schemeClr val="accent1"/>
                </a:solidFill>
                <a:latin typeface="Calibri"/>
              </a:rPr>
              <a:t>kafka</a:t>
            </a:r>
            <a:r>
              <a:rPr sz="2000" b="1" i="0" dirty="0">
                <a:solidFill>
                  <a:schemeClr val="accent1"/>
                </a:solidFill>
                <a:latin typeface="Calibri"/>
              </a:rPr>
              <a:t>-python)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9193" y="2038073"/>
            <a:ext cx="4163728" cy="2369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producer = </a:t>
            </a:r>
            <a:r>
              <a:rPr sz="1400" b="0" i="0" dirty="0" err="1">
                <a:solidFill>
                  <a:schemeClr val="dk1"/>
                </a:solidFill>
                <a:latin typeface="Courier New"/>
              </a:rPr>
              <a:t>KafkaProducer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(</a:t>
            </a:r>
          </a:p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  </a:t>
            </a:r>
            <a:r>
              <a:rPr sz="1400" b="0" i="0" dirty="0" err="1">
                <a:solidFill>
                  <a:schemeClr val="dk1"/>
                </a:solidFill>
                <a:latin typeface="Courier New"/>
              </a:rPr>
              <a:t>bootstrap_servers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=KAFKA_BOOTSTRAP,</a:t>
            </a:r>
          </a:p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  </a:t>
            </a:r>
            <a:r>
              <a:rPr sz="1400" b="0" i="0" dirty="0" err="1">
                <a:solidFill>
                  <a:schemeClr val="dk1"/>
                </a:solidFill>
                <a:latin typeface="Courier New"/>
              </a:rPr>
              <a:t>key_serializer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=lambda k:</a:t>
            </a:r>
          </a:p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      str(k).encode("utf-8"),</a:t>
            </a:r>
          </a:p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  </a:t>
            </a:r>
            <a:r>
              <a:rPr sz="1400" b="0" i="0" dirty="0" err="1">
                <a:solidFill>
                  <a:schemeClr val="dk1"/>
                </a:solidFill>
                <a:latin typeface="Courier New"/>
              </a:rPr>
              <a:t>value_serializer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=lambda v:</a:t>
            </a:r>
          </a:p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      </a:t>
            </a:r>
            <a:r>
              <a:rPr sz="1400" b="0" i="0" dirty="0" err="1">
                <a:solidFill>
                  <a:schemeClr val="dk1"/>
                </a:solidFill>
                <a:latin typeface="Courier New"/>
              </a:rPr>
              <a:t>json.dumps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(v).encode("utf-8"),</a:t>
            </a:r>
          </a:p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  acks="all", retries=3)</a:t>
            </a:r>
          </a:p>
          <a:p>
            <a:endParaRPr sz="1400" b="0" i="0" dirty="0">
              <a:solidFill>
                <a:schemeClr val="dk1"/>
              </a:solidFill>
              <a:latin typeface="Courier New"/>
            </a:endParaRPr>
          </a:p>
          <a:p>
            <a:r>
              <a:rPr sz="1400" b="0" i="0" dirty="0" err="1">
                <a:solidFill>
                  <a:schemeClr val="dk1"/>
                </a:solidFill>
                <a:latin typeface="Courier New"/>
              </a:rPr>
              <a:t>producer.send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(TOPIC,</a:t>
            </a:r>
          </a:p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  key=</a:t>
            </a:r>
            <a:r>
              <a:rPr sz="1400" b="0" i="0" dirty="0" err="1">
                <a:solidFill>
                  <a:schemeClr val="dk1"/>
                </a:solidFill>
                <a:latin typeface="Courier New"/>
              </a:rPr>
              <a:t>evenement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["</a:t>
            </a:r>
            <a:r>
              <a:rPr sz="1400" b="0" i="0" dirty="0" err="1">
                <a:solidFill>
                  <a:schemeClr val="dk1"/>
                </a:solidFill>
                <a:latin typeface="Courier New"/>
              </a:rPr>
              <a:t>client_id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"],</a:t>
            </a:r>
          </a:p>
          <a:p>
            <a:r>
              <a:rPr sz="1400" b="0" i="0" dirty="0">
                <a:solidFill>
                  <a:schemeClr val="dk1"/>
                </a:solidFill>
                <a:latin typeface="Courier New"/>
              </a:rPr>
              <a:t>  value=</a:t>
            </a:r>
            <a:r>
              <a:rPr sz="1400" b="0" i="0" dirty="0" err="1">
                <a:solidFill>
                  <a:schemeClr val="dk1"/>
                </a:solidFill>
                <a:latin typeface="Courier New"/>
              </a:rPr>
              <a:t>evenement</a:t>
            </a:r>
            <a:r>
              <a:rPr sz="1400" b="0" i="0" dirty="0">
                <a:solidFill>
                  <a:schemeClr val="dk1"/>
                </a:solidFill>
                <a:latin typeface="Courier New"/>
              </a:rPr>
              <a:t>).get(timeout=10)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96000" y="3038425"/>
            <a:ext cx="5547359" cy="2443625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96000" y="3181117"/>
            <a:ext cx="554735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sz="2000" b="1" dirty="0">
                <a:solidFill>
                  <a:schemeClr val="accent1"/>
                </a:solidFill>
                <a:latin typeface="Calibri"/>
              </a:rPr>
              <a:t>Exemple d’un é</a:t>
            </a:r>
            <a:r>
              <a:rPr sz="2000" b="1" i="0" dirty="0" err="1">
                <a:solidFill>
                  <a:schemeClr val="accent1"/>
                </a:solidFill>
                <a:latin typeface="Calibri"/>
              </a:rPr>
              <a:t>vénement</a:t>
            </a:r>
            <a:r>
              <a:rPr sz="2000" b="1" i="0" dirty="0">
                <a:solidFill>
                  <a:schemeClr val="accent1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chemeClr val="accent1"/>
                </a:solidFill>
                <a:latin typeface="Calibri"/>
              </a:rPr>
              <a:t>publié</a:t>
            </a:r>
            <a:endParaRPr sz="2000" b="1" i="0" dirty="0">
              <a:solidFill>
                <a:schemeClr val="accent1"/>
              </a:solidFill>
              <a:latin typeface="Calibri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321353" y="3680649"/>
            <a:ext cx="5111454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{</a:t>
            </a:r>
          </a:p>
          <a:p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  "</a:t>
            </a:r>
            <a:r>
              <a:rPr lang="fr-FR" sz="1600" b="0" i="0" dirty="0" err="1">
                <a:solidFill>
                  <a:schemeClr val="dk1"/>
                </a:solidFill>
                <a:latin typeface="Courier New"/>
              </a:rPr>
              <a:t>commande_id</a:t>
            </a:r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": 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3</a:t>
            </a:r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,</a:t>
            </a:r>
          </a:p>
          <a:p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  "</a:t>
            </a:r>
            <a:r>
              <a:rPr lang="fr-FR" sz="1600" b="0" i="0" dirty="0" err="1">
                <a:solidFill>
                  <a:schemeClr val="dk1"/>
                </a:solidFill>
                <a:latin typeface="Courier New"/>
              </a:rPr>
              <a:t>client_id</a:t>
            </a:r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": 2,</a:t>
            </a:r>
          </a:p>
          <a:p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  "produit": "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Clavier</a:t>
            </a:r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",</a:t>
            </a:r>
          </a:p>
          <a:p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  "montant": 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49.9</a:t>
            </a:r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,</a:t>
            </a:r>
          </a:p>
          <a:p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  "</a:t>
            </a:r>
            <a:r>
              <a:rPr lang="fr-FR" sz="1600" b="0" i="0" dirty="0" err="1">
                <a:solidFill>
                  <a:schemeClr val="dk1"/>
                </a:solidFill>
                <a:latin typeface="Courier New"/>
              </a:rPr>
              <a:t>date_commande</a:t>
            </a:r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": "2026-10-10T16:41:25"</a:t>
            </a:r>
          </a:p>
          <a:p>
            <a:r>
              <a:rPr lang="fr-FR" sz="1600" b="0" i="0" dirty="0">
                <a:solidFill>
                  <a:schemeClr val="dk1"/>
                </a:solidFill>
                <a:latin typeface="Courier New"/>
              </a:rPr>
              <a:t>}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096000" y="5756011"/>
            <a:ext cx="5547359" cy="722243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1" name="TextBox 80"/>
          <p:cNvSpPr txBox="1"/>
          <p:nvPr/>
        </p:nvSpPr>
        <p:spPr>
          <a:xfrm>
            <a:off x="6318183" y="5831744"/>
            <a:ext cx="529433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b="0" i="0" dirty="0" err="1">
                <a:solidFill>
                  <a:schemeClr val="dk1"/>
                </a:solidFill>
                <a:latin typeface="Calibri"/>
              </a:rPr>
              <a:t>clé</a:t>
            </a:r>
            <a:r>
              <a:rPr b="0" i="0" dirty="0">
                <a:solidFill>
                  <a:schemeClr val="dk1"/>
                </a:solidFill>
                <a:latin typeface="Calibri"/>
              </a:rPr>
              <a:t> = </a:t>
            </a:r>
            <a:r>
              <a:rPr b="0" i="0" dirty="0" err="1">
                <a:solidFill>
                  <a:schemeClr val="dk1"/>
                </a:solidFill>
                <a:latin typeface="Calibri"/>
              </a:rPr>
              <a:t>client_id</a:t>
            </a:r>
            <a:r>
              <a:rPr b="0" i="0" dirty="0">
                <a:solidFill>
                  <a:schemeClr val="dk1"/>
                </a:solidFill>
                <a:latin typeface="Calibri"/>
              </a:rPr>
              <a:t> : </a:t>
            </a:r>
            <a:r>
              <a:rPr b="0" i="0" dirty="0" err="1">
                <a:solidFill>
                  <a:schemeClr val="dk1"/>
                </a:solidFill>
                <a:latin typeface="Calibri"/>
              </a:rPr>
              <a:t>même</a:t>
            </a:r>
            <a:r>
              <a:rPr b="0" i="0" dirty="0">
                <a:solidFill>
                  <a:schemeClr val="dk1"/>
                </a:solidFill>
                <a:latin typeface="Calibri"/>
              </a:rPr>
              <a:t> partition, </a:t>
            </a:r>
            <a:r>
              <a:rPr b="0" i="0" dirty="0" err="1">
                <a:solidFill>
                  <a:schemeClr val="dk1"/>
                </a:solidFill>
                <a:latin typeface="Calibri"/>
              </a:rPr>
              <a:t>ordre</a:t>
            </a:r>
            <a:r>
              <a:rPr b="0" i="0" dirty="0">
                <a:solidFill>
                  <a:schemeClr val="dk1"/>
                </a:solidFill>
                <a:latin typeface="Calibri"/>
              </a:rPr>
              <a:t> </a:t>
            </a:r>
            <a:r>
              <a:rPr b="0" i="0" dirty="0" err="1">
                <a:solidFill>
                  <a:schemeClr val="dk1"/>
                </a:solidFill>
                <a:latin typeface="Calibri"/>
              </a:rPr>
              <a:t>conservé</a:t>
            </a:r>
            <a:endParaRPr b="0" i="0" dirty="0">
              <a:solidFill>
                <a:schemeClr val="dk1"/>
              </a:solidFill>
              <a:latin typeface="Calibri"/>
            </a:endParaRPr>
          </a:p>
          <a:p>
            <a:r>
              <a:rPr b="0" i="0" dirty="0">
                <a:solidFill>
                  <a:schemeClr val="dk1"/>
                </a:solidFill>
                <a:latin typeface="Calibri"/>
              </a:rPr>
              <a:t>503 </a:t>
            </a:r>
            <a:r>
              <a:rPr b="0" i="0" dirty="0" err="1">
                <a:solidFill>
                  <a:schemeClr val="dk1"/>
                </a:solidFill>
                <a:latin typeface="Calibri"/>
              </a:rPr>
              <a:t>si</a:t>
            </a:r>
            <a:r>
              <a:rPr b="0" i="0" dirty="0">
                <a:solidFill>
                  <a:schemeClr val="dk1"/>
                </a:solidFill>
                <a:latin typeface="Calibri"/>
              </a:rPr>
              <a:t> Kafka est </a:t>
            </a:r>
            <a:r>
              <a:rPr b="0" i="0" dirty="0" err="1">
                <a:solidFill>
                  <a:schemeClr val="dk1"/>
                </a:solidFill>
                <a:latin typeface="Calibri"/>
              </a:rPr>
              <a:t>indisponible</a:t>
            </a:r>
            <a:endParaRPr b="0" i="0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48640" y="5411001"/>
            <a:ext cx="537089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dirty="0" err="1">
                <a:solidFill>
                  <a:schemeClr val="accent1"/>
                </a:solidFill>
                <a:latin typeface="Calibri"/>
              </a:rPr>
              <a:t>Dépendances</a:t>
            </a:r>
            <a:r>
              <a:rPr sz="1600" b="1" i="0" dirty="0">
                <a:solidFill>
                  <a:schemeClr val="accent1"/>
                </a:solidFill>
                <a:latin typeface="Calibri"/>
              </a:rPr>
              <a:t> : flask et </a:t>
            </a:r>
            <a:r>
              <a:rPr sz="1600" b="1" i="0" dirty="0" err="1">
                <a:solidFill>
                  <a:schemeClr val="accent1"/>
                </a:solidFill>
                <a:latin typeface="Calibri"/>
              </a:rPr>
              <a:t>kafka</a:t>
            </a:r>
            <a:r>
              <a:rPr sz="1600" b="1" i="0" dirty="0">
                <a:solidFill>
                  <a:schemeClr val="accent1"/>
                </a:solidFill>
                <a:latin typeface="Calibri"/>
              </a:rPr>
              <a:t>-python (requirements.txt).</a:t>
            </a:r>
          </a:p>
        </p:txBody>
      </p:sp>
      <p:sp>
        <p:nvSpPr>
          <p:cNvPr id="3" name="Rounded Rectangle 76">
            <a:extLst>
              <a:ext uri="{FF2B5EF4-FFF2-40B4-BE49-F238E27FC236}">
                <a16:creationId xmlns:a16="http://schemas.microsoft.com/office/drawing/2014/main" id="{E54732CE-795C-7D35-A6FD-85C0B7FD7025}"/>
              </a:ext>
            </a:extLst>
          </p:cNvPr>
          <p:cNvSpPr/>
          <p:nvPr/>
        </p:nvSpPr>
        <p:spPr>
          <a:xfrm>
            <a:off x="6065162" y="1527047"/>
            <a:ext cx="5547359" cy="1418865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dk1"/>
                </a:solidFill>
              </a:rPr>
              <a:t>Commandes docker </a:t>
            </a:r>
          </a:p>
          <a:p>
            <a:pPr algn="ctr"/>
            <a:r>
              <a:rPr lang="fr-FR" sz="1600" dirty="0">
                <a:solidFill>
                  <a:schemeClr val="dk1"/>
                </a:solidFill>
                <a:latin typeface="Courier New"/>
              </a:rPr>
              <a:t>docker </a:t>
            </a:r>
            <a:r>
              <a:rPr lang="fr-FR" sz="1600" dirty="0" err="1">
                <a:solidFill>
                  <a:schemeClr val="dk1"/>
                </a:solidFill>
                <a:latin typeface="Courier New"/>
              </a:rPr>
              <a:t>exec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 -</a:t>
            </a:r>
            <a:r>
              <a:rPr lang="fr-FR" sz="1600" dirty="0" err="1">
                <a:solidFill>
                  <a:schemeClr val="dk1"/>
                </a:solidFill>
                <a:latin typeface="Courier New"/>
              </a:rPr>
              <a:t>it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 </a:t>
            </a:r>
            <a:r>
              <a:rPr lang="fr-FR" sz="1600" dirty="0" err="1">
                <a:solidFill>
                  <a:schemeClr val="dk1"/>
                </a:solidFill>
                <a:latin typeface="Courier New"/>
              </a:rPr>
              <a:t>kafka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 /opt/kafka/bin/kafka-console-consumer.sh --topic commandes-</a:t>
            </a:r>
            <a:r>
              <a:rPr lang="fr-FR" sz="1600" dirty="0" err="1">
                <a:solidFill>
                  <a:schemeClr val="dk1"/>
                </a:solidFill>
                <a:latin typeface="Courier New"/>
              </a:rPr>
              <a:t>creees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 --</a:t>
            </a:r>
            <a:r>
              <a:rPr lang="fr-FR" sz="1600" dirty="0" err="1">
                <a:solidFill>
                  <a:schemeClr val="dk1"/>
                </a:solidFill>
                <a:latin typeface="Courier New"/>
              </a:rPr>
              <a:t>from-beginning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 --</a:t>
            </a:r>
            <a:r>
              <a:rPr lang="fr-FR" sz="1600" dirty="0" err="1">
                <a:solidFill>
                  <a:schemeClr val="dk1"/>
                </a:solidFill>
                <a:latin typeface="Courier New"/>
              </a:rPr>
              <a:t>bootstrap</a:t>
            </a:r>
            <a:r>
              <a:rPr lang="fr-FR" sz="1600" dirty="0">
                <a:solidFill>
                  <a:schemeClr val="dk1"/>
                </a:solidFill>
                <a:latin typeface="Courier New"/>
              </a:rPr>
              <a:t>-server localhost:9092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Consommateur : le service clients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18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48640" y="1417320"/>
            <a:ext cx="2606040" cy="1599839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77240" y="1645920"/>
            <a:ext cx="457200" cy="457200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chemeClr val="lt1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17319" y="16459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>
                <a:solidFill>
                  <a:schemeClr val="dk1"/>
                </a:solidFill>
                <a:latin typeface="Calibri"/>
              </a:rPr>
              <a:t>S'abonner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39" y="2286000"/>
            <a:ext cx="2194559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KafkaConsumer sur commandes-creees, group_id = clients-group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367735" y="1417320"/>
            <a:ext cx="2606040" cy="1599839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3596335" y="1645920"/>
            <a:ext cx="457200" cy="457200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chemeClr val="lt1"/>
                </a:solidFill>
                <a:latin typeface="Calibr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36415" y="16459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>
                <a:solidFill>
                  <a:schemeClr val="dk1"/>
                </a:solidFill>
                <a:latin typeface="Calibri"/>
              </a:rPr>
              <a:t>Lire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96335" y="2286001"/>
            <a:ext cx="21945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 err="1">
                <a:solidFill>
                  <a:schemeClr val="dk1"/>
                </a:solidFill>
                <a:latin typeface="Calibri"/>
              </a:rPr>
              <a:t>Chaque</a:t>
            </a:r>
            <a:r>
              <a:rPr sz="1400" b="0" i="0" dirty="0">
                <a:solidFill>
                  <a:schemeClr val="dk1"/>
                </a:solidFill>
                <a:latin typeface="Calibri"/>
              </a:rPr>
              <a:t> message JSON est 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décodé</a:t>
            </a:r>
            <a:r>
              <a:rPr sz="1400" b="0" i="0" dirty="0">
                <a:solidFill>
                  <a:schemeClr val="dk1"/>
                </a:solidFill>
                <a:latin typeface="Calibri"/>
              </a:rPr>
              <a:t> ; le message de test (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commande_id</a:t>
            </a:r>
            <a:r>
              <a:rPr sz="1400" b="0" i="0" dirty="0">
                <a:solidFill>
                  <a:schemeClr val="dk1"/>
                </a:solidFill>
                <a:latin typeface="Calibri"/>
              </a:rPr>
              <a:t> 0) est 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ignoré</a:t>
            </a:r>
            <a:endParaRPr sz="1400" b="0" i="0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6186830" y="1417320"/>
            <a:ext cx="2606040" cy="1599839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6415430" y="1645920"/>
            <a:ext cx="457200" cy="457200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chemeClr val="lt1"/>
                </a:solidFill>
                <a:latin typeface="Calibri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55510" y="16459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>
                <a:solidFill>
                  <a:schemeClr val="dk1"/>
                </a:solidFill>
                <a:latin typeface="Calibri"/>
              </a:rPr>
              <a:t>Compter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15430" y="2286000"/>
            <a:ext cx="21945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 err="1">
                <a:solidFill>
                  <a:schemeClr val="dk1"/>
                </a:solidFill>
                <a:latin typeface="Calibri"/>
              </a:rPr>
              <a:t>nb_commandes</a:t>
            </a:r>
            <a:r>
              <a:rPr sz="1400" b="0" i="0" dirty="0">
                <a:solidFill>
                  <a:schemeClr val="dk1"/>
                </a:solidFill>
                <a:latin typeface="Calibri"/>
              </a:rPr>
              <a:t>[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client_id</a:t>
            </a:r>
            <a:r>
              <a:rPr sz="1400" b="0" i="0" dirty="0">
                <a:solidFill>
                  <a:schemeClr val="dk1"/>
                </a:solidFill>
                <a:latin typeface="Calibri"/>
              </a:rPr>
              <a:t>] += 1, protégé par un 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verrou</a:t>
            </a:r>
            <a:endParaRPr sz="1400" b="0" i="0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005925" y="1417320"/>
            <a:ext cx="2606040" cy="1599839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9234525" y="1645920"/>
            <a:ext cx="457200" cy="457200"/>
          </a:xfrm>
          <a:prstGeom prst="roundRect">
            <a:avLst>
              <a:gd name="adj" fmla="val 13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chemeClr val="lt1"/>
                </a:solidFill>
                <a:latin typeface="Calibr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4605" y="16459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800" b="1" i="0">
                <a:solidFill>
                  <a:schemeClr val="dk1"/>
                </a:solidFill>
                <a:latin typeface="Calibri"/>
              </a:rPr>
              <a:t>Exposer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34525" y="2286001"/>
            <a:ext cx="21945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 dirty="0">
                <a:solidFill>
                  <a:schemeClr val="dk1"/>
                </a:solidFill>
                <a:latin typeface="Calibri"/>
              </a:rPr>
              <a:t>GET /clients/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commandes</a:t>
            </a:r>
            <a:r>
              <a:rPr sz="1400" b="0" i="0" dirty="0">
                <a:solidFill>
                  <a:schemeClr val="dk1"/>
                </a:solidFill>
                <a:latin typeface="Calibri"/>
              </a:rPr>
              <a:t> : 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nombre</a:t>
            </a:r>
            <a:r>
              <a:rPr sz="1400" b="0" i="0" dirty="0">
                <a:solidFill>
                  <a:schemeClr val="dk1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chemeClr val="dk1"/>
                </a:solidFill>
                <a:latin typeface="Calibri"/>
              </a:rPr>
              <a:t>commandes</a:t>
            </a:r>
            <a:r>
              <a:rPr sz="1400" b="0" i="0" dirty="0">
                <a:solidFill>
                  <a:schemeClr val="dk1"/>
                </a:solidFill>
                <a:latin typeface="Calibri"/>
              </a:rPr>
              <a:t> par client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8640" y="3291839"/>
            <a:ext cx="1106424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70255" y="3429000"/>
            <a:ext cx="106070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chemeClr val="accent1"/>
                </a:solidFill>
                <a:latin typeface="Calibri"/>
              </a:rPr>
              <a:t>Affichage</a:t>
            </a:r>
            <a:r>
              <a:rPr sz="2000" b="1" i="0" dirty="0">
                <a:solidFill>
                  <a:schemeClr val="accent1"/>
                </a:solidFill>
                <a:latin typeface="Calibri"/>
              </a:rPr>
              <a:t> console (</a:t>
            </a:r>
            <a:r>
              <a:rPr sz="2000" b="1" i="0" dirty="0" err="1">
                <a:solidFill>
                  <a:schemeClr val="accent1"/>
                </a:solidFill>
                <a:latin typeface="Calibri"/>
              </a:rPr>
              <a:t>exemple</a:t>
            </a:r>
            <a:r>
              <a:rPr sz="2000" b="1" i="0" dirty="0">
                <a:solidFill>
                  <a:schemeClr val="accent1"/>
                </a:solidFill>
                <a:latin typeface="Calibri"/>
              </a:rPr>
              <a:t> de format)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2480" y="3873938"/>
            <a:ext cx="10607040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dirty="0"/>
              <a:t>[clients] Commande #5 | client : Chloé (id 3) | produit : Ordi portable | montant : 1200 €</a:t>
            </a:r>
            <a:br>
              <a:rPr lang="fr-FR" dirty="0"/>
            </a:br>
            <a:r>
              <a:rPr lang="fr-FR" dirty="0"/>
              <a:t>[clients] Total de commandes par client : {3: 1}</a:t>
            </a:r>
            <a:br>
              <a:rPr lang="fr-FR" dirty="0"/>
            </a:br>
            <a:r>
              <a:rPr lang="fr-FR" dirty="0"/>
              <a:t>[clients] Commande #6 | client : Bob (id 2) | produit : Cable HDMI | montant : 111 €</a:t>
            </a:r>
            <a:br>
              <a:rPr lang="fr-FR" dirty="0"/>
            </a:br>
            <a:r>
              <a:rPr lang="fr-FR" dirty="0"/>
              <a:t>[clients] Total de commandes par client : {3: 1, 2: 1}</a:t>
            </a:r>
            <a:br>
              <a:rPr lang="fr-FR" dirty="0"/>
            </a:br>
            <a:r>
              <a:rPr lang="fr-FR" dirty="0"/>
              <a:t>[clients] Commande #7 | client : Alice (id 1) | produit : VG Port | montant : 52 €</a:t>
            </a:r>
            <a:br>
              <a:rPr lang="fr-FR" dirty="0"/>
            </a:br>
            <a:r>
              <a:rPr lang="fr-FR" dirty="0"/>
              <a:t>[clients] Total de commandes par client : {3: 1, 2: 1, 1: 1}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Un thread consomme Kafka pendant que Flask répond en parallèle aux requêtes REST.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Arrêter un microservice : rien n'est perdu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19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48640" y="1508760"/>
            <a:ext cx="3474720" cy="141732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0080" y="1691639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lt1"/>
                </a:solidFill>
                <a:latin typeface="Calibri"/>
              </a:rPr>
              <a:t>clients actif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2103120"/>
            <a:ext cx="32918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consomme en continu</a:t>
            </a:r>
          </a:p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LAG 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343400" y="1508760"/>
            <a:ext cx="3474720" cy="14173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34840" y="1691639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lt1"/>
                </a:solidFill>
                <a:latin typeface="Calibri"/>
              </a:rPr>
              <a:t>clients arrêté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34840" y="2103120"/>
            <a:ext cx="32918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3 commandes produites</a:t>
            </a:r>
          </a:p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LAG = 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38160" y="1508760"/>
            <a:ext cx="3474720" cy="1417320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229600" y="1691639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lt1"/>
                </a:solidFill>
                <a:latin typeface="Calibri"/>
              </a:rPr>
              <a:t>clients redémarré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2103120"/>
            <a:ext cx="32918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rattrape les 3 messages</a:t>
            </a:r>
          </a:p>
          <a:p>
            <a:pPr algn="ctr"/>
            <a:r>
              <a:rPr sz="1200" b="0" i="0">
                <a:solidFill>
                  <a:schemeClr val="lt1"/>
                </a:solidFill>
                <a:latin typeface="Calibri"/>
              </a:rPr>
              <a:t>LAG 0 (offsets 18/18)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023360" y="2212848"/>
            <a:ext cx="320040" cy="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18120" y="2212848"/>
            <a:ext cx="320040" cy="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548640" y="3337560"/>
            <a:ext cx="544068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77240" y="3566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chemeClr val="dk1"/>
                </a:solidFill>
                <a:latin typeface="Calibri"/>
              </a:rPr>
              <a:t>Pourquoi aucun événement perdu 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7240" y="420624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Kafka conserve les messages dans le topic. Le groupe clients-group mémorise son offset (commit automatique) : au redémarrage, la lecture reprend là où elle s'était arrêtée.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72200" y="3337560"/>
            <a:ext cx="5440680" cy="2377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0">
                <a:solidFill>
                  <a:schemeClr val="dk1"/>
                </a:solidFill>
                <a:latin typeface="Calibri"/>
              </a:rPr>
              <a:t>Différence avec le TP1 (REST)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0" y="420624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REST : si clients est arrêté, l'appel échoue (erreur 503) et la requête est perdue.</a:t>
            </a:r>
          </a:p>
          <a:p>
            <a:r>
              <a:rPr sz="1400" b="0" i="0">
                <a:solidFill>
                  <a:schemeClr val="dk1"/>
                </a:solidFill>
                <a:latin typeface="Calibri"/>
              </a:rPr>
              <a:t>Kafka : le producteur continue, les messages attendent dans le topic.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Les messages consommés au redémarrage sont ceux produits pendant l'arrêt.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Deuxième consommateur : statistiques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20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48640" y="1417320"/>
            <a:ext cx="5760720" cy="640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1520" y="141732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Groupe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86000" y="141732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statistiques-group, distinct de clients-group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8640" y="2167128"/>
            <a:ext cx="5760720" cy="640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31520" y="2167128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Par produit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86000" y="216712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nombre de commandes pour un produit donné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8640" y="2916936"/>
            <a:ext cx="5760720" cy="640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1520" y="2916936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Par mois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0" y="2916936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chiffre d'affaires pour un mois AAAA-MM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3666744"/>
            <a:ext cx="5760720" cy="640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31520" y="3666744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Événement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86000" y="3666744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champ date_commande ajouté au message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8640" y="4416552"/>
            <a:ext cx="5760720" cy="64008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31520" y="4416552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Service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6000" y="4416552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Flask :5003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75120" y="1417320"/>
            <a:ext cx="4937760" cy="23317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2" name="Rounded Rectangle 91"/>
          <p:cNvSpPr/>
          <p:nvPr/>
        </p:nvSpPr>
        <p:spPr>
          <a:xfrm>
            <a:off x="6675120" y="3931920"/>
            <a:ext cx="4877972" cy="23317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3" name="TextBox 92"/>
          <p:cNvSpPr txBox="1"/>
          <p:nvPr/>
        </p:nvSpPr>
        <p:spPr>
          <a:xfrm>
            <a:off x="6903720" y="4041648"/>
            <a:ext cx="4480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sz="1400" b="1" i="0" dirty="0">
                <a:solidFill>
                  <a:schemeClr val="accent1"/>
                </a:solidFill>
                <a:latin typeface="Calibri"/>
              </a:rPr>
              <a:t>Résultats</a:t>
            </a:r>
            <a:endParaRPr sz="1400" b="1" i="0" dirty="0">
              <a:solidFill>
                <a:schemeClr val="accent1"/>
              </a:solidFill>
              <a:latin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8640" y="5349240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Le mois est extrait de date_commande : 2026-10-10… devient 2026-10.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287373B-3C52-1604-1D74-94FB961EE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35123"/>
            <a:ext cx="4366574" cy="65778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81E1A9D-6DAC-7503-D40F-6766B67E1F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961"/>
          <a:stretch>
            <a:fillRect/>
          </a:stretch>
        </p:blipFill>
        <p:spPr>
          <a:xfrm>
            <a:off x="6903720" y="2880761"/>
            <a:ext cx="4366574" cy="7606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3C60DC6-E639-D25F-5963-5CF1C8C575A7}"/>
              </a:ext>
            </a:extLst>
          </p:cNvPr>
          <p:cNvSpPr txBox="1"/>
          <p:nvPr/>
        </p:nvSpPr>
        <p:spPr>
          <a:xfrm>
            <a:off x="6615332" y="1462168"/>
            <a:ext cx="4937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1"/>
                </a:solidFill>
                <a:latin typeface="Calibri"/>
              </a:rPr>
              <a:t>Nombre de commandes par produits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4786CDB-F895-D077-5AFF-34B3B7528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826" y="4462533"/>
            <a:ext cx="4732422" cy="159661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Groupes de consommateurs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21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548640" y="1417320"/>
            <a:ext cx="5440680" cy="3429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7240" y="1554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chemeClr val="accent1"/>
                </a:solidFill>
                <a:latin typeface="Calibri"/>
              </a:rPr>
              <a:t>Même groupe : groupe-A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72200" y="1417320"/>
            <a:ext cx="5440680" cy="3429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00800" y="1554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chemeClr val="accent1"/>
                </a:solidFill>
                <a:latin typeface="Calibri"/>
              </a:rPr>
              <a:t>Groupes différents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77240" y="2468880"/>
            <a:ext cx="1737360" cy="118872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68680" y="26517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dk1"/>
                </a:solidFill>
                <a:latin typeface="Calibri"/>
              </a:rPr>
              <a:t>commandes-creees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9640" y="3200400"/>
            <a:ext cx="1447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chemeClr val="dk1"/>
                </a:solidFill>
                <a:latin typeface="Calibri"/>
              </a:rPr>
              <a:t>3 partitions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46120" y="2011680"/>
            <a:ext cx="2514600" cy="2331720"/>
          </a:xfrm>
          <a:prstGeom prst="roundRect">
            <a:avLst>
              <a:gd name="adj" fmla="val 6000"/>
            </a:avLst>
          </a:prstGeom>
          <a:noFill/>
          <a:ln w="19050">
            <a:solidFill>
              <a:schemeClr val="accent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246120" y="205740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  <a:latin typeface="Calibri"/>
              </a:rPr>
              <a:t>groupe-A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383280" y="2423160"/>
            <a:ext cx="2240280" cy="73152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383280" y="242316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lt1"/>
                </a:solidFill>
                <a:latin typeface="Calibri"/>
              </a:rPr>
              <a:t>consommateur A1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383280" y="3291840"/>
            <a:ext cx="2240280" cy="73152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383280" y="329184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lt1"/>
                </a:solidFill>
                <a:latin typeface="Calibri"/>
              </a:rPr>
              <a:t>consommateur A2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2514600" y="2788920"/>
            <a:ext cx="868680" cy="27432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514600" y="3063240"/>
            <a:ext cx="868680" cy="59436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6400800" y="2468880"/>
            <a:ext cx="1737360" cy="118872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92240" y="265176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dk1"/>
                </a:solidFill>
                <a:latin typeface="Calibri"/>
              </a:rPr>
              <a:t>commandes-creees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15100" y="324612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chemeClr val="dk1"/>
                </a:solidFill>
                <a:latin typeface="Calibri"/>
              </a:rPr>
              <a:t>3 partitions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869680" y="2103120"/>
            <a:ext cx="2514600" cy="86868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869680" y="210312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lt1"/>
                </a:solidFill>
                <a:latin typeface="Calibri"/>
              </a:rPr>
              <a:t>clients-group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869680" y="3291840"/>
            <a:ext cx="2514600" cy="86868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869680" y="3291840"/>
            <a:ext cx="25146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lt1"/>
                </a:solidFill>
                <a:latin typeface="Calibri"/>
              </a:rPr>
              <a:t>statistiques-group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8138160" y="2560320"/>
            <a:ext cx="731520" cy="50292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138160" y="3063240"/>
            <a:ext cx="731520" cy="640080"/>
          </a:xfrm>
          <a:prstGeom prst="line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00100" y="4489147"/>
            <a:ext cx="49377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i="1" dirty="0">
                <a:solidFill>
                  <a:schemeClr val="dk1"/>
                </a:solidFill>
                <a:latin typeface="Calibri"/>
              </a:rPr>
              <a:t>Partitions </a:t>
            </a:r>
            <a:r>
              <a:rPr sz="1300" i="1" dirty="0" err="1">
                <a:solidFill>
                  <a:schemeClr val="dk1"/>
                </a:solidFill>
                <a:latin typeface="Calibri"/>
              </a:rPr>
              <a:t>réparties</a:t>
            </a:r>
            <a:r>
              <a:rPr sz="1300" i="1" dirty="0">
                <a:solidFill>
                  <a:schemeClr val="dk1"/>
                </a:solidFill>
                <a:latin typeface="Calibri"/>
              </a:rPr>
              <a:t> : un message </a:t>
            </a:r>
            <a:r>
              <a:rPr sz="1300" i="1" dirty="0" err="1">
                <a:solidFill>
                  <a:schemeClr val="dk1"/>
                </a:solidFill>
                <a:latin typeface="Calibri"/>
              </a:rPr>
              <a:t>n'est</a:t>
            </a:r>
            <a:r>
              <a:rPr sz="1300" i="1" dirty="0">
                <a:solidFill>
                  <a:schemeClr val="dk1"/>
                </a:solidFill>
                <a:latin typeface="Calibri"/>
              </a:rPr>
              <a:t> </a:t>
            </a:r>
            <a:r>
              <a:rPr sz="1300" i="1" dirty="0" err="1">
                <a:solidFill>
                  <a:schemeClr val="dk1"/>
                </a:solidFill>
                <a:latin typeface="Calibri"/>
              </a:rPr>
              <a:t>lu</a:t>
            </a:r>
            <a:r>
              <a:rPr sz="1300" i="1" dirty="0">
                <a:solidFill>
                  <a:schemeClr val="dk1"/>
                </a:solidFill>
                <a:latin typeface="Calibri"/>
              </a:rPr>
              <a:t> </a:t>
            </a:r>
            <a:r>
              <a:rPr sz="1300" i="1" dirty="0" err="1">
                <a:solidFill>
                  <a:schemeClr val="dk1"/>
                </a:solidFill>
                <a:latin typeface="Calibri"/>
              </a:rPr>
              <a:t>que</a:t>
            </a:r>
            <a:r>
              <a:rPr sz="1300" i="1" dirty="0">
                <a:solidFill>
                  <a:schemeClr val="dk1"/>
                </a:solidFill>
                <a:latin typeface="Calibri"/>
              </a:rPr>
              <a:t> par un seul </a:t>
            </a:r>
            <a:r>
              <a:rPr sz="1300" i="1" dirty="0" err="1">
                <a:solidFill>
                  <a:schemeClr val="dk1"/>
                </a:solidFill>
                <a:latin typeface="Calibri"/>
              </a:rPr>
              <a:t>consommateur</a:t>
            </a:r>
            <a:endParaRPr sz="1300" i="1" dirty="0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0" y="4389120"/>
            <a:ext cx="4983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i="1" dirty="0" err="1">
                <a:solidFill>
                  <a:schemeClr val="dk1"/>
                </a:solidFill>
                <a:latin typeface="Calibri"/>
              </a:rPr>
              <a:t>Chaque</a:t>
            </a:r>
            <a:r>
              <a:rPr sz="1300" i="1" dirty="0">
                <a:solidFill>
                  <a:schemeClr val="dk1"/>
                </a:solidFill>
                <a:latin typeface="Calibri"/>
              </a:rPr>
              <a:t> </a:t>
            </a:r>
            <a:r>
              <a:rPr sz="1300" i="1" dirty="0" err="1">
                <a:solidFill>
                  <a:schemeClr val="dk1"/>
                </a:solidFill>
                <a:latin typeface="Calibri"/>
              </a:rPr>
              <a:t>groupe</a:t>
            </a:r>
            <a:r>
              <a:rPr sz="1300" i="1" dirty="0">
                <a:solidFill>
                  <a:schemeClr val="dk1"/>
                </a:solidFill>
                <a:latin typeface="Calibri"/>
              </a:rPr>
              <a:t> </a:t>
            </a:r>
            <a:r>
              <a:rPr sz="1300" i="1" dirty="0" err="1">
                <a:solidFill>
                  <a:schemeClr val="dk1"/>
                </a:solidFill>
                <a:latin typeface="Calibri"/>
              </a:rPr>
              <a:t>reçoit</a:t>
            </a:r>
            <a:r>
              <a:rPr sz="1300" i="1" dirty="0">
                <a:solidFill>
                  <a:schemeClr val="dk1"/>
                </a:solidFill>
                <a:latin typeface="Calibri"/>
              </a:rPr>
              <a:t> </a:t>
            </a:r>
            <a:r>
              <a:rPr sz="1300" i="1" dirty="0" err="1">
                <a:solidFill>
                  <a:schemeClr val="dk1"/>
                </a:solidFill>
                <a:latin typeface="Calibri"/>
              </a:rPr>
              <a:t>tous</a:t>
            </a:r>
            <a:r>
              <a:rPr sz="1300" i="1" dirty="0">
                <a:solidFill>
                  <a:schemeClr val="dk1"/>
                </a:solidFill>
                <a:latin typeface="Calibri"/>
              </a:rPr>
              <a:t> les messages (diffusion)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Même groupe = partage du travail · Groupes différents = chaque service reçoit tout.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chemeClr val="dk1"/>
                </a:solidFill>
                <a:latin typeface="Calibri"/>
              </a:rPr>
              <a:t>Limite : au plus autant de consommateurs actifs par groupe que de partitions.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Bilan : REST ou Kafka ?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F1FC1C-B87B-4A49-B793-19617D3A39B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74" name="Table 73"/>
          <p:cNvGraphicFramePr>
            <a:graphicFrameLocks noGrp="1"/>
          </p:cNvGraphicFramePr>
          <p:nvPr/>
        </p:nvGraphicFramePr>
        <p:xfrm>
          <a:off x="548640" y="141732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endParaRPr/>
                    </a:p>
                  </a:txBody>
                  <a:tcPr marL="13716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lt1"/>
                          </a:solidFill>
                          <a:latin typeface="Calibri"/>
                        </a:rPr>
                        <a:t>TP1 · REST</a:t>
                      </a:r>
                    </a:p>
                  </a:txBody>
                  <a:tcPr marL="13716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lt1"/>
                          </a:solidFill>
                          <a:latin typeface="Calibri"/>
                        </a:rPr>
                        <a:t>TP2 · Kafka</a:t>
                      </a:r>
                    </a:p>
                  </a:txBody>
                  <a:tcPr marL="13716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  <a:latin typeface="Calibri"/>
                        </a:rPr>
                        <a:t>Couplage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dk1"/>
                          </a:solidFill>
                          <a:latin typeface="Calibri"/>
                        </a:rPr>
                        <a:t>commandes appelle clients directement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dk1"/>
                          </a:solidFill>
                          <a:latin typeface="Calibri"/>
                        </a:rPr>
                        <a:t>via le topic, commandes ignore ses consommateurs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  <a:latin typeface="Calibri"/>
                        </a:rPr>
                        <a:t>Panne de clients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dk1"/>
                          </a:solidFill>
                          <a:latin typeface="Calibri"/>
                        </a:rPr>
                        <a:t>l'appel échoue (503)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dk1"/>
                          </a:solidFill>
                          <a:latin typeface="Calibri"/>
                        </a:rPr>
                        <a:t>messages conservés puis rattrapés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  <a:latin typeface="Calibri"/>
                        </a:rPr>
                        <a:t>Nouveau service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dk1"/>
                          </a:solidFill>
                          <a:latin typeface="Calibri"/>
                        </a:rPr>
                        <a:t>modifier commandes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dk1"/>
                          </a:solidFill>
                          <a:latin typeface="Calibri"/>
                        </a:rPr>
                        <a:t>nouveau groupe, producteur inchangé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accent1"/>
                          </a:solidFill>
                          <a:latin typeface="Calibri"/>
                        </a:rPr>
                        <a:t>Réponse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dk1"/>
                          </a:solidFill>
                          <a:latin typeface="Calibri"/>
                        </a:rPr>
                        <a:t>immédiate (synchrone)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dk1"/>
                          </a:solidFill>
                          <a:latin typeface="Calibri"/>
                        </a:rPr>
                        <a:t>asynchrone, pas de réponse du consommateur</a:t>
                      </a:r>
                    </a:p>
                  </a:txBody>
                  <a:tcPr marL="13716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chemeClr val="accent1"/>
                </a:solidFill>
                <a:latin typeface="Calibri"/>
              </a:rPr>
              <a:t>Ce que Kafka apporte : découplage et résistance aux pannes, au prix d'une communication asynchrone.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Numéro de TP"/>
          <p:cNvSpPr/>
          <p:nvPr/>
        </p:nvSpPr>
        <p:spPr>
          <a:xfrm>
            <a:off x="731520" y="146304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strike="noStrike" spc="-1">
                <a:solidFill>
                  <a:schemeClr val="accent3"/>
                </a:solidFill>
                <a:latin typeface="Calibri"/>
              </a:rPr>
              <a:t>TP3</a:t>
            </a:r>
            <a:endParaRPr lang="en-US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2743200"/>
            <a:ext cx="10515240" cy="137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strike="noStrike" spc="-1">
                <a:solidFill>
                  <a:schemeClr val="lt1"/>
                </a:solidFill>
                <a:latin typeface="Cambria"/>
              </a:rPr>
              <a:t>Microservice de prédiction</a:t>
            </a:r>
            <a:endParaRPr lang="en-US" sz="4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4206240"/>
            <a:ext cx="1051524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lt2"/>
                </a:solidFill>
                <a:latin typeface="Calibri"/>
              </a:rPr>
              <a:t>Kafka + scikit-learn · passage à l'échelle · résilience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Ce client va-t-il commander ?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Caractéristique age"/>
          <p:cNvSpPr/>
          <p:nvPr/>
        </p:nvSpPr>
        <p:spPr>
          <a:xfrm>
            <a:off x="548640" y="141732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Nom age"/>
          <p:cNvSpPr/>
          <p:nvPr/>
        </p:nvSpPr>
        <p:spPr>
          <a:xfrm>
            <a:off x="731520" y="141732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age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ens age"/>
          <p:cNvSpPr/>
          <p:nvPr/>
        </p:nvSpPr>
        <p:spPr>
          <a:xfrm>
            <a:off x="4114800" y="141732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Âge du client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Caractéristique anciennete"/>
          <p:cNvSpPr/>
          <p:nvPr/>
        </p:nvSpPr>
        <p:spPr>
          <a:xfrm>
            <a:off x="548640" y="207576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Nom anciennete"/>
          <p:cNvSpPr/>
          <p:nvPr/>
        </p:nvSpPr>
        <p:spPr>
          <a:xfrm>
            <a:off x="731520" y="207576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anciennete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ens anciennete"/>
          <p:cNvSpPr/>
          <p:nvPr/>
        </p:nvSpPr>
        <p:spPr>
          <a:xfrm>
            <a:off x="4114800" y="207576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Ancienneté (années)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aractéristique nombre_commandes"/>
          <p:cNvSpPr/>
          <p:nvPr/>
        </p:nvSpPr>
        <p:spPr>
          <a:xfrm>
            <a:off x="548640" y="273420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Nom nombre_commandes"/>
          <p:cNvSpPr/>
          <p:nvPr/>
        </p:nvSpPr>
        <p:spPr>
          <a:xfrm>
            <a:off x="731520" y="273420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nombre_commandes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ens nombre_commandes"/>
          <p:cNvSpPr/>
          <p:nvPr/>
        </p:nvSpPr>
        <p:spPr>
          <a:xfrm>
            <a:off x="4114800" y="273420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Commandes passées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Caractéristique montant_total"/>
          <p:cNvSpPr/>
          <p:nvPr/>
        </p:nvSpPr>
        <p:spPr>
          <a:xfrm>
            <a:off x="548640" y="339228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Nom montant_total"/>
          <p:cNvSpPr/>
          <p:nvPr/>
        </p:nvSpPr>
        <p:spPr>
          <a:xfrm>
            <a:off x="731520" y="339228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montant_total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ens montant_total"/>
          <p:cNvSpPr/>
          <p:nvPr/>
        </p:nvSpPr>
        <p:spPr>
          <a:xfrm>
            <a:off x="4114800" y="339228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Somme dépensée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Caractéristique montant_moyen"/>
          <p:cNvSpPr/>
          <p:nvPr/>
        </p:nvSpPr>
        <p:spPr>
          <a:xfrm>
            <a:off x="548640" y="405072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Nom montant_moyen"/>
          <p:cNvSpPr/>
          <p:nvPr/>
        </p:nvSpPr>
        <p:spPr>
          <a:xfrm>
            <a:off x="731520" y="405072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montant_moyen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ens montant_moyen"/>
          <p:cNvSpPr/>
          <p:nvPr/>
        </p:nvSpPr>
        <p:spPr>
          <a:xfrm>
            <a:off x="4114800" y="405072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Panier moyen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aractéristique jours_depuis_derniere_commande"/>
          <p:cNvSpPr/>
          <p:nvPr/>
        </p:nvSpPr>
        <p:spPr>
          <a:xfrm>
            <a:off x="548640" y="4709160"/>
            <a:ext cx="5760360" cy="566640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Nom jours_depuis_derniere_commande"/>
          <p:cNvSpPr/>
          <p:nvPr/>
        </p:nvSpPr>
        <p:spPr>
          <a:xfrm>
            <a:off x="731520" y="4709160"/>
            <a:ext cx="33829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jours_depuis_derniere_commande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ens jours_depuis_derniere_commande"/>
          <p:cNvSpPr/>
          <p:nvPr/>
        </p:nvSpPr>
        <p:spPr>
          <a:xfrm>
            <a:off x="4114800" y="470916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Récence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récision"/>
          <p:cNvSpPr/>
          <p:nvPr/>
        </p:nvSpPr>
        <p:spPr>
          <a:xfrm>
            <a:off x="548640" y="5440680"/>
            <a:ext cx="57603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Classification binaire : classe 1 = commande, classe 0 = pas de commande. Le client_id identifie la demande mais n'est pas une caractéristique du modèle.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Carte entrée"/>
          <p:cNvSpPr/>
          <p:nvPr/>
        </p:nvSpPr>
        <p:spPr>
          <a:xfrm>
            <a:off x="6675120" y="1417320"/>
            <a:ext cx="4937400" cy="251424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itre entrée"/>
          <p:cNvSpPr/>
          <p:nvPr/>
        </p:nvSpPr>
        <p:spPr>
          <a:xfrm>
            <a:off x="6903720" y="15087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Entrée : événement Kafka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JSON entrée"/>
          <p:cNvSpPr/>
          <p:nvPr/>
        </p:nvSpPr>
        <p:spPr>
          <a:xfrm>
            <a:off x="6903720" y="1828800"/>
            <a:ext cx="457164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"client_id": 25,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"age": 32,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"anciennete": 3,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"nombre_commandes": 8,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"montant_total": 1250,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"montant_moyen": 156.25,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"jours_depuis_derniere_commande": 12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arte sortie"/>
          <p:cNvSpPr/>
          <p:nvPr/>
        </p:nvSpPr>
        <p:spPr>
          <a:xfrm>
            <a:off x="6675120" y="4114800"/>
            <a:ext cx="4937400" cy="173700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itre sortie"/>
          <p:cNvSpPr/>
          <p:nvPr/>
        </p:nvSpPr>
        <p:spPr>
          <a:xfrm>
            <a:off x="6903720" y="42062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Sortie : résultat obtenu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JSON sortie"/>
          <p:cNvSpPr/>
          <p:nvPr/>
        </p:nvSpPr>
        <p:spPr>
          <a:xfrm>
            <a:off x="6903720" y="4526280"/>
            <a:ext cx="45716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{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"client_id": 25,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"prediction": 1,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  "probabilite_commande": 0.65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}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8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6EDD31-02A1-4756-94EF-0058CF48CA7B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24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Apprentissage ≠ prédiction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05" name="Tableau apprentissage vs prédiction"/>
          <p:cNvGraphicFramePr/>
          <p:nvPr/>
        </p:nvGraphicFramePr>
        <p:xfrm>
          <a:off x="548640" y="1417320"/>
          <a:ext cx="11064240" cy="318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280">
                <a:tc>
                  <a:txBody>
                    <a:bodyPr/>
                    <a:lstStyle/>
                    <a:p>
                      <a:endParaRPr lang="en-US" sz="1600" b="0" strike="noStrike" spc="-1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Apprentissage (training)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Prédiction (inference)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Quand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Une fois, hors ligne, avant le déploiement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À chaque événement Kafka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Entrée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Données historiques avec la réponse connue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Les caractéristiques d'un client, réponse inconnue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Opération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model.fit(X, y) ajuste les paramètres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model.predict(X) et predict_proba(X)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Effet sur le modèle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Il est modifié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Il n'est pas modifié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2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Résultat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Un fichier modele_commande.pkl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Une prédiction et une probabilité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6" name="Carte chargement"/>
          <p:cNvSpPr/>
          <p:nvPr/>
        </p:nvSpPr>
        <p:spPr>
          <a:xfrm>
            <a:off x="548640" y="4937760"/>
            <a:ext cx="5440320" cy="12340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itre chargement"/>
          <p:cNvSpPr/>
          <p:nvPr/>
        </p:nvSpPr>
        <p:spPr>
          <a:xfrm>
            <a:off x="777240" y="50475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accent1"/>
                </a:solidFill>
                <a:latin typeface="Calibri"/>
              </a:rPr>
              <a:t>Chargé une seule fois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e chargement"/>
          <p:cNvSpPr/>
          <p:nvPr/>
        </p:nvSpPr>
        <p:spPr>
          <a:xfrm>
            <a:off x="777240" y="53766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Le microservice lit le .pkl au démarrage et réutilise le même objet pour tous les messages.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Carte précautions"/>
          <p:cNvSpPr/>
          <p:nvPr/>
        </p:nvSpPr>
        <p:spPr>
          <a:xfrm>
            <a:off x="6172200" y="4937760"/>
            <a:ext cx="5440320" cy="123408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itre précautions"/>
          <p:cNvSpPr/>
          <p:nvPr/>
        </p:nvSpPr>
        <p:spPr>
          <a:xfrm>
            <a:off x="6400800" y="50475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accent1"/>
                </a:solidFill>
                <a:latin typeface="Calibri"/>
              </a:rPr>
              <a:t>Deux précautions sur le .pkl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e précautions"/>
          <p:cNvSpPr/>
          <p:nvPr/>
        </p:nvSpPr>
        <p:spPr>
          <a:xfrm>
            <a:off x="6400800" y="5376600"/>
            <a:ext cx="50288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Même version de scikit-learn pour le relire. Ne jamais charger un pickle de source inconnue.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9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14CD4-C796-4021-844D-708024FA563B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25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Construction du modèle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Carte chiffre 1"/>
          <p:cNvSpPr/>
          <p:nvPr/>
        </p:nvSpPr>
        <p:spPr>
          <a:xfrm>
            <a:off x="548640" y="1417320"/>
            <a:ext cx="4023000" cy="141696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hiffre 1"/>
          <p:cNvSpPr/>
          <p:nvPr/>
        </p:nvSpPr>
        <p:spPr>
          <a:xfrm>
            <a:off x="777240" y="150876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chemeClr val="accent1"/>
                </a:solidFill>
                <a:latin typeface="Calibri"/>
              </a:rPr>
              <a:t>5 000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Libellé chiffre 1"/>
          <p:cNvSpPr/>
          <p:nvPr/>
        </p:nvSpPr>
        <p:spPr>
          <a:xfrm>
            <a:off x="777240" y="225864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clients synthétiques (80 % entraînement, 20 % test)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arte chiffre 2"/>
          <p:cNvSpPr/>
          <p:nvPr/>
        </p:nvSpPr>
        <p:spPr>
          <a:xfrm>
            <a:off x="548640" y="2971800"/>
            <a:ext cx="4023000" cy="141696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Chiffre 2"/>
          <p:cNvSpPr/>
          <p:nvPr/>
        </p:nvSpPr>
        <p:spPr>
          <a:xfrm>
            <a:off x="777240" y="306324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chemeClr val="accent1"/>
                </a:solidFill>
                <a:latin typeface="Calibri"/>
              </a:rPr>
              <a:t>100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Libellé chiffre 2"/>
          <p:cNvSpPr/>
          <p:nvPr/>
        </p:nvSpPr>
        <p:spPr>
          <a:xfrm>
            <a:off x="777240" y="381312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arbres, profondeur maximale 8 : Random Forest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Carte chiffre 3"/>
          <p:cNvSpPr/>
          <p:nvPr/>
        </p:nvSpPr>
        <p:spPr>
          <a:xfrm>
            <a:off x="548640" y="4526280"/>
            <a:ext cx="4023000" cy="141696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Chiffre 3"/>
          <p:cNvSpPr/>
          <p:nvPr/>
        </p:nvSpPr>
        <p:spPr>
          <a:xfrm>
            <a:off x="777240" y="4617720"/>
            <a:ext cx="3565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chemeClr val="accent2"/>
                </a:solidFill>
                <a:latin typeface="Calibri"/>
              </a:rPr>
              <a:t>73,6 %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Libellé chiffre 3"/>
          <p:cNvSpPr/>
          <p:nvPr/>
        </p:nvSpPr>
        <p:spPr>
          <a:xfrm>
            <a:off x="777240" y="536760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d'accuracy sur le jeu de test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Légende"/>
          <p:cNvSpPr/>
          <p:nvPr/>
        </p:nvSpPr>
        <p:spPr>
          <a:xfrm>
            <a:off x="4937760" y="1371600"/>
            <a:ext cx="6674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Entraînement dans un conteneur Python 3.12, versions épinglées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Capture entraînement cadre"/>
          <p:cNvSpPr/>
          <p:nvPr/>
        </p:nvSpPr>
        <p:spPr>
          <a:xfrm>
            <a:off x="4937760" y="1691640"/>
            <a:ext cx="6711480" cy="1118880"/>
          </a:xfrm>
          <a:prstGeom prst="roundRect">
            <a:avLst>
              <a:gd name="adj" fmla="val 4902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Capture entraînement" descr="Capture entraînement"/>
          <p:cNvPicPr/>
          <p:nvPr/>
        </p:nvPicPr>
        <p:blipFill>
          <a:blip r:embed="rId3"/>
          <a:stretch/>
        </p:blipFill>
        <p:spPr>
          <a:xfrm>
            <a:off x="5001840" y="1755720"/>
            <a:ext cx="6583320" cy="990720"/>
          </a:xfrm>
          <a:prstGeom prst="rect">
            <a:avLst/>
          </a:prstGeom>
          <a:ln w="0">
            <a:noFill/>
          </a:ln>
        </p:spPr>
      </p:pic>
      <p:sp>
        <p:nvSpPr>
          <p:cNvPr id="126" name="Légende"/>
          <p:cNvSpPr/>
          <p:nvPr/>
        </p:nvSpPr>
        <p:spPr>
          <a:xfrm>
            <a:off x="4937760" y="32461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Fichier produit dans prediction/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Capture dossier prediction cadre"/>
          <p:cNvSpPr/>
          <p:nvPr/>
        </p:nvSpPr>
        <p:spPr>
          <a:xfrm>
            <a:off x="4937760" y="3566160"/>
            <a:ext cx="2322360" cy="1144440"/>
          </a:xfrm>
          <a:prstGeom prst="roundRect">
            <a:avLst>
              <a:gd name="adj" fmla="val 4792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Capture dossier prediction" descr="Capture dossier prediction"/>
          <p:cNvPicPr/>
          <p:nvPr/>
        </p:nvPicPr>
        <p:blipFill>
          <a:blip r:embed="rId4"/>
          <a:stretch/>
        </p:blipFill>
        <p:spPr>
          <a:xfrm>
            <a:off x="5001840" y="3630240"/>
            <a:ext cx="2194200" cy="1016280"/>
          </a:xfrm>
          <a:prstGeom prst="rect">
            <a:avLst/>
          </a:prstGeom>
          <a:ln w="0">
            <a:noFill/>
          </a:ln>
        </p:spPr>
      </p:pic>
      <p:sp>
        <p:nvSpPr>
          <p:cNvPr id="129" name="Pourquoi Random Forest"/>
          <p:cNvSpPr/>
          <p:nvPr/>
        </p:nvSpPr>
        <p:spPr>
          <a:xfrm>
            <a:off x="7589520" y="3657600"/>
            <a:ext cx="40230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Random Forest : gère le non-linéaire, sans normalisation, avec predict_proba.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Carte limite"/>
          <p:cNvSpPr/>
          <p:nvPr/>
        </p:nvSpPr>
        <p:spPr>
          <a:xfrm>
            <a:off x="4937760" y="4983480"/>
            <a:ext cx="667476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e limite"/>
          <p:cNvSpPr/>
          <p:nvPr/>
        </p:nvSpPr>
        <p:spPr>
          <a:xfrm>
            <a:off x="5166360" y="5074920"/>
            <a:ext cx="621756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Limite : les données sont synthétiques. L'accuracy valide la chaîne technique, pas le comportement de vrais clients.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10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EE5EE1-4298-4801-AE3E-638A59A5D1A7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26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Architecture : deux topics, K instances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Nœud utilisateur"/>
          <p:cNvSpPr/>
          <p:nvPr/>
        </p:nvSpPr>
        <p:spPr>
          <a:xfrm>
            <a:off x="457200" y="2148840"/>
            <a:ext cx="155412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Nœud utilisateur titre"/>
          <p:cNvSpPr/>
          <p:nvPr/>
        </p:nvSpPr>
        <p:spPr>
          <a:xfrm>
            <a:off x="548640" y="233172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dk1"/>
                </a:solidFill>
                <a:latin typeface="Calibri"/>
              </a:rPr>
              <a:t>Utilisateur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Nœud utilisateur détail"/>
          <p:cNvSpPr/>
          <p:nvPr/>
        </p:nvSpPr>
        <p:spPr>
          <a:xfrm>
            <a:off x="548640" y="27432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</a:rPr>
              <a:t>ou générateur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Nœud commandes"/>
          <p:cNvSpPr/>
          <p:nvPr/>
        </p:nvSpPr>
        <p:spPr>
          <a:xfrm>
            <a:off x="2423160" y="2148840"/>
            <a:ext cx="1645560" cy="118836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Nœud commandes titre"/>
          <p:cNvSpPr/>
          <p:nvPr/>
        </p:nvSpPr>
        <p:spPr>
          <a:xfrm>
            <a:off x="2514600" y="23317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lt1"/>
                </a:solidFill>
                <a:latin typeface="Calibri"/>
              </a:rPr>
              <a:t>commandes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Nœud commandes détail"/>
          <p:cNvSpPr/>
          <p:nvPr/>
        </p:nvSpPr>
        <p:spPr>
          <a:xfrm>
            <a:off x="2514600" y="2743200"/>
            <a:ext cx="1462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API Flask :8081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Nœud topic demandes"/>
          <p:cNvSpPr/>
          <p:nvPr/>
        </p:nvSpPr>
        <p:spPr>
          <a:xfrm>
            <a:off x="4480560" y="2148840"/>
            <a:ext cx="2011320" cy="118836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Nœud topic demandes titre"/>
          <p:cNvSpPr/>
          <p:nvPr/>
        </p:nvSpPr>
        <p:spPr>
          <a:xfrm>
            <a:off x="457200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dk1"/>
                </a:solidFill>
                <a:latin typeface="Calibri"/>
              </a:rPr>
              <a:t>demandes-prediction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Nœud topic demandes détail"/>
          <p:cNvSpPr/>
          <p:nvPr/>
        </p:nvSpPr>
        <p:spPr>
          <a:xfrm>
            <a:off x="4572000" y="2743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</a:rPr>
              <a:t>6 partitions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adre groupe prediction"/>
          <p:cNvSpPr/>
          <p:nvPr/>
        </p:nvSpPr>
        <p:spPr>
          <a:xfrm>
            <a:off x="6949440" y="1463040"/>
            <a:ext cx="2194200" cy="25599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0F4C5C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Nom du groupe"/>
          <p:cNvSpPr/>
          <p:nvPr/>
        </p:nvSpPr>
        <p:spPr>
          <a:xfrm>
            <a:off x="6949440" y="153612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prediction-group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Instance 1"/>
          <p:cNvSpPr/>
          <p:nvPr/>
        </p:nvSpPr>
        <p:spPr>
          <a:xfrm>
            <a:off x="7132320" y="1874520"/>
            <a:ext cx="1828440" cy="548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lt1"/>
                </a:solidFill>
                <a:latin typeface="Calibri"/>
              </a:rPr>
              <a:t>prediction #1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Instance 2"/>
          <p:cNvSpPr/>
          <p:nvPr/>
        </p:nvSpPr>
        <p:spPr>
          <a:xfrm>
            <a:off x="7132320" y="2560320"/>
            <a:ext cx="1828440" cy="548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lt1"/>
                </a:solidFill>
                <a:latin typeface="Calibri"/>
              </a:rPr>
              <a:t>prediction #2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Instance 3"/>
          <p:cNvSpPr/>
          <p:nvPr/>
        </p:nvSpPr>
        <p:spPr>
          <a:xfrm>
            <a:off x="7132320" y="3246120"/>
            <a:ext cx="1828440" cy="548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lt1"/>
                </a:solidFill>
                <a:latin typeface="Calibri"/>
              </a:rPr>
              <a:t>prediction #K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Nœud topic résultats"/>
          <p:cNvSpPr/>
          <p:nvPr/>
        </p:nvSpPr>
        <p:spPr>
          <a:xfrm>
            <a:off x="9601200" y="2148840"/>
            <a:ext cx="2011320" cy="1188360"/>
          </a:xfrm>
          <a:prstGeom prst="roundRect">
            <a:avLst>
              <a:gd name="adj" fmla="val 9231"/>
            </a:avLst>
          </a:prstGeom>
          <a:solidFill>
            <a:schemeClr val="accent3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Nœud topic résultats titre"/>
          <p:cNvSpPr/>
          <p:nvPr/>
        </p:nvSpPr>
        <p:spPr>
          <a:xfrm>
            <a:off x="9692640" y="23317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dk1"/>
                </a:solidFill>
                <a:latin typeface="Calibri"/>
              </a:rPr>
              <a:t>resultats-prediction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Nœud topic résultats détail"/>
          <p:cNvSpPr/>
          <p:nvPr/>
        </p:nvSpPr>
        <p:spPr>
          <a:xfrm>
            <a:off x="9692640" y="2743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/>
                </a:solidFill>
                <a:latin typeface="Calibri"/>
              </a:rPr>
              <a:t>2 partitions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Flèche"/>
          <p:cNvSpPr/>
          <p:nvPr/>
        </p:nvSpPr>
        <p:spPr>
          <a:xfrm>
            <a:off x="2011680" y="2743200"/>
            <a:ext cx="411480" cy="360"/>
          </a:xfrm>
          <a:prstGeom prst="line">
            <a:avLst/>
          </a:prstGeom>
          <a:ln w="25400">
            <a:solidFill>
              <a:srgbClr val="1020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Flèche"/>
          <p:cNvSpPr/>
          <p:nvPr/>
        </p:nvSpPr>
        <p:spPr>
          <a:xfrm>
            <a:off x="4069080" y="2743200"/>
            <a:ext cx="411480" cy="360"/>
          </a:xfrm>
          <a:prstGeom prst="line">
            <a:avLst/>
          </a:prstGeom>
          <a:ln w="25400">
            <a:solidFill>
              <a:srgbClr val="1020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Flèche"/>
          <p:cNvSpPr/>
          <p:nvPr/>
        </p:nvSpPr>
        <p:spPr>
          <a:xfrm>
            <a:off x="6492240" y="2743200"/>
            <a:ext cx="457200" cy="360"/>
          </a:xfrm>
          <a:prstGeom prst="line">
            <a:avLst/>
          </a:prstGeom>
          <a:ln w="25400">
            <a:solidFill>
              <a:srgbClr val="1020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Flèche"/>
          <p:cNvSpPr/>
          <p:nvPr/>
        </p:nvSpPr>
        <p:spPr>
          <a:xfrm>
            <a:off x="9144000" y="2743200"/>
            <a:ext cx="457200" cy="360"/>
          </a:xfrm>
          <a:prstGeom prst="line">
            <a:avLst/>
          </a:prstGeom>
          <a:ln w="25400">
            <a:solidFill>
              <a:srgbClr val="1020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Flèche"/>
          <p:cNvSpPr/>
          <p:nvPr/>
        </p:nvSpPr>
        <p:spPr>
          <a:xfrm>
            <a:off x="10607040" y="3337560"/>
            <a:ext cx="360" cy="1234440"/>
          </a:xfrm>
          <a:prstGeom prst="line">
            <a:avLst/>
          </a:prstGeom>
          <a:ln w="25400">
            <a:solidFill>
              <a:srgbClr val="102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Flèche"/>
          <p:cNvSpPr/>
          <p:nvPr/>
        </p:nvSpPr>
        <p:spPr>
          <a:xfrm>
            <a:off x="3246120" y="4572000"/>
            <a:ext cx="7360920" cy="360"/>
          </a:xfrm>
          <a:prstGeom prst="line">
            <a:avLst/>
          </a:prstGeom>
          <a:ln w="25400">
            <a:solidFill>
              <a:srgbClr val="1020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Flèche retour"/>
          <p:cNvSpPr/>
          <p:nvPr/>
        </p:nvSpPr>
        <p:spPr>
          <a:xfrm flipV="1">
            <a:off x="3246120" y="3337560"/>
            <a:ext cx="360" cy="1234440"/>
          </a:xfrm>
          <a:prstGeom prst="line">
            <a:avLst/>
          </a:prstGeom>
          <a:ln w="25400">
            <a:solidFill>
              <a:srgbClr val="10202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Badge flèche 1"/>
          <p:cNvSpPr/>
          <p:nvPr/>
        </p:nvSpPr>
        <p:spPr>
          <a:xfrm>
            <a:off x="2011680" y="23590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1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Badge flèche 2"/>
          <p:cNvSpPr/>
          <p:nvPr/>
        </p:nvSpPr>
        <p:spPr>
          <a:xfrm>
            <a:off x="4069080" y="23590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2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Badge flèche 3"/>
          <p:cNvSpPr/>
          <p:nvPr/>
        </p:nvSpPr>
        <p:spPr>
          <a:xfrm>
            <a:off x="6556320" y="23590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Badge flèche 4"/>
          <p:cNvSpPr/>
          <p:nvPr/>
        </p:nvSpPr>
        <p:spPr>
          <a:xfrm>
            <a:off x="9235440" y="23590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4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Badge flèche 5"/>
          <p:cNvSpPr/>
          <p:nvPr/>
        </p:nvSpPr>
        <p:spPr>
          <a:xfrm>
            <a:off x="6766560" y="442584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5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Légende badge 1"/>
          <p:cNvSpPr/>
          <p:nvPr/>
        </p:nvSpPr>
        <p:spPr>
          <a:xfrm>
            <a:off x="548640" y="49744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1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Légende 1"/>
          <p:cNvSpPr/>
          <p:nvPr/>
        </p:nvSpPr>
        <p:spPr>
          <a:xfrm>
            <a:off x="960120" y="49377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POST /predictions : réponse 202 Accepted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Légende badge 2"/>
          <p:cNvSpPr/>
          <p:nvPr/>
        </p:nvSpPr>
        <p:spPr>
          <a:xfrm>
            <a:off x="548640" y="54316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2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Légende 2"/>
          <p:cNvSpPr/>
          <p:nvPr/>
        </p:nvSpPr>
        <p:spPr>
          <a:xfrm>
            <a:off x="960120" y="53949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Publie la demande, clé = client_id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Légende badge 3"/>
          <p:cNvSpPr/>
          <p:nvPr/>
        </p:nvSpPr>
        <p:spPr>
          <a:xfrm>
            <a:off x="548640" y="58888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Légende 3"/>
          <p:cNvSpPr/>
          <p:nvPr/>
        </p:nvSpPr>
        <p:spPr>
          <a:xfrm>
            <a:off x="960120" y="58521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Chaque partition est lue par une seule instance du groupe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Légende badge 4"/>
          <p:cNvSpPr/>
          <p:nvPr/>
        </p:nvSpPr>
        <p:spPr>
          <a:xfrm>
            <a:off x="6309360" y="49744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4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Légende 4"/>
          <p:cNvSpPr/>
          <p:nvPr/>
        </p:nvSpPr>
        <p:spPr>
          <a:xfrm>
            <a:off x="6720840" y="49377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Publie le résultat (avec le champ instance)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Légende badge 5"/>
          <p:cNvSpPr/>
          <p:nvPr/>
        </p:nvSpPr>
        <p:spPr>
          <a:xfrm>
            <a:off x="6309360" y="5431680"/>
            <a:ext cx="292320" cy="2923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5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Légende 5"/>
          <p:cNvSpPr/>
          <p:nvPr/>
        </p:nvSpPr>
        <p:spPr>
          <a:xfrm>
            <a:off x="6720840" y="53949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commandes consomme et affiche le résultat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Note partitions"/>
          <p:cNvSpPr/>
          <p:nvPr/>
        </p:nvSpPr>
        <p:spPr>
          <a:xfrm>
            <a:off x="6309360" y="585216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6 partitions : jusqu'à 6 instances actives en parallèle.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11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08A7BF-2C43-4BA5-BE7B-16CD34C99012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27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Le microservice de prédiction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6" name="Carte étape 1"/>
          <p:cNvSpPr/>
          <p:nvPr/>
        </p:nvSpPr>
        <p:spPr>
          <a:xfrm>
            <a:off x="548640" y="141732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Badge 1"/>
          <p:cNvSpPr/>
          <p:nvPr/>
        </p:nvSpPr>
        <p:spPr>
          <a:xfrm>
            <a:off x="777240" y="164592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itre étape 1"/>
          <p:cNvSpPr/>
          <p:nvPr/>
        </p:nvSpPr>
        <p:spPr>
          <a:xfrm>
            <a:off x="1417320" y="16459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Charger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e étape 1"/>
          <p:cNvSpPr/>
          <p:nvPr/>
        </p:nvSpPr>
        <p:spPr>
          <a:xfrm>
            <a:off x="777240" y="228600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joblib.load(modele_commande.pkl), une seule fois au démarrage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Carte étape 2"/>
          <p:cNvSpPr/>
          <p:nvPr/>
        </p:nvSpPr>
        <p:spPr>
          <a:xfrm>
            <a:off x="4320720" y="141732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Badge 2"/>
          <p:cNvSpPr/>
          <p:nvPr/>
        </p:nvSpPr>
        <p:spPr>
          <a:xfrm>
            <a:off x="4549320" y="164592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itre étape 2"/>
          <p:cNvSpPr/>
          <p:nvPr/>
        </p:nvSpPr>
        <p:spPr>
          <a:xfrm>
            <a:off x="5189400" y="16459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Consommer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e étape 2"/>
          <p:cNvSpPr/>
          <p:nvPr/>
        </p:nvSpPr>
        <p:spPr>
          <a:xfrm>
            <a:off x="4549320" y="228600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KafkaConsumer sur demandes-prediction, group_id = prediction-group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Carte étape 3"/>
          <p:cNvSpPr/>
          <p:nvPr/>
        </p:nvSpPr>
        <p:spPr>
          <a:xfrm>
            <a:off x="8092440" y="141732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Badge 3"/>
          <p:cNvSpPr/>
          <p:nvPr/>
        </p:nvSpPr>
        <p:spPr>
          <a:xfrm>
            <a:off x="8321040" y="164592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itre étape 3"/>
          <p:cNvSpPr/>
          <p:nvPr/>
        </p:nvSpPr>
        <p:spPr>
          <a:xfrm>
            <a:off x="8961120" y="164592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Construire X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e étape 3"/>
          <p:cNvSpPr/>
          <p:nvPr/>
        </p:nvSpPr>
        <p:spPr>
          <a:xfrm>
            <a:off x="8321040" y="228600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DataFrame avec les mêmes colonnes et le même ordre qu'à l'entraînement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Carte étape 4"/>
          <p:cNvSpPr/>
          <p:nvPr/>
        </p:nvSpPr>
        <p:spPr>
          <a:xfrm>
            <a:off x="548640" y="352044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Badge 4"/>
          <p:cNvSpPr/>
          <p:nvPr/>
        </p:nvSpPr>
        <p:spPr>
          <a:xfrm>
            <a:off x="777240" y="37490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4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itre étape 4"/>
          <p:cNvSpPr/>
          <p:nvPr/>
        </p:nvSpPr>
        <p:spPr>
          <a:xfrm>
            <a:off x="1417320" y="37490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Prédire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e étape 4"/>
          <p:cNvSpPr/>
          <p:nvPr/>
        </p:nvSpPr>
        <p:spPr>
          <a:xfrm>
            <a:off x="777240" y="438912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predict(X)[0] et predict_proba(X)[0][1], la probabilité de la classe 1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Carte étape 5"/>
          <p:cNvSpPr/>
          <p:nvPr/>
        </p:nvSpPr>
        <p:spPr>
          <a:xfrm>
            <a:off x="4320720" y="352044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Badge 5"/>
          <p:cNvSpPr/>
          <p:nvPr/>
        </p:nvSpPr>
        <p:spPr>
          <a:xfrm>
            <a:off x="4549320" y="37490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5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itre étape 5"/>
          <p:cNvSpPr/>
          <p:nvPr/>
        </p:nvSpPr>
        <p:spPr>
          <a:xfrm>
            <a:off x="5189400" y="37490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Publier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e étape 5"/>
          <p:cNvSpPr/>
          <p:nvPr/>
        </p:nvSpPr>
        <p:spPr>
          <a:xfrm>
            <a:off x="4549320" y="438912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int(prediction) et float(probabilite) vers resultats-prediction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Carte étape 6"/>
          <p:cNvSpPr/>
          <p:nvPr/>
        </p:nvSpPr>
        <p:spPr>
          <a:xfrm>
            <a:off x="8092440" y="3520440"/>
            <a:ext cx="3520080" cy="1919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Badge 6"/>
          <p:cNvSpPr/>
          <p:nvPr/>
        </p:nvSpPr>
        <p:spPr>
          <a:xfrm>
            <a:off x="8321040" y="37490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6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itre étape 6"/>
          <p:cNvSpPr/>
          <p:nvPr/>
        </p:nvSpPr>
        <p:spPr>
          <a:xfrm>
            <a:off x="8961120" y="37490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Valider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e étape 6"/>
          <p:cNvSpPr/>
          <p:nvPr/>
        </p:nvSpPr>
        <p:spPr>
          <a:xfrm>
            <a:off x="8321040" y="438912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Commit manuel après traitement : au moins une fois, jamais de perte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Note messages invalides"/>
          <p:cNvSpPr/>
          <p:nvPr/>
        </p:nvSpPr>
        <p:spPr>
          <a:xfrm>
            <a:off x="548640" y="571500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Un message invalide (champ manquant, mauvais type) est ignoré avec un log, sans bloquer la partition.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sldNum" idx="12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50458C-FA52-4BE1-8108-BB0463A63B9B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28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Infrastructure : topics et conteneurs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" name="Carte partitions"/>
          <p:cNvSpPr/>
          <p:nvPr/>
        </p:nvSpPr>
        <p:spPr>
          <a:xfrm>
            <a:off x="548640" y="1691640"/>
            <a:ext cx="3291480" cy="155412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itre partitions"/>
          <p:cNvSpPr/>
          <p:nvPr/>
        </p:nvSpPr>
        <p:spPr>
          <a:xfrm>
            <a:off x="777240" y="17830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accent1"/>
                </a:solidFill>
                <a:latin typeface="Calibri"/>
              </a:rPr>
              <a:t>6 partitions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e partitions"/>
          <p:cNvSpPr/>
          <p:nvPr/>
        </p:nvSpPr>
        <p:spPr>
          <a:xfrm>
            <a:off x="777240" y="228600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Facteur de réplication 1. Jusqu'à 6 instances de prediction travaillent en parallèle.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Carte conteneurs"/>
          <p:cNvSpPr/>
          <p:nvPr/>
        </p:nvSpPr>
        <p:spPr>
          <a:xfrm>
            <a:off x="548640" y="3520440"/>
            <a:ext cx="3291480" cy="18284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itre conteneurs"/>
          <p:cNvSpPr/>
          <p:nvPr/>
        </p:nvSpPr>
        <p:spPr>
          <a:xfrm>
            <a:off x="777240" y="36118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chemeClr val="accent1"/>
                </a:solidFill>
                <a:latin typeface="Calibri"/>
              </a:rPr>
              <a:t>6 conteneurs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e conteneurs"/>
          <p:cNvSpPr/>
          <p:nvPr/>
        </p:nvSpPr>
        <p:spPr>
          <a:xfrm>
            <a:off x="777240" y="4114800"/>
            <a:ext cx="283428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kafka, clients, commandes, statistiques et 2 instances de prediction (K = 2 par défaut).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Badge capture topic"/>
          <p:cNvSpPr/>
          <p:nvPr/>
        </p:nvSpPr>
        <p:spPr>
          <a:xfrm>
            <a:off x="4206240" y="1389960"/>
            <a:ext cx="310680" cy="3106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1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Légende topic"/>
          <p:cNvSpPr/>
          <p:nvPr/>
        </p:nvSpPr>
        <p:spPr>
          <a:xfrm>
            <a:off x="4617720" y="1371600"/>
            <a:ext cx="694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kafka-topics.sh --describe --topic demandes-prediction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Capture topic demandes-prediction cadre"/>
          <p:cNvSpPr/>
          <p:nvPr/>
        </p:nvSpPr>
        <p:spPr>
          <a:xfrm>
            <a:off x="4206240" y="1764720"/>
            <a:ext cx="7443000" cy="1204200"/>
          </a:xfrm>
          <a:prstGeom prst="roundRect">
            <a:avLst>
              <a:gd name="adj" fmla="val 4555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Capture topic demandes-prediction" descr="Capture topic demandes-prediction"/>
          <p:cNvPicPr/>
          <p:nvPr/>
        </p:nvPicPr>
        <p:blipFill>
          <a:blip r:embed="rId3"/>
          <a:stretch/>
        </p:blipFill>
        <p:spPr>
          <a:xfrm>
            <a:off x="4270320" y="1828800"/>
            <a:ext cx="7314840" cy="1076040"/>
          </a:xfrm>
          <a:prstGeom prst="rect">
            <a:avLst/>
          </a:prstGeom>
          <a:ln w="0">
            <a:noFill/>
          </a:ln>
        </p:spPr>
      </p:pic>
      <p:sp>
        <p:nvSpPr>
          <p:cNvPr id="213" name="Badge capture ps"/>
          <p:cNvSpPr/>
          <p:nvPr/>
        </p:nvSpPr>
        <p:spPr>
          <a:xfrm>
            <a:off x="4206240" y="3520440"/>
            <a:ext cx="310680" cy="31068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chemeClr val="lt1"/>
                </a:solidFill>
                <a:latin typeface="Calibri"/>
              </a:rPr>
              <a:t>2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Légende ps"/>
          <p:cNvSpPr/>
          <p:nvPr/>
        </p:nvSpPr>
        <p:spPr>
          <a:xfrm>
            <a:off x="4617720" y="3502080"/>
            <a:ext cx="694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docker compose ps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Capture docker compose ps cadre"/>
          <p:cNvSpPr/>
          <p:nvPr/>
        </p:nvSpPr>
        <p:spPr>
          <a:xfrm>
            <a:off x="4206240" y="3913560"/>
            <a:ext cx="7443000" cy="190620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6" name="Capture docker compose ps" descr="Capture docker compose ps"/>
          <p:cNvPicPr/>
          <p:nvPr/>
        </p:nvPicPr>
        <p:blipFill>
          <a:blip r:embed="rId4"/>
          <a:stretch/>
        </p:blipFill>
        <p:spPr>
          <a:xfrm>
            <a:off x="4270320" y="3977640"/>
            <a:ext cx="7314840" cy="1778400"/>
          </a:xfrm>
          <a:prstGeom prst="rect">
            <a:avLst/>
          </a:prstGeom>
          <a:ln w="0">
            <a:noFill/>
          </a:ln>
        </p:spPr>
      </p:pic>
      <p:sp>
        <p:nvSpPr>
          <p:cNvPr id="217" name="PlaceHolder 2"/>
          <p:cNvSpPr>
            <a:spLocks noGrp="1"/>
          </p:cNvSpPr>
          <p:nvPr>
            <p:ph type="sldNum" idx="13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E96FB-DACC-4A33-BC8A-AFD2B66BD043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29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Une prédiction de bout en bout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9" name="Badge 1"/>
          <p:cNvSpPr/>
          <p:nvPr/>
        </p:nvSpPr>
        <p:spPr>
          <a:xfrm>
            <a:off x="548640" y="14630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itre étape 1"/>
          <p:cNvSpPr/>
          <p:nvPr/>
        </p:nvSpPr>
        <p:spPr>
          <a:xfrm>
            <a:off x="1188720" y="14446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Demande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e étape 1"/>
          <p:cNvSpPr/>
          <p:nvPr/>
        </p:nvSpPr>
        <p:spPr>
          <a:xfrm>
            <a:off x="1188720" y="179208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POST /predictions, réponse 202 Accepted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Capture étape 1 cadre"/>
          <p:cNvSpPr/>
          <p:nvPr/>
        </p:nvSpPr>
        <p:spPr>
          <a:xfrm>
            <a:off x="3959280" y="1444680"/>
            <a:ext cx="7717320" cy="74016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Capture étape 1" descr="Capture étape 1"/>
          <p:cNvPicPr/>
          <p:nvPr/>
        </p:nvPicPr>
        <p:blipFill>
          <a:blip r:embed="rId3"/>
          <a:stretch/>
        </p:blipFill>
        <p:spPr>
          <a:xfrm>
            <a:off x="4023360" y="1508760"/>
            <a:ext cx="7589160" cy="612360"/>
          </a:xfrm>
          <a:prstGeom prst="rect">
            <a:avLst/>
          </a:prstGeom>
          <a:ln w="0">
            <a:noFill/>
          </a:ln>
        </p:spPr>
      </p:pic>
      <p:sp>
        <p:nvSpPr>
          <p:cNvPr id="224" name="Badge 2"/>
          <p:cNvSpPr/>
          <p:nvPr/>
        </p:nvSpPr>
        <p:spPr>
          <a:xfrm>
            <a:off x="548640" y="265176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itre étape 2"/>
          <p:cNvSpPr/>
          <p:nvPr/>
        </p:nvSpPr>
        <p:spPr>
          <a:xfrm>
            <a:off x="1188720" y="263340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Prédiction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e étape 2"/>
          <p:cNvSpPr/>
          <p:nvPr/>
        </p:nvSpPr>
        <p:spPr>
          <a:xfrm>
            <a:off x="1188720" y="298080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Une instance de prediction traite la demande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Capture étape 2 cadre"/>
          <p:cNvSpPr/>
          <p:nvPr/>
        </p:nvSpPr>
        <p:spPr>
          <a:xfrm>
            <a:off x="3959280" y="2633400"/>
            <a:ext cx="7717320" cy="1001520"/>
          </a:xfrm>
          <a:prstGeom prst="roundRect">
            <a:avLst>
              <a:gd name="adj" fmla="val 5477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Capture étape 2" descr="Capture étape 2"/>
          <p:cNvPicPr/>
          <p:nvPr/>
        </p:nvPicPr>
        <p:blipFill>
          <a:blip r:embed="rId4"/>
          <a:stretch/>
        </p:blipFill>
        <p:spPr>
          <a:xfrm>
            <a:off x="4023360" y="2697480"/>
            <a:ext cx="7589160" cy="873360"/>
          </a:xfrm>
          <a:prstGeom prst="rect">
            <a:avLst/>
          </a:prstGeom>
          <a:ln w="0">
            <a:noFill/>
          </a:ln>
        </p:spPr>
      </p:pic>
      <p:sp>
        <p:nvSpPr>
          <p:cNvPr id="229" name="Badge 3"/>
          <p:cNvSpPr/>
          <p:nvPr/>
        </p:nvSpPr>
        <p:spPr>
          <a:xfrm>
            <a:off x="548640" y="393192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lt1"/>
                </a:solidFill>
                <a:latin typeface="Calibri"/>
              </a:rPr>
              <a:t>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itre étape 3"/>
          <p:cNvSpPr/>
          <p:nvPr/>
        </p:nvSpPr>
        <p:spPr>
          <a:xfrm>
            <a:off x="1188720" y="391356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Résultat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e étape 3"/>
          <p:cNvSpPr/>
          <p:nvPr/>
        </p:nvSpPr>
        <p:spPr>
          <a:xfrm>
            <a:off x="1188720" y="426096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commandes reçoit le résultat via Kafka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Capture étape 3 cadre"/>
          <p:cNvSpPr/>
          <p:nvPr/>
        </p:nvSpPr>
        <p:spPr>
          <a:xfrm>
            <a:off x="3959280" y="3913560"/>
            <a:ext cx="7717320" cy="969480"/>
          </a:xfrm>
          <a:prstGeom prst="roundRect">
            <a:avLst>
              <a:gd name="adj" fmla="val 5658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Capture étape 3" descr="Capture étape 3"/>
          <p:cNvPicPr/>
          <p:nvPr/>
        </p:nvPicPr>
        <p:blipFill>
          <a:blip r:embed="rId5"/>
          <a:stretch/>
        </p:blipFill>
        <p:spPr>
          <a:xfrm>
            <a:off x="4023360" y="3977640"/>
            <a:ext cx="7589160" cy="841320"/>
          </a:xfrm>
          <a:prstGeom prst="rect">
            <a:avLst/>
          </a:prstGeom>
          <a:ln w="0">
            <a:noFill/>
          </a:ln>
        </p:spPr>
      </p:pic>
      <p:sp>
        <p:nvSpPr>
          <p:cNvPr id="234" name="Carte conclusion"/>
          <p:cNvSpPr/>
          <p:nvPr/>
        </p:nvSpPr>
        <p:spPr>
          <a:xfrm>
            <a:off x="548640" y="5074920"/>
            <a:ext cx="11063880" cy="10969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e conclusion"/>
          <p:cNvSpPr/>
          <p:nvPr/>
        </p:nvSpPr>
        <p:spPr>
          <a:xfrm>
            <a:off x="822960" y="516636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accent1"/>
                </a:solidFill>
                <a:latin typeface="Calibri"/>
              </a:rPr>
              <a:t>Client 25 : prédiction 1, probabilité 0,65, calculée par l'instance ab1338eba7ab. La boucle commandes → Kafka → prediction → Kafka → commandes est complète.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14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64656F-B932-4E1C-B890-46AF8C118390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30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Dockerisation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Carte Image légère"/>
          <p:cNvSpPr/>
          <p:nvPr/>
        </p:nvSpPr>
        <p:spPr>
          <a:xfrm>
            <a:off x="548640" y="1417320"/>
            <a:ext cx="448020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itre Image légère"/>
          <p:cNvSpPr/>
          <p:nvPr/>
        </p:nvSpPr>
        <p:spPr>
          <a:xfrm>
            <a:off x="777240" y="15087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accent1"/>
                </a:solidFill>
                <a:latin typeface="Calibri"/>
              </a:rPr>
              <a:t>Image légère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e Image légère"/>
          <p:cNvSpPr/>
          <p:nvPr/>
        </p:nvSpPr>
        <p:spPr>
          <a:xfrm>
            <a:off x="777240" y="187452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python:3.12-slim et dépendances épinglées (scikit-learn 1.5.2)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Carte Modèle embarqué"/>
          <p:cNvSpPr/>
          <p:nvPr/>
        </p:nvSpPr>
        <p:spPr>
          <a:xfrm>
            <a:off x="548640" y="2606040"/>
            <a:ext cx="448020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itre Modèle embarqué"/>
          <p:cNvSpPr/>
          <p:nvPr/>
        </p:nvSpPr>
        <p:spPr>
          <a:xfrm>
            <a:off x="777240" y="26974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accent1"/>
                </a:solidFill>
                <a:latin typeface="Calibri"/>
              </a:rPr>
              <a:t>Modèle embarqué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e Modèle embarqué"/>
          <p:cNvSpPr/>
          <p:nvPr/>
        </p:nvSpPr>
        <p:spPr>
          <a:xfrm>
            <a:off x="777240" y="306324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Un autre modèle donne une autre image : version traçable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Carte Aucun port exposé"/>
          <p:cNvSpPr/>
          <p:nvPr/>
        </p:nvSpPr>
        <p:spPr>
          <a:xfrm>
            <a:off x="548640" y="3794760"/>
            <a:ext cx="448020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itre Aucun port exposé"/>
          <p:cNvSpPr/>
          <p:nvPr/>
        </p:nvSpPr>
        <p:spPr>
          <a:xfrm>
            <a:off x="777240" y="38862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accent1"/>
                </a:solidFill>
                <a:latin typeface="Calibri"/>
              </a:rPr>
              <a:t>Aucun port exposé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e Aucun port exposé"/>
          <p:cNvSpPr/>
          <p:nvPr/>
        </p:nvSpPr>
        <p:spPr>
          <a:xfrm>
            <a:off x="777240" y="425196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Service 100 % Kafka, pas d'API REST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arte Pas de container_name"/>
          <p:cNvSpPr/>
          <p:nvPr/>
        </p:nvSpPr>
        <p:spPr>
          <a:xfrm>
            <a:off x="548640" y="4983480"/>
            <a:ext cx="4480200" cy="105120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itre Pas de container_name"/>
          <p:cNvSpPr/>
          <p:nvPr/>
        </p:nvSpPr>
        <p:spPr>
          <a:xfrm>
            <a:off x="777240" y="50749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accent1"/>
                </a:solidFill>
                <a:latin typeface="Calibri"/>
              </a:rPr>
              <a:t>Pas de container_name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e Pas de container_name"/>
          <p:cNvSpPr/>
          <p:nvPr/>
        </p:nvSpPr>
        <p:spPr>
          <a:xfrm>
            <a:off x="777240" y="544068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On peut lancer K copies du même service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Capture build prediction cadre"/>
          <p:cNvSpPr/>
          <p:nvPr/>
        </p:nvSpPr>
        <p:spPr>
          <a:xfrm>
            <a:off x="5422320" y="1417320"/>
            <a:ext cx="6254280" cy="2173680"/>
          </a:xfrm>
          <a:prstGeom prst="roundRect">
            <a:avLst>
              <a:gd name="adj" fmla="val 2524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1" name="Capture build prediction" descr="Capture build prediction"/>
          <p:cNvPicPr/>
          <p:nvPr/>
        </p:nvPicPr>
        <p:blipFill>
          <a:blip r:embed="rId3"/>
          <a:stretch/>
        </p:blipFill>
        <p:spPr>
          <a:xfrm>
            <a:off x="5486400" y="1481400"/>
            <a:ext cx="6126120" cy="2045520"/>
          </a:xfrm>
          <a:prstGeom prst="rect">
            <a:avLst/>
          </a:prstGeom>
          <a:ln w="0">
            <a:noFill/>
          </a:ln>
        </p:spPr>
      </p:pic>
      <p:sp>
        <p:nvSpPr>
          <p:cNvPr id="252" name="Légende build"/>
          <p:cNvSpPr/>
          <p:nvPr/>
        </p:nvSpPr>
        <p:spPr>
          <a:xfrm>
            <a:off x="5486400" y="3611880"/>
            <a:ext cx="6126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docker compose build prediction : image construite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Carte Dockerfile"/>
          <p:cNvSpPr/>
          <p:nvPr/>
        </p:nvSpPr>
        <p:spPr>
          <a:xfrm>
            <a:off x="5486400" y="4069080"/>
            <a:ext cx="6126120" cy="210276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Dockerfile"/>
          <p:cNvSpPr/>
          <p:nvPr/>
        </p:nvSpPr>
        <p:spPr>
          <a:xfrm>
            <a:off x="5715000" y="4160520"/>
            <a:ext cx="5668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FROM python:3.12-slim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ENV PYTHONUNBUFFERED=1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WORKDIR /app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COPY requirements.txt 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RUN pip install --no-cache-dir -r requirements.txt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COPY app.py modele_commande.pkl ./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chemeClr val="dk1"/>
                </a:solidFill>
                <a:latin typeface="Courier New"/>
                <a:ea typeface="Courier New"/>
              </a:rPr>
              <a:t>CMD ["python", "app.py"]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sldNum" idx="15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3E6E0-FEF7-4CAC-BC58-0888CC3E82EC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31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Flux infini et K instances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Carte Générateur : flux infini"/>
          <p:cNvSpPr/>
          <p:nvPr/>
        </p:nvSpPr>
        <p:spPr>
          <a:xfrm>
            <a:off x="548640" y="1417320"/>
            <a:ext cx="502884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itre Générateur : flux infini"/>
          <p:cNvSpPr/>
          <p:nvPr/>
        </p:nvSpPr>
        <p:spPr>
          <a:xfrm>
            <a:off x="777240" y="15271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1"/>
                </a:solidFill>
                <a:latin typeface="Calibri"/>
              </a:rPr>
              <a:t>Générateur : flux infini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e Générateur : flux infini"/>
          <p:cNvSpPr/>
          <p:nvPr/>
        </p:nvSpPr>
        <p:spPr>
          <a:xfrm>
            <a:off x="777240" y="1965960"/>
            <a:ext cx="45716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while True : demandes aléatoires (client_id de 1 à 200), 10 demandes par seconde.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Carte K est un paramètre"/>
          <p:cNvSpPr/>
          <p:nvPr/>
        </p:nvSpPr>
        <p:spPr>
          <a:xfrm>
            <a:off x="548640" y="3017520"/>
            <a:ext cx="502884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itre K est un paramètre"/>
          <p:cNvSpPr/>
          <p:nvPr/>
        </p:nvSpPr>
        <p:spPr>
          <a:xfrm>
            <a:off x="777240" y="31273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1"/>
                </a:solidFill>
                <a:latin typeface="Calibri"/>
              </a:rPr>
              <a:t>K est un paramètre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e K est un paramètre"/>
          <p:cNvSpPr/>
          <p:nvPr/>
        </p:nvSpPr>
        <p:spPr>
          <a:xfrm>
            <a:off x="777240" y="3566160"/>
            <a:ext cx="45716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$env:K=3 alimente deploy.replicas: ${K:-2} dans docker-compose.yml.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arte Pour que ça marche"/>
          <p:cNvSpPr/>
          <p:nvPr/>
        </p:nvSpPr>
        <p:spPr>
          <a:xfrm>
            <a:off x="548640" y="4617720"/>
            <a:ext cx="502884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itre Pour que ça marche"/>
          <p:cNvSpPr/>
          <p:nvPr/>
        </p:nvSpPr>
        <p:spPr>
          <a:xfrm>
            <a:off x="777240" y="47275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1"/>
                </a:solidFill>
                <a:latin typeface="Calibri"/>
              </a:rPr>
              <a:t>Pour que ça marche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e Pour que ça marche"/>
          <p:cNvSpPr/>
          <p:nvPr/>
        </p:nvSpPr>
        <p:spPr>
          <a:xfrm>
            <a:off x="777240" y="5166360"/>
            <a:ext cx="45716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Même group_id, ni container_name ni ports fixes, au moins K partitions.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Légende"/>
          <p:cNvSpPr/>
          <p:nvPr/>
        </p:nvSpPr>
        <p:spPr>
          <a:xfrm>
            <a:off x="5943600" y="137160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python generateur/generateur.py 10 : plus de 1 100 demandes envoyées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Capture générateur cadre"/>
          <p:cNvSpPr/>
          <p:nvPr/>
        </p:nvSpPr>
        <p:spPr>
          <a:xfrm>
            <a:off x="5943600" y="1691640"/>
            <a:ext cx="5705640" cy="2448000"/>
          </a:xfrm>
          <a:prstGeom prst="roundRect">
            <a:avLst>
              <a:gd name="adj" fmla="val 2241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8" name="Capture générateur" descr="Capture générateur"/>
          <p:cNvPicPr/>
          <p:nvPr/>
        </p:nvPicPr>
        <p:blipFill>
          <a:blip r:embed="rId3"/>
          <a:stretch/>
        </p:blipFill>
        <p:spPr>
          <a:xfrm>
            <a:off x="6007680" y="1755720"/>
            <a:ext cx="5577480" cy="2320200"/>
          </a:xfrm>
          <a:prstGeom prst="rect">
            <a:avLst/>
          </a:prstGeom>
          <a:ln w="0">
            <a:noFill/>
          </a:ln>
        </p:spPr>
      </p:pic>
      <p:sp>
        <p:nvSpPr>
          <p:cNvPr id="269" name="Légende"/>
          <p:cNvSpPr/>
          <p:nvPr/>
        </p:nvSpPr>
        <p:spPr>
          <a:xfrm>
            <a:off x="5943600" y="4259160"/>
            <a:ext cx="5668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docker compose ps : trois instances prediction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Capture trois instances cadre"/>
          <p:cNvSpPr/>
          <p:nvPr/>
        </p:nvSpPr>
        <p:spPr>
          <a:xfrm>
            <a:off x="5943600" y="4579200"/>
            <a:ext cx="5705640" cy="1685160"/>
          </a:xfrm>
          <a:prstGeom prst="roundRect">
            <a:avLst>
              <a:gd name="adj" fmla="val 3255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1" name="Capture trois instances" descr="Capture trois instances"/>
          <p:cNvPicPr/>
          <p:nvPr/>
        </p:nvPicPr>
        <p:blipFill>
          <a:blip r:embed="rId4"/>
          <a:stretch/>
        </p:blipFill>
        <p:spPr>
          <a:xfrm>
            <a:off x="6007680" y="4642920"/>
            <a:ext cx="5577480" cy="1557000"/>
          </a:xfrm>
          <a:prstGeom prst="rect">
            <a:avLst/>
          </a:prstGeom>
          <a:ln w="0">
            <a:noFill/>
          </a:ln>
        </p:spPr>
      </p:pic>
      <p:sp>
        <p:nvSpPr>
          <p:cNvPr id="272" name="PlaceHolder 2"/>
          <p:cNvSpPr>
            <a:spLocks noGrp="1"/>
          </p:cNvSpPr>
          <p:nvPr>
            <p:ph type="sldNum" idx="16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5B7E22-0DAD-421F-A6F3-F30E11318100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Répartition de la charge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274" name="Chart 0"/>
          <p:cNvGraphicFramePr/>
          <p:nvPr/>
        </p:nvGraphicFramePr>
        <p:xfrm>
          <a:off x="548640" y="1417320"/>
          <a:ext cx="521172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5" name="Carte mesure"/>
          <p:cNvSpPr/>
          <p:nvPr/>
        </p:nvSpPr>
        <p:spPr>
          <a:xfrm>
            <a:off x="548640" y="5440680"/>
            <a:ext cx="5211720" cy="7311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e mesure"/>
          <p:cNvSpPr/>
          <p:nvPr/>
        </p:nvSpPr>
        <p:spPr>
          <a:xfrm>
            <a:off x="731520" y="5459040"/>
            <a:ext cx="484596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Mesure : docker compose logs prediction, filtré par instance avec Select-String et Measure-Object.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Légende"/>
          <p:cNvSpPr/>
          <p:nvPr/>
        </p:nvSpPr>
        <p:spPr>
          <a:xfrm>
            <a:off x="6126480" y="137160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docker compose logs -f prediction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Capture logs prediction cadre"/>
          <p:cNvSpPr/>
          <p:nvPr/>
        </p:nvSpPr>
        <p:spPr>
          <a:xfrm>
            <a:off x="6126480" y="1691640"/>
            <a:ext cx="5522760" cy="2631960"/>
          </a:xfrm>
          <a:prstGeom prst="roundRect">
            <a:avLst>
              <a:gd name="adj" fmla="val 2084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Capture logs prediction" descr="Capture logs prediction"/>
          <p:cNvPicPr/>
          <p:nvPr/>
        </p:nvPicPr>
        <p:blipFill>
          <a:blip r:embed="rId4"/>
          <a:stretch/>
        </p:blipFill>
        <p:spPr>
          <a:xfrm>
            <a:off x="6190560" y="1755720"/>
            <a:ext cx="5394600" cy="2504160"/>
          </a:xfrm>
          <a:prstGeom prst="rect">
            <a:avLst/>
          </a:prstGeom>
          <a:ln w="0">
            <a:noFill/>
          </a:ln>
        </p:spPr>
      </p:pic>
      <p:sp>
        <p:nvSpPr>
          <p:cNvPr id="280" name="Texte partitions lues"/>
          <p:cNvSpPr/>
          <p:nvPr/>
        </p:nvSpPr>
        <p:spPr>
          <a:xfrm>
            <a:off x="6126480" y="453420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Chaque instance lit ses propres partitions : prediction-1 sur les partitions 2 et 3, prediction-3 sur les partitions 0 et 1.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e écart"/>
          <p:cNvSpPr/>
          <p:nvPr/>
        </p:nvSpPr>
        <p:spPr>
          <a:xfrm>
            <a:off x="6126480" y="5448600"/>
            <a:ext cx="54860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Écart de 592 à 765 messages : la répartition des clés sur les partitions est pseudo-aléatoire.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sldNum" idx="17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AD9131-D3D4-490B-B9F5-B2757214B3DF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33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Partitions affectées aux instances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Légende"/>
          <p:cNvSpPr/>
          <p:nvPr/>
        </p:nvSpPr>
        <p:spPr>
          <a:xfrm>
            <a:off x="548640" y="137160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kafka-consumer-groups.sh --describe --group prediction-group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Capture describe groupe cadre"/>
          <p:cNvSpPr/>
          <p:nvPr/>
        </p:nvSpPr>
        <p:spPr>
          <a:xfrm>
            <a:off x="548640" y="1691640"/>
            <a:ext cx="11100600" cy="2613240"/>
          </a:xfrm>
          <a:prstGeom prst="roundRect">
            <a:avLst>
              <a:gd name="adj" fmla="val 2099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Capture describe groupe" descr="Capture describe groupe"/>
          <p:cNvPicPr/>
          <p:nvPr/>
        </p:nvPicPr>
        <p:blipFill>
          <a:blip r:embed="rId3"/>
          <a:stretch/>
        </p:blipFill>
        <p:spPr>
          <a:xfrm>
            <a:off x="612720" y="1755720"/>
            <a:ext cx="10972440" cy="2485440"/>
          </a:xfrm>
          <a:prstGeom prst="rect">
            <a:avLst/>
          </a:prstGeom>
          <a:ln w="0">
            <a:noFill/>
          </a:ln>
        </p:spPr>
      </p:pic>
      <p:sp>
        <p:nvSpPr>
          <p:cNvPr id="287" name="Carte chiffre 1"/>
          <p:cNvSpPr/>
          <p:nvPr/>
        </p:nvSpPr>
        <p:spPr>
          <a:xfrm>
            <a:off x="548640" y="4653000"/>
            <a:ext cx="356580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Chiffre 1"/>
          <p:cNvSpPr/>
          <p:nvPr/>
        </p:nvSpPr>
        <p:spPr>
          <a:xfrm>
            <a:off x="777240" y="474444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chemeClr val="accent1"/>
                </a:solidFill>
                <a:latin typeface="Calibri"/>
              </a:rPr>
              <a:t>3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Libellé chiffre 1"/>
          <p:cNvSpPr/>
          <p:nvPr/>
        </p:nvSpPr>
        <p:spPr>
          <a:xfrm>
            <a:off x="1737360" y="474444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consommateurs actifs (CONSUMER-ID distincts)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Carte chiffre 2"/>
          <p:cNvSpPr/>
          <p:nvPr/>
        </p:nvSpPr>
        <p:spPr>
          <a:xfrm>
            <a:off x="4297680" y="4653000"/>
            <a:ext cx="356580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Chiffre 2"/>
          <p:cNvSpPr/>
          <p:nvPr/>
        </p:nvSpPr>
        <p:spPr>
          <a:xfrm>
            <a:off x="4526280" y="474444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chemeClr val="accent1"/>
                </a:solidFill>
                <a:latin typeface="Calibri"/>
              </a:rPr>
              <a:t>2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Libellé chiffre 2"/>
          <p:cNvSpPr/>
          <p:nvPr/>
        </p:nvSpPr>
        <p:spPr>
          <a:xfrm>
            <a:off x="5486400" y="474444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partitions par instance : 0-1, 2-3 et 4-5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Carte chiffre 3"/>
          <p:cNvSpPr/>
          <p:nvPr/>
        </p:nvSpPr>
        <p:spPr>
          <a:xfrm>
            <a:off x="8046720" y="4653000"/>
            <a:ext cx="3565800" cy="1188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Chiffre 3"/>
          <p:cNvSpPr/>
          <p:nvPr/>
        </p:nvSpPr>
        <p:spPr>
          <a:xfrm>
            <a:off x="8275320" y="4744440"/>
            <a:ext cx="9140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chemeClr val="accent2"/>
                </a:solidFill>
                <a:latin typeface="Calibri"/>
              </a:rPr>
              <a:t>0</a:t>
            </a:r>
            <a:endParaRPr lang="en-US" sz="5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Libellé chiffre 3"/>
          <p:cNvSpPr/>
          <p:nvPr/>
        </p:nvSpPr>
        <p:spPr>
          <a:xfrm>
            <a:off x="9235440" y="4744440"/>
            <a:ext cx="21942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LAG : aucun message en attente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sldNum" idx="18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D12F81-4DBC-4935-A0E3-24B5B68B1EF1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34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Résilience : le travail continue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Carte test 1"/>
          <p:cNvSpPr/>
          <p:nvPr/>
        </p:nvSpPr>
        <p:spPr>
          <a:xfrm>
            <a:off x="548640" y="1417320"/>
            <a:ext cx="4114440" cy="1782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Badge 1"/>
          <p:cNvSpPr/>
          <p:nvPr/>
        </p:nvSpPr>
        <p:spPr>
          <a:xfrm>
            <a:off x="777240" y="1600200"/>
            <a:ext cx="411120" cy="4111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lt1"/>
                </a:solidFill>
                <a:latin typeface="Calibri"/>
              </a:rPr>
              <a:t>1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itre test 1"/>
          <p:cNvSpPr/>
          <p:nvPr/>
        </p:nvSpPr>
        <p:spPr>
          <a:xfrm>
            <a:off x="1371600" y="160020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dk1"/>
                </a:solidFill>
                <a:latin typeface="Calibri"/>
              </a:rPr>
              <a:t>Arrêt propre : docker stop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e test 1"/>
          <p:cNvSpPr/>
          <p:nvPr/>
        </p:nvSpPr>
        <p:spPr>
          <a:xfrm>
            <a:off x="777240" y="214884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SIGTERM intercepté : le consommateur prévient le groupe, rebalance immédiat.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ésultat test 1"/>
          <p:cNvSpPr/>
          <p:nvPr/>
        </p:nvSpPr>
        <p:spPr>
          <a:xfrm>
            <a:off x="777240" y="271584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Résultat : 2 consommateurs, 3 partitions chacun, LAG 0.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Capture test 1 cadre"/>
          <p:cNvSpPr/>
          <p:nvPr/>
        </p:nvSpPr>
        <p:spPr>
          <a:xfrm>
            <a:off x="4873680" y="1463040"/>
            <a:ext cx="6802920" cy="1665360"/>
          </a:xfrm>
          <a:prstGeom prst="roundRect">
            <a:avLst>
              <a:gd name="adj" fmla="val 3293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Capture test 1" descr="Capture test 1"/>
          <p:cNvPicPr/>
          <p:nvPr/>
        </p:nvPicPr>
        <p:blipFill>
          <a:blip r:embed="rId3"/>
          <a:stretch/>
        </p:blipFill>
        <p:spPr>
          <a:xfrm>
            <a:off x="4937760" y="1527120"/>
            <a:ext cx="6674760" cy="1537560"/>
          </a:xfrm>
          <a:prstGeom prst="rect">
            <a:avLst/>
          </a:prstGeom>
          <a:ln w="0">
            <a:noFill/>
          </a:ln>
        </p:spPr>
      </p:pic>
      <p:sp>
        <p:nvSpPr>
          <p:cNvPr id="305" name="Carte test 2"/>
          <p:cNvSpPr/>
          <p:nvPr/>
        </p:nvSpPr>
        <p:spPr>
          <a:xfrm>
            <a:off x="548640" y="3429000"/>
            <a:ext cx="4114440" cy="1782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Badge 2"/>
          <p:cNvSpPr/>
          <p:nvPr/>
        </p:nvSpPr>
        <p:spPr>
          <a:xfrm>
            <a:off x="777240" y="3611880"/>
            <a:ext cx="411120" cy="41112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lt1"/>
                </a:solidFill>
                <a:latin typeface="Calibri"/>
              </a:rPr>
              <a:t>2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itre test 2"/>
          <p:cNvSpPr/>
          <p:nvPr/>
        </p:nvSpPr>
        <p:spPr>
          <a:xfrm>
            <a:off x="1371600" y="3611880"/>
            <a:ext cx="3200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dk1"/>
                </a:solidFill>
                <a:latin typeface="Calibri"/>
              </a:rPr>
              <a:t>Panne brutale : docker kill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e test 2"/>
          <p:cNvSpPr/>
          <p:nvPr/>
        </p:nvSpPr>
        <p:spPr>
          <a:xfrm>
            <a:off x="777240" y="416052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Aucun adieu : le broker attend le session_timeout avant de réaffecter.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ésultat test 2"/>
          <p:cNvSpPr/>
          <p:nvPr/>
        </p:nvSpPr>
        <p:spPr>
          <a:xfrm>
            <a:off x="777240" y="472752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chemeClr val="accent1"/>
                </a:solidFill>
                <a:latin typeface="Calibri"/>
              </a:rPr>
              <a:t>Résultat : 1 consommateur, 6 partitions, LAG 0.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Capture test 2 cadre"/>
          <p:cNvSpPr/>
          <p:nvPr/>
        </p:nvSpPr>
        <p:spPr>
          <a:xfrm>
            <a:off x="4873680" y="3474720"/>
            <a:ext cx="6802920" cy="15908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0">
            <a:noFill/>
          </a:ln>
          <a:effectLst>
            <a:outerShdw blurRad="101520" dist="25560" dir="5400000" algn="bl" rotWithShape="0">
              <a:srgbClr val="10202B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1" name="Capture test 2" descr="Capture test 2"/>
          <p:cNvPicPr/>
          <p:nvPr/>
        </p:nvPicPr>
        <p:blipFill>
          <a:blip r:embed="rId4"/>
          <a:stretch/>
        </p:blipFill>
        <p:spPr>
          <a:xfrm>
            <a:off x="4937760" y="3538800"/>
            <a:ext cx="6674760" cy="1462680"/>
          </a:xfrm>
          <a:prstGeom prst="rect">
            <a:avLst/>
          </a:prstGeom>
          <a:ln w="0">
            <a:noFill/>
          </a:ln>
        </p:spPr>
      </p:pic>
      <p:sp>
        <p:nvSpPr>
          <p:cNvPr id="312" name="Carte conclusion"/>
          <p:cNvSpPr/>
          <p:nvPr/>
        </p:nvSpPr>
        <p:spPr>
          <a:xfrm>
            <a:off x="548640" y="5440680"/>
            <a:ext cx="11063880" cy="73116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e conclusion"/>
          <p:cNvSpPr/>
          <p:nvPr/>
        </p:nvSpPr>
        <p:spPr>
          <a:xfrm>
            <a:off x="822960" y="5459040"/>
            <a:ext cx="1051524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1"/>
                </a:solidFill>
                <a:latin typeface="Calibri"/>
              </a:rPr>
              <a:t>Tant qu'une instance vit, le service répond. Les demandes restent dans Kafka : aucune perte.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sldNum" idx="19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5E4B2E-0C88-4947-980C-F03AED866EEB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35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Pannes et garanties de livraison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316" name="Tableau des pannes"/>
          <p:cNvGraphicFramePr/>
          <p:nvPr/>
        </p:nvGraphicFramePr>
        <p:xfrm>
          <a:off x="548640" y="1417320"/>
          <a:ext cx="11064240" cy="28346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Test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Comportement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Explication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1. Arrêt propre d'une instance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Observé : 6 partitions sur 2 instances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docker stop envoie SIGTERM : LeaveGroup, rebalance immédiat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2. Panne brutale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Observé : 6 partitions sur 1 instance, LAG 0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Pas d'adieu : détection après le session_timeout (environ 10 s)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3. Arrêt de toutes les instances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Attendu : le LAG grossit puis retombe à 0 au redémarrage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Les demandes restent dans Kafka, l'offset du groupe est conservé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37160" marR="13716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" name="Carte au moins une fois"/>
          <p:cNvSpPr/>
          <p:nvPr/>
        </p:nvSpPr>
        <p:spPr>
          <a:xfrm>
            <a:off x="548640" y="4526280"/>
            <a:ext cx="5440320" cy="1645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itre au moins une fois"/>
          <p:cNvSpPr/>
          <p:nvPr/>
        </p:nvSpPr>
        <p:spPr>
          <a:xfrm>
            <a:off x="777240" y="461772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1"/>
                </a:solidFill>
                <a:latin typeface="Calibri"/>
              </a:rPr>
              <a:t>Au moins une fois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e au moins une fois"/>
          <p:cNvSpPr/>
          <p:nvPr/>
        </p:nvSpPr>
        <p:spPr>
          <a:xfrm>
            <a:off x="777240" y="502920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Commit manuel après traitement : en cas de crash, un doublon est possible, jamais une perte.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Carte idempotence"/>
          <p:cNvSpPr/>
          <p:nvPr/>
        </p:nvSpPr>
        <p:spPr>
          <a:xfrm>
            <a:off x="6172200" y="4526280"/>
            <a:ext cx="5440320" cy="1645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itre idempotence"/>
          <p:cNvSpPr/>
          <p:nvPr/>
        </p:nvSpPr>
        <p:spPr>
          <a:xfrm>
            <a:off x="6400800" y="461772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accent1"/>
                </a:solidFill>
                <a:latin typeface="Calibri"/>
              </a:rPr>
              <a:t>Absorber les doublons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e idempotence"/>
          <p:cNvSpPr/>
          <p:nvPr/>
        </p:nvSpPr>
        <p:spPr>
          <a:xfrm>
            <a:off x="6400800" y="5029200"/>
            <a:ext cx="50288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commandes peut dédupliquer les résultats ou les rendre idempotents : traiter deux fois donne le même état.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ldNum" idx="20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B80448-26F1-4D0E-A210-5D3CCB776484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36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Gérer la montée en charge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5" name="Carte Ajouter des instances"/>
          <p:cNvSpPr/>
          <p:nvPr/>
        </p:nvSpPr>
        <p:spPr>
          <a:xfrm>
            <a:off x="548640" y="14173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astille icône 1"/>
          <p:cNvSpPr/>
          <p:nvPr/>
        </p:nvSpPr>
        <p:spPr>
          <a:xfrm>
            <a:off x="777240" y="17830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7" name="Icône Ajouter des instances" descr="Ajouter des instances"/>
          <p:cNvPicPr/>
          <p:nvPr/>
        </p:nvPicPr>
        <p:blipFill>
          <a:blip r:embed="rId3"/>
          <a:stretch/>
        </p:blipFill>
        <p:spPr>
          <a:xfrm>
            <a:off x="960120" y="19659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28" name="Titre Ajouter des instances"/>
          <p:cNvSpPr/>
          <p:nvPr/>
        </p:nvSpPr>
        <p:spPr>
          <a:xfrm>
            <a:off x="1737360" y="16002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Ajouter des instances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e Ajouter des instances"/>
          <p:cNvSpPr/>
          <p:nvPr/>
        </p:nvSpPr>
        <p:spPr>
          <a:xfrm>
            <a:off x="1737360" y="20390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K plus grand dans le même groupe : scalabilité horizontale.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Carte Prévoir les partitions"/>
          <p:cNvSpPr/>
          <p:nvPr/>
        </p:nvSpPr>
        <p:spPr>
          <a:xfrm>
            <a:off x="6172200" y="14173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astille icône 2"/>
          <p:cNvSpPr/>
          <p:nvPr/>
        </p:nvSpPr>
        <p:spPr>
          <a:xfrm>
            <a:off x="6400800" y="17830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2" name="Icône Prévoir les partitions" descr="Prévoir les partitions"/>
          <p:cNvPicPr/>
          <p:nvPr/>
        </p:nvPicPr>
        <p:blipFill>
          <a:blip r:embed="rId4"/>
          <a:stretch/>
        </p:blipFill>
        <p:spPr>
          <a:xfrm>
            <a:off x="6583680" y="19659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33" name="Titre Prévoir les partitions"/>
          <p:cNvSpPr/>
          <p:nvPr/>
        </p:nvSpPr>
        <p:spPr>
          <a:xfrm>
            <a:off x="7360920" y="16002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Prévoir les partitions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e Prévoir les partitions"/>
          <p:cNvSpPr/>
          <p:nvPr/>
        </p:nvSpPr>
        <p:spPr>
          <a:xfrm>
            <a:off x="7360920" y="20390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Parallélisme maximal = nombre de partitions (ici 6).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Carte Surveiller le LAG"/>
          <p:cNvSpPr/>
          <p:nvPr/>
        </p:nvSpPr>
        <p:spPr>
          <a:xfrm>
            <a:off x="548640" y="30175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astille icône 3"/>
          <p:cNvSpPr/>
          <p:nvPr/>
        </p:nvSpPr>
        <p:spPr>
          <a:xfrm>
            <a:off x="777240" y="33832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7" name="Icône Surveiller le LAG" descr="Surveiller le LAG"/>
          <p:cNvPicPr/>
          <p:nvPr/>
        </p:nvPicPr>
        <p:blipFill>
          <a:blip r:embed="rId5"/>
          <a:stretch/>
        </p:blipFill>
        <p:spPr>
          <a:xfrm>
            <a:off x="960120" y="35661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38" name="Titre Surveiller le LAG"/>
          <p:cNvSpPr/>
          <p:nvPr/>
        </p:nvSpPr>
        <p:spPr>
          <a:xfrm>
            <a:off x="1737360" y="32004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Surveiller le LAG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e Surveiller le LAG"/>
          <p:cNvSpPr/>
          <p:nvPr/>
        </p:nvSpPr>
        <p:spPr>
          <a:xfrm>
            <a:off x="1737360" y="36392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Un lag qui croît signale des consommateurs trop lents. Autoscaling possible (KEDA).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Carte Traiter par lots"/>
          <p:cNvSpPr/>
          <p:nvPr/>
        </p:nvSpPr>
        <p:spPr>
          <a:xfrm>
            <a:off x="6172200" y="30175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astille icône 4"/>
          <p:cNvSpPr/>
          <p:nvPr/>
        </p:nvSpPr>
        <p:spPr>
          <a:xfrm>
            <a:off x="6400800" y="33832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2" name="Icône Traiter par lots" descr="Traiter par lots"/>
          <p:cNvPicPr/>
          <p:nvPr/>
        </p:nvPicPr>
        <p:blipFill>
          <a:blip r:embed="rId6"/>
          <a:stretch/>
        </p:blipFill>
        <p:spPr>
          <a:xfrm>
            <a:off x="6583680" y="35661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43" name="Titre Traiter par lots"/>
          <p:cNvSpPr/>
          <p:nvPr/>
        </p:nvSpPr>
        <p:spPr>
          <a:xfrm>
            <a:off x="7360920" y="32004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Traiter par lots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e Traiter par lots"/>
          <p:cNvSpPr/>
          <p:nvPr/>
        </p:nvSpPr>
        <p:spPr>
          <a:xfrm>
            <a:off x="7360920" y="36392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poll(max_records), un seul predict sur le lot, un seul commit.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Carte Isoler et limiter"/>
          <p:cNvSpPr/>
          <p:nvPr/>
        </p:nvSpPr>
        <p:spPr>
          <a:xfrm>
            <a:off x="548640" y="46177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astille icône 5"/>
          <p:cNvSpPr/>
          <p:nvPr/>
        </p:nvSpPr>
        <p:spPr>
          <a:xfrm>
            <a:off x="777240" y="49834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7" name="Icône Isoler et limiter" descr="Isoler et limiter"/>
          <p:cNvPicPr/>
          <p:nvPr/>
        </p:nvPicPr>
        <p:blipFill>
          <a:blip r:embed="rId7"/>
          <a:stretch/>
        </p:blipFill>
        <p:spPr>
          <a:xfrm>
            <a:off x="960120" y="51663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48" name="Titre Isoler et limiter"/>
          <p:cNvSpPr/>
          <p:nvPr/>
        </p:nvSpPr>
        <p:spPr>
          <a:xfrm>
            <a:off x="1737360" y="48006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Isoler et limiter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e Isoler et limiter"/>
          <p:cNvSpPr/>
          <p:nvPr/>
        </p:nvSpPr>
        <p:spPr>
          <a:xfrm>
            <a:off x="1737360" y="52394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Topic dead letter pour les messages invalides, backpressure à l'entrée.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Carte Sécuriser Kafka"/>
          <p:cNvSpPr/>
          <p:nvPr/>
        </p:nvSpPr>
        <p:spPr>
          <a:xfrm>
            <a:off x="6172200" y="4617720"/>
            <a:ext cx="5440320" cy="14626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astille icône 6"/>
          <p:cNvSpPr/>
          <p:nvPr/>
        </p:nvSpPr>
        <p:spPr>
          <a:xfrm>
            <a:off x="6400800" y="4983480"/>
            <a:ext cx="731160" cy="7311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2" name="Icône Sécuriser Kafka" descr="Sécuriser Kafka"/>
          <p:cNvPicPr/>
          <p:nvPr/>
        </p:nvPicPr>
        <p:blipFill>
          <a:blip r:embed="rId8"/>
          <a:stretch/>
        </p:blipFill>
        <p:spPr>
          <a:xfrm>
            <a:off x="6583680" y="516636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353" name="Titre Sécuriser Kafka"/>
          <p:cNvSpPr/>
          <p:nvPr/>
        </p:nvSpPr>
        <p:spPr>
          <a:xfrm>
            <a:off x="7360920" y="480060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chemeClr val="dk1"/>
                </a:solidFill>
                <a:latin typeface="Calibri"/>
              </a:rPr>
              <a:t>Sécuriser Kafka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e Sécuriser Kafka"/>
          <p:cNvSpPr/>
          <p:nvPr/>
        </p:nvSpPr>
        <p:spPr>
          <a:xfrm>
            <a:off x="7360920" y="5239440"/>
            <a:ext cx="40230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Un seul broker est un point de défaillance : 3 brokers, réplication 3.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sldNum" idx="21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A2CA39-5201-4F4C-9660-6A0E7D335939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37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dk1"/>
                </a:solidFill>
                <a:latin typeface="Cambria"/>
              </a:rPr>
              <a:t>Ce que montrent les trois TP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357" name="Tableau comparatif"/>
          <p:cNvGraphicFramePr/>
          <p:nvPr/>
        </p:nvGraphicFramePr>
        <p:xfrm>
          <a:off x="548640" y="1417320"/>
          <a:ext cx="11064240" cy="3611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Critère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TP1 · REST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TP2 · Kafka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strike="noStrike" spc="-1">
                          <a:solidFill>
                            <a:schemeClr val="lt1"/>
                          </a:solidFill>
                          <a:latin typeface="Calibri"/>
                        </a:rPr>
                        <a:t>TP3 · Kafka + ML</a:t>
                      </a:r>
                      <a:endParaRPr lang="en-US" sz="16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Couplage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Fort : dépend de clients à l'instant de l'appel?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Faible : les services s'ignorent?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Faible : la prédiction est un service indépendant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Panne d'un service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Échec immédiat (503)?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Messages conservés, rattrapage au retour?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Reprise par les autres instances, sans perte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Ajouter un destinataire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Modifier l'appelant?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S'abonner au topic?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S'abonner au topic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Passage à l'échelle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Répliquer et équilibrer les requêtes?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Groupes de consommateurs et partitions?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K instances, K ≤ nombre de partitions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strike="noStrike" spc="-1">
                          <a:solidFill>
                            <a:schemeClr val="accent1"/>
                          </a:solidFill>
                          <a:latin typeface="Calibri"/>
                        </a:rPr>
                        <a:t>Cohérence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Immédiate?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À terme?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strike="noStrike" spc="-1">
                          <a:solidFill>
                            <a:schemeClr val="dk1"/>
                          </a:solidFill>
                          <a:latin typeface="Calibri"/>
                        </a:rPr>
                        <a:t>À terme</a:t>
                      </a:r>
                      <a:endParaRPr lang="en-US" sz="14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09440" marR="109440" anchor="ctr">
                    <a:lnL w="25200">
                      <a:solidFill>
                        <a:srgbClr val="FFFFFF"/>
                      </a:solidFill>
                      <a:prstDash val="solid"/>
                    </a:lnL>
                    <a:lnR w="25200">
                      <a:solidFill>
                        <a:srgbClr val="FFFFFF"/>
                      </a:solidFill>
                      <a:prstDash val="solid"/>
                    </a:lnR>
                    <a:lnT w="25200">
                      <a:solidFill>
                        <a:srgbClr val="FFFFFF"/>
                      </a:solidFill>
                      <a:prstDash val="solid"/>
                    </a:lnT>
                    <a:lnB w="25200">
                      <a:solidFill>
                        <a:srgbClr val="FFFFFF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8" name="Carte message clé"/>
          <p:cNvSpPr/>
          <p:nvPr/>
        </p:nvSpPr>
        <p:spPr>
          <a:xfrm>
            <a:off x="548640" y="5212080"/>
            <a:ext cx="11063880" cy="9597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Message clé"/>
          <p:cNvSpPr/>
          <p:nvPr/>
        </p:nvSpPr>
        <p:spPr>
          <a:xfrm>
            <a:off x="822960" y="525780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chemeClr val="accent1"/>
                </a:solidFill>
                <a:latin typeface="Calibri"/>
              </a:rPr>
              <a:t>Synchrone ou asynchrone : une question de besoin, pas de technologie. REST répond tout de suite, Kafka découple dans le temps et diffuse à plusieurs services.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sldNum" idx="22"/>
          </p:nvPr>
        </p:nvSpPr>
        <p:spPr>
          <a:xfrm>
            <a:off x="10972800" y="6446520"/>
            <a:ext cx="63972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strike="noStrike" spc="-1">
                <a:solidFill>
                  <a:schemeClr val="accent4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637604-1C4F-4E03-93BE-7D9F897D3A95}" type="slidenum">
              <a:rPr lang="en-US" sz="1000" b="0" strike="noStrike" spc="-1">
                <a:solidFill>
                  <a:schemeClr val="accent4"/>
                </a:solidFill>
                <a:latin typeface="Calibri"/>
              </a:rPr>
              <a:t>38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>
                <a:solidFill>
                  <a:schemeClr val="lt1"/>
                </a:solidFill>
                <a:latin typeface="Cambria"/>
              </a:rPr>
              <a:t>Limites et pistes d'amélioration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2" name="Puce 1"/>
          <p:cNvSpPr/>
          <p:nvPr/>
        </p:nvSpPr>
        <p:spPr>
          <a:xfrm>
            <a:off x="548640" y="153612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itre État en mémoire"/>
          <p:cNvSpPr/>
          <p:nvPr/>
        </p:nvSpPr>
        <p:spPr>
          <a:xfrm>
            <a:off x="1005840" y="146304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lt1"/>
                </a:solidFill>
                <a:latin typeface="Calibri"/>
              </a:rPr>
              <a:t>État en mémoire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e État en mémoire"/>
          <p:cNvSpPr/>
          <p:nvPr/>
        </p:nvSpPr>
        <p:spPr>
          <a:xfrm>
            <a:off x="1005840" y="192024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lt2"/>
                </a:solidFill>
                <a:latin typeface="Calibri"/>
              </a:rPr>
              <a:t>Persister les compteurs dans une base de données.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uce 2"/>
          <p:cNvSpPr/>
          <p:nvPr/>
        </p:nvSpPr>
        <p:spPr>
          <a:xfrm>
            <a:off x="6172200" y="153612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itre Idempotence"/>
          <p:cNvSpPr/>
          <p:nvPr/>
        </p:nvSpPr>
        <p:spPr>
          <a:xfrm>
            <a:off x="6629400" y="146304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lt1"/>
                </a:solidFill>
                <a:latin typeface="Calibri"/>
              </a:rPr>
              <a:t>Idempotence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e Idempotence"/>
          <p:cNvSpPr/>
          <p:nvPr/>
        </p:nvSpPr>
        <p:spPr>
          <a:xfrm>
            <a:off x="6629400" y="192024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lt2"/>
                </a:solidFill>
                <a:latin typeface="Calibri"/>
              </a:rPr>
              <a:t>Dédupliquer, puisque la garantie est « au moins une fois ».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uce 3"/>
          <p:cNvSpPr/>
          <p:nvPr/>
        </p:nvSpPr>
        <p:spPr>
          <a:xfrm>
            <a:off x="548640" y="286200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itre Contrat de messages"/>
          <p:cNvSpPr/>
          <p:nvPr/>
        </p:nvSpPr>
        <p:spPr>
          <a:xfrm>
            <a:off x="1005840" y="278892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lt1"/>
                </a:solidFill>
                <a:latin typeface="Calibri"/>
              </a:rPr>
              <a:t>Contrat de messages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e Contrat de messages"/>
          <p:cNvSpPr/>
          <p:nvPr/>
        </p:nvSpPr>
        <p:spPr>
          <a:xfrm>
            <a:off x="1005840" y="324612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lt2"/>
                </a:solidFill>
                <a:latin typeface="Calibri"/>
              </a:rPr>
              <a:t>Valider les événements avec un schéma (Avro, JSON Schema).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uce 4"/>
          <p:cNvSpPr/>
          <p:nvPr/>
        </p:nvSpPr>
        <p:spPr>
          <a:xfrm>
            <a:off x="6172200" y="286200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itre Haute disponibilité"/>
          <p:cNvSpPr/>
          <p:nvPr/>
        </p:nvSpPr>
        <p:spPr>
          <a:xfrm>
            <a:off x="6629400" y="278892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lt1"/>
                </a:solidFill>
                <a:latin typeface="Calibri"/>
              </a:rPr>
              <a:t>Haute disponibilité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e Haute disponibilité"/>
          <p:cNvSpPr/>
          <p:nvPr/>
        </p:nvSpPr>
        <p:spPr>
          <a:xfrm>
            <a:off x="6629400" y="324612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lt2"/>
                </a:solidFill>
                <a:latin typeface="Calibri"/>
              </a:rPr>
              <a:t>Plusieurs brokers Kafka et réplication 3.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uce 5"/>
          <p:cNvSpPr/>
          <p:nvPr/>
        </p:nvSpPr>
        <p:spPr>
          <a:xfrm>
            <a:off x="548640" y="418788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itre Observabilité"/>
          <p:cNvSpPr/>
          <p:nvPr/>
        </p:nvSpPr>
        <p:spPr>
          <a:xfrm>
            <a:off x="1005840" y="41148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lt1"/>
                </a:solidFill>
                <a:latin typeface="Calibri"/>
              </a:rPr>
              <a:t>Observabilité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e Observabilité"/>
          <p:cNvSpPr/>
          <p:nvPr/>
        </p:nvSpPr>
        <p:spPr>
          <a:xfrm>
            <a:off x="1005840" y="457200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lt2"/>
                </a:solidFill>
                <a:latin typeface="Calibri"/>
              </a:rPr>
              <a:t>Prometheus, Grafana, Kafka UI, journaux centralisés.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uce 6"/>
          <p:cNvSpPr/>
          <p:nvPr/>
        </p:nvSpPr>
        <p:spPr>
          <a:xfrm>
            <a:off x="6172200" y="4187880"/>
            <a:ext cx="255600" cy="255600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itre Qualité du modèle"/>
          <p:cNvSpPr/>
          <p:nvPr/>
        </p:nvSpPr>
        <p:spPr>
          <a:xfrm>
            <a:off x="6629400" y="41148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chemeClr val="lt1"/>
                </a:solidFill>
                <a:latin typeface="Calibri"/>
              </a:rPr>
              <a:t>Qualité du modèle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e Qualité du modèle"/>
          <p:cNvSpPr/>
          <p:nvPr/>
        </p:nvSpPr>
        <p:spPr>
          <a:xfrm>
            <a:off x="6629400" y="4572000"/>
            <a:ext cx="48459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chemeClr val="lt2"/>
                </a:solidFill>
                <a:latin typeface="Calibri"/>
              </a:rPr>
              <a:t>Données réelles, validation croisée, suivi de la dérive.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merciements"/>
          <p:cNvSpPr/>
          <p:nvPr/>
        </p:nvSpPr>
        <p:spPr>
          <a:xfrm>
            <a:off x="548640" y="557784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>
                <a:solidFill>
                  <a:schemeClr val="accent3"/>
                </a:solidFill>
                <a:latin typeface="Calibri"/>
              </a:rPr>
              <a:t>Merci de votre attention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Message 1"/>
          <p:cNvSpPr/>
          <p:nvPr/>
        </p:nvSpPr>
        <p:spPr>
          <a:xfrm>
            <a:off x="822960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Message 2"/>
          <p:cNvSpPr/>
          <p:nvPr/>
        </p:nvSpPr>
        <p:spPr>
          <a:xfrm>
            <a:off x="859536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Message 3"/>
          <p:cNvSpPr/>
          <p:nvPr/>
        </p:nvSpPr>
        <p:spPr>
          <a:xfrm>
            <a:off x="896112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Message 4"/>
          <p:cNvSpPr/>
          <p:nvPr/>
        </p:nvSpPr>
        <p:spPr>
          <a:xfrm>
            <a:off x="932688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Message 5"/>
          <p:cNvSpPr/>
          <p:nvPr/>
        </p:nvSpPr>
        <p:spPr>
          <a:xfrm>
            <a:off x="969264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Message 6"/>
          <p:cNvSpPr/>
          <p:nvPr/>
        </p:nvSpPr>
        <p:spPr>
          <a:xfrm>
            <a:off x="1005840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Message 7"/>
          <p:cNvSpPr/>
          <p:nvPr/>
        </p:nvSpPr>
        <p:spPr>
          <a:xfrm>
            <a:off x="1042416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Message 8"/>
          <p:cNvSpPr/>
          <p:nvPr/>
        </p:nvSpPr>
        <p:spPr>
          <a:xfrm>
            <a:off x="1078992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Message 9"/>
          <p:cNvSpPr/>
          <p:nvPr/>
        </p:nvSpPr>
        <p:spPr>
          <a:xfrm>
            <a:off x="11155680" y="5760720"/>
            <a:ext cx="273960" cy="27396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P Micro-services">
  <a:themeElements>
    <a:clrScheme name="TP Micro-services">
      <a:dk1>
        <a:srgbClr val="10202B"/>
      </a:dk1>
      <a:lt1>
        <a:srgbClr val="FFFFFF"/>
      </a:lt1>
      <a:dk2>
        <a:srgbClr val="0F4C5C"/>
      </a:dk2>
      <a:lt2>
        <a:srgbClr val="EAF0F2"/>
      </a:lt2>
      <a:accent1>
        <a:srgbClr val="0F4C5C"/>
      </a:accent1>
      <a:accent2>
        <a:srgbClr val="E36414"/>
      </a:accent2>
      <a:accent3>
        <a:srgbClr val="FB8B24"/>
      </a:accent3>
      <a:accent4>
        <a:srgbClr val="4F7685"/>
      </a:accent4>
      <a:accent5>
        <a:srgbClr val="9A031E"/>
      </a:accent5>
      <a:accent6>
        <a:srgbClr val="2D6A4F"/>
      </a:accent6>
      <a:hlink>
        <a:srgbClr val="0F4C5C"/>
      </a:hlink>
      <a:folHlink>
        <a:srgbClr val="4F7685"/>
      </a:folHlink>
    </a:clrScheme>
    <a:fontScheme name="TP Micro-service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3954</Words>
  <Application>Microsoft Office PowerPoint</Application>
  <PresentationFormat>Grand écran</PresentationFormat>
  <Paragraphs>633</Paragraphs>
  <Slides>39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39</vt:i4>
      </vt:variant>
    </vt:vector>
  </HeadingPairs>
  <TitlesOfParts>
    <vt:vector size="52" baseType="lpstr">
      <vt:lpstr>Arial</vt:lpstr>
      <vt:lpstr>Calibri</vt:lpstr>
      <vt:lpstr>Cambria</vt:lpstr>
      <vt:lpstr>Consolas</vt:lpstr>
      <vt:lpstr>Courier New</vt:lpstr>
      <vt:lpstr>Symbol</vt:lpstr>
      <vt:lpstr>Times New Roman</vt:lpstr>
      <vt:lpstr>Wingdings</vt:lpstr>
      <vt:lpstr>TP Micro-services</vt:lpstr>
      <vt:lpstr>TP Micro-services</vt:lpstr>
      <vt:lpstr>TP Micro-services</vt:lpstr>
      <vt:lpstr>TP Micro-services</vt:lpstr>
      <vt:lpstr>TP Micro-services</vt:lpstr>
      <vt:lpstr>TOOLS AND LANGUAGE</vt:lpstr>
      <vt:lpstr>Trois TP, trois modes de communication</vt:lpstr>
      <vt:lpstr>Communication par API REST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Communication par Kafka</vt:lpstr>
      <vt:lpstr>TP2 · Architecture événementielle</vt:lpstr>
      <vt:lpstr>Kafka avec Docker</vt:lpstr>
      <vt:lpstr>Producteur : le service commandes</vt:lpstr>
      <vt:lpstr>Consommateur : le service clients</vt:lpstr>
      <vt:lpstr>Arrêter un microservice : rien n'est perdu</vt:lpstr>
      <vt:lpstr>Deuxième consommateur : statistiques</vt:lpstr>
      <vt:lpstr>Groupes de consommateurs</vt:lpstr>
      <vt:lpstr>Bilan : REST ou Kafka ?</vt:lpstr>
      <vt:lpstr>Microservice de prédiction</vt:lpstr>
      <vt:lpstr>Ce client va-t-il commander ?</vt:lpstr>
      <vt:lpstr>Apprentissage ≠ prédiction</vt:lpstr>
      <vt:lpstr>Construction du modèle</vt:lpstr>
      <vt:lpstr>Architecture : deux topics, K instances</vt:lpstr>
      <vt:lpstr>Le microservice de prédiction</vt:lpstr>
      <vt:lpstr>Infrastructure : topics et conteneurs</vt:lpstr>
      <vt:lpstr>Une prédiction de bout en bout</vt:lpstr>
      <vt:lpstr>Dockerisation</vt:lpstr>
      <vt:lpstr>Flux infini et K instances</vt:lpstr>
      <vt:lpstr>Répartition de la charge</vt:lpstr>
      <vt:lpstr>Partitions affectées aux instances</vt:lpstr>
      <vt:lpstr>Résilience : le travail continue</vt:lpstr>
      <vt:lpstr>Pannes et garanties de livraison</vt:lpstr>
      <vt:lpstr>Gérer la montée en charge</vt:lpstr>
      <vt:lpstr>Ce que montrent les trois TP</vt:lpstr>
      <vt:lpstr>Limites et pistes d'amélioration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Micro-services : du REST à Kafka, puis au Machine Learning</dc:title>
  <dc:subject>PptxGenJS Presentation</dc:subject>
  <dc:creator>Lau</dc:creator>
  <dc:description/>
  <cp:lastModifiedBy>Aude Souchon</cp:lastModifiedBy>
  <cp:revision>3</cp:revision>
  <dcterms:created xsi:type="dcterms:W3CDTF">2026-10-11T15:36:07Z</dcterms:created>
  <dcterms:modified xsi:type="dcterms:W3CDTF">2026-10-12T08:10:32Z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27</vt:i4>
  </property>
  <property fmtid="{D5CDD505-2E9C-101B-9397-08002B2CF9AE}" pid="3" name="PresentationFormat">
    <vt:lpwstr>On-screen Show (16:9)</vt:lpwstr>
  </property>
  <property fmtid="{D5CDD505-2E9C-101B-9397-08002B2CF9AE}" pid="4" name="Slides">
    <vt:i4>27</vt:i4>
  </property>
</Properties>
</file>